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image: this is the last fight of the demo. The Dungeon Master himself turns his magic on the player, who holds it off with a shield. One sentence: a first-person dungeon crawler played at the Dungeon Master's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game in three pictures. Between runs you are in an apartment with a stranger who plays a game with you every night. He builds a dungeon on his table, sets down your figure, and you play it in first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reasons it is not another dungeon crawler. The Dungeon Master is a character, not a menu. The room and the table are two halves of one story. And everything shares one hand-painted pixel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loop. Each run is a descent through generated floors. Death sends you back to the table and the room; a win ends the night and a new morning starts. Gear, level and skills carry between floors of a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Combat is the heart of the game, about 90% of play. Everything here is in the demo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Floors are generated from hand-built rooms, so every run differs but every room feels designed. Numbers are what exists in the demo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moment people remember. On the last floor the dungeon ends on a stage at the edge of the table. The DM leans over, sets the boss down by hand and fires his own beam. The fight follows the music's 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buys this and what it compares to. Fill the comparable titles with three recent games and their sales or review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real today versus what the money builds. The demo is playable from the main menu through the intro, the room and the four-floor dungeon to the boss.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makes money and the proof people want it. Fill in every number you have; even small wishlist or view counts are worth showing.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Publishers back people. Say who you are, what you have shipped or built before, and why you will finish this game.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ask, then the contact details. Leave this slide up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D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ss_20_7.6x7.5_right_Tru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255" y="0"/>
            <a:ext cx="694944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7373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2A93B"/>
                </a:solidFill>
                <a:latin typeface="Arial"/>
              </a:rPr>
              <a:t>PUBLISHER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0" b="0" i="0">
                <a:solidFill>
                  <a:srgbClr val="EFE7DA"/>
                </a:solidFill>
                <a:latin typeface="Georgia"/>
              </a:rPr>
              <a:t>The Table Waits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461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EFE7DA"/>
                </a:solidFill>
                <a:latin typeface="Arial"/>
              </a:rPr>
              <a:t>A first-person dungeon crawler, played at the Dungeon Master's 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9C8A"/>
                </a:solidFill>
                <a:latin typeface="Arial"/>
              </a:rPr>
              <a:t>PC  ·  Unity 6  ·  Playable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92040"/>
            <a:ext cx="3291840" cy="45720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892040"/>
            <a:ext cx="30723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7A59"/>
                </a:solidFill>
                <a:latin typeface="Arial"/>
              </a:rPr>
              <a:t>[fill in: studio name, 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2A93B"/>
                </a:solidFill>
                <a:latin typeface="Arial"/>
              </a:rPr>
              <a:t>THE PITCH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EFE7DA"/>
                </a:solidFill>
                <a:latin typeface="Georgia"/>
              </a:rPr>
              <a:t>Every night he plays a game with you</a:t>
            </a:r>
          </a:p>
        </p:txBody>
      </p:sp>
      <p:pic>
        <p:nvPicPr>
          <p:cNvPr id="4" name="Picture 3" descr="seat_3.8x2.7_None_Fal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3502152" cy="246888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526280"/>
            <a:ext cx="384048" cy="384048"/>
          </a:xfrm>
          <a:prstGeom prst="ellipse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F0D0B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2926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EFE7DA"/>
                </a:solidFill>
                <a:latin typeface="Georgia"/>
              </a:rPr>
              <a:t>The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74920"/>
            <a:ext cx="35021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A89C8A"/>
                </a:solidFill>
                <a:latin typeface="Arial"/>
              </a:rPr>
              <a:t>A quiet apartment and a stranger who waits for you at his table.</a:t>
            </a:r>
          </a:p>
        </p:txBody>
      </p:sp>
      <p:pic>
        <p:nvPicPr>
          <p:cNvPr id="9" name="Picture 8" descr="board_3.8x2.7_None_Fals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112" y="1783080"/>
            <a:ext cx="3502152" cy="246888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4325112" y="4526280"/>
            <a:ext cx="384048" cy="384048"/>
          </a:xfrm>
          <a:prstGeom prst="ellipse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5112" y="45262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F0D0B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1" y="4526280"/>
            <a:ext cx="2926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EFE7DA"/>
                </a:solidFill>
                <a:latin typeface="Georgia"/>
              </a:rPr>
              <a:t>The 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5112" y="5074920"/>
            <a:ext cx="35021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A89C8A"/>
                </a:solidFill>
                <a:latin typeface="Arial"/>
              </a:rPr>
              <a:t>He builds a dungeon in front of you and sets down your figure.</a:t>
            </a:r>
          </a:p>
        </p:txBody>
      </p:sp>
      <p:pic>
        <p:nvPicPr>
          <p:cNvPr id="14" name="Picture 13" descr="dungeon_3.8x2.7_None_Fal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1583" y="1783080"/>
            <a:ext cx="3502152" cy="246888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8101583" y="4526280"/>
            <a:ext cx="384048" cy="384048"/>
          </a:xfrm>
          <a:prstGeom prst="ellipse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1583" y="45262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F0D0B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0224" y="4526280"/>
            <a:ext cx="2926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EFE7DA"/>
                </a:solidFill>
                <a:latin typeface="Georgia"/>
              </a:rPr>
              <a:t>The dungeon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1583" y="5074920"/>
            <a:ext cx="35021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A89C8A"/>
                </a:solidFill>
                <a:latin typeface="Arial"/>
              </a:rPr>
              <a:t>Then you are inside it, in first person, with a sword and a shield.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9C8A"/>
                </a:solidFill>
                <a:latin typeface="Arial"/>
              </a:rPr>
              <a:t>THE TABLE WAITS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89C8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2A93B"/>
                </a:solidFill>
                <a:latin typeface="Arial"/>
              </a:rPr>
              <a:t>WHY IT STANDS OUT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EFE7DA"/>
                </a:solidFill>
                <a:latin typeface="Georgia"/>
              </a:rPr>
              <a:t>What makes it different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3502152" cy="4343400"/>
          </a:xfrm>
          <a:prstGeom prst="rect">
            <a:avLst/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oss_40_3.8x2.2_None_Tru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3502152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59" y="402336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E2A93B"/>
                </a:solidFill>
                <a:latin typeface="Georgia"/>
              </a:rPr>
              <a:t>The Dungeon Master is a character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800600"/>
            <a:ext cx="29718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He talks to you, reacts to how you play, and in the last fight leans over the table to face you himself.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5112" y="1783080"/>
            <a:ext cx="3502152" cy="4343400"/>
          </a:xfrm>
          <a:prstGeom prst="rect">
            <a:avLst/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verview_3.8x2.2_None_Fals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5112" y="1783080"/>
            <a:ext cx="3502152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9431" y="402336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E2A93B"/>
                </a:solidFill>
                <a:latin typeface="Georgia"/>
              </a:rPr>
              <a:t>Two worlds, one 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1" y="4800600"/>
            <a:ext cx="29718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A calm room between runs and a deadly dungeon on the table. Fallen figures stay on a memorial shelf.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3" y="1783080"/>
            <a:ext cx="3502152" cy="4343400"/>
          </a:xfrm>
          <a:prstGeom prst="rect">
            <a:avLst/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ss_35_3.8x2.2_None_Tr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1583" y="1783080"/>
            <a:ext cx="3502152" cy="2057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75904" y="402336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E2A93B"/>
                </a:solidFill>
                <a:latin typeface="Georgia"/>
              </a:rPr>
              <a:t>One painted pixel look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4800600"/>
            <a:ext cx="29718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Every model is repainted as low-resolution pixel art and lit per texel, so the whole world shares one style.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9C8A"/>
                </a:solidFill>
                <a:latin typeface="Arial"/>
              </a:rPr>
              <a:t>THE TABLE WAITS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89C8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2A93B"/>
                </a:solidFill>
                <a:latin typeface="Arial"/>
              </a:rPr>
              <a:t>HOW IT PLAYS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EFE7DA"/>
                </a:solidFill>
                <a:latin typeface="Georgia"/>
              </a:rPr>
              <a:t>The core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423160"/>
            <a:ext cx="16001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0" i="0">
                <a:solidFill>
                  <a:srgbClr val="E2A93B"/>
                </a:solidFill>
                <a:latin typeface="Georgia"/>
              </a:rPr>
              <a:t>Wake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26080"/>
            <a:ext cx="1600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A89C8A"/>
                </a:solidFill>
                <a:latin typeface="Arial"/>
              </a:rPr>
              <a:t>in the room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05456" y="2697480"/>
            <a:ext cx="246888" cy="320040"/>
          </a:xfrm>
          <a:prstGeom prst="rightArrow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14884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423160"/>
            <a:ext cx="16001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0" i="0">
                <a:solidFill>
                  <a:srgbClr val="E2A93B"/>
                </a:solidFill>
                <a:latin typeface="Georgia"/>
              </a:rPr>
              <a:t>Sit 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926080"/>
            <a:ext cx="1600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A89C8A"/>
                </a:solidFill>
                <a:latin typeface="Arial"/>
              </a:rPr>
              <a:t>at his table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91456" y="2697480"/>
            <a:ext cx="246888" cy="320040"/>
          </a:xfrm>
          <a:prstGeom prst="rightArrow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0640" y="214884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2423160"/>
            <a:ext cx="16001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0" i="0">
                <a:solidFill>
                  <a:srgbClr val="E2A93B"/>
                </a:solidFill>
                <a:latin typeface="Georgia"/>
              </a:rPr>
              <a:t>Pick a 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1600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A89C8A"/>
                </a:solidFill>
                <a:latin typeface="Arial"/>
              </a:rPr>
              <a:t>Warrior, Wizard, Cleric...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77455" y="2697480"/>
            <a:ext cx="246888" cy="320040"/>
          </a:xfrm>
          <a:prstGeom prst="rightArrow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06640" y="214884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2A2116"/>
          </a:solidFill>
          <a:ln w="15875">
            <a:solidFill>
              <a:srgbClr val="E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2423160"/>
            <a:ext cx="16001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0" i="0">
                <a:solidFill>
                  <a:srgbClr val="E2A93B"/>
                </a:solidFill>
                <a:latin typeface="Georgia"/>
              </a:rPr>
              <a:t>Descend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2926080"/>
            <a:ext cx="1600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A89C8A"/>
                </a:solidFill>
                <a:latin typeface="Arial"/>
              </a:rPr>
              <a:t>fight, loot, level up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363455" y="2697480"/>
            <a:ext cx="246888" cy="320040"/>
          </a:xfrm>
          <a:prstGeom prst="rightArrow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92640" y="214884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9800" y="2423160"/>
            <a:ext cx="160019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0" i="0">
                <a:solidFill>
                  <a:srgbClr val="E2A93B"/>
                </a:solidFill>
                <a:latin typeface="Georgia"/>
              </a:rPr>
              <a:t>Win or die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2926080"/>
            <a:ext cx="1600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A89C8A"/>
                </a:solidFill>
                <a:latin typeface="Arial"/>
              </a:rPr>
              <a:t>and the night ends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7612" y="3566160"/>
            <a:ext cx="36576" cy="502920"/>
          </a:xfrm>
          <a:prstGeom prst="rect">
            <a:avLst/>
          </a:prstGeom>
          <a:solidFill>
            <a:srgbClr val="A89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11612" y="3566160"/>
            <a:ext cx="36576" cy="502920"/>
          </a:xfrm>
          <a:prstGeom prst="rect">
            <a:avLst/>
          </a:prstGeom>
          <a:solidFill>
            <a:srgbClr val="A89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67612" y="4050791"/>
            <a:ext cx="9180576" cy="36576"/>
          </a:xfrm>
          <a:prstGeom prst="rect">
            <a:avLst/>
          </a:prstGeom>
          <a:solidFill>
            <a:srgbClr val="A89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p Arrow 25"/>
          <p:cNvSpPr/>
          <p:nvPr/>
        </p:nvSpPr>
        <p:spPr>
          <a:xfrm>
            <a:off x="1339596" y="3566160"/>
            <a:ext cx="292608" cy="274320"/>
          </a:xfrm>
          <a:prstGeom prst="upArrow">
            <a:avLst/>
          </a:prstGeom>
          <a:solidFill>
            <a:srgbClr val="A89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42062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A89C8A"/>
                </a:solidFill>
                <a:latin typeface="Arial"/>
              </a:rPr>
              <a:t>The next night, the table waits again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92040"/>
            <a:ext cx="35021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FE7DA"/>
                </a:solidFill>
                <a:latin typeface="Arial"/>
              </a:rPr>
              <a:t>Inside a run
</a:t>
            </a:r>
          </a:p>
          <a:p>
            <a:pPr algn="l"/>
            <a:r>
              <a:rPr sz="1400" b="0" i="0">
                <a:solidFill>
                  <a:srgbClr val="A89C8A"/>
                </a:solidFill>
                <a:latin typeface="Arial"/>
              </a:rPr>
              <a:t>Gear, level and skills carry from floor to floor. Skills grow with use.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25112" y="4892040"/>
            <a:ext cx="35021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FE7DA"/>
                </a:solidFill>
                <a:latin typeface="Arial"/>
              </a:rPr>
              <a:t>Between runs
</a:t>
            </a:r>
          </a:p>
          <a:p>
            <a:pPr algn="l"/>
            <a:r>
              <a:rPr sz="1400" b="0" i="0">
                <a:solidFill>
                  <a:srgbClr val="A89C8A"/>
                </a:solidFill>
                <a:latin typeface="Arial"/>
              </a:rPr>
              <a:t>The room changes with your progress. Each fallen figure gets a memorial.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1583" y="4892040"/>
            <a:ext cx="350215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FE7DA"/>
                </a:solidFill>
                <a:latin typeface="Arial"/>
              </a:rPr>
              <a:t>Talking
</a:t>
            </a:r>
          </a:p>
          <a:p>
            <a:pPr algn="l"/>
            <a:r>
              <a:rPr sz="1400" b="0" i="0">
                <a:solidFill>
                  <a:srgbClr val="A89C8A"/>
                </a:solidFill>
                <a:latin typeface="Arial"/>
              </a:rPr>
              <a:t>The DM comments on kills, close calls, new depths and your choices.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9C8A"/>
                </a:solidFill>
                <a:latin typeface="Arial"/>
              </a:rPr>
              <a:t>THE TABLE WAITS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89C8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D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ss_30_6.2x7.5_None_Tru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17920" y="4114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2A93B"/>
                </a:solidFill>
                <a:latin typeface="Arial"/>
              </a:rPr>
              <a:t>COMBAT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6858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EFE7DA"/>
                </a:solidFill>
                <a:latin typeface="Georgia"/>
              </a:rPr>
              <a:t>Fights you can feel</a:t>
            </a:r>
          </a:p>
        </p:txBody>
      </p:sp>
      <p:sp>
        <p:nvSpPr>
          <p:cNvPr id="5" name="Oval 4"/>
          <p:cNvSpPr/>
          <p:nvPr/>
        </p:nvSpPr>
        <p:spPr>
          <a:xfrm>
            <a:off x="6217920" y="1783080"/>
            <a:ext cx="384048" cy="384048"/>
          </a:xfrm>
          <a:prstGeom prst="ellipse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0" y="17830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F0D0B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7647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EFE7DA"/>
                </a:solidFill>
                <a:latin typeface="Georgia"/>
              </a:rPr>
              <a:t>Swords and maces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216712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9C8A"/>
                </a:solidFill>
                <a:latin typeface="Arial"/>
              </a:rPr>
              <a:t>Weighty swings with a fixed rhythm. Blows throw enemies back and send kills flying.</a:t>
            </a:r>
          </a:p>
        </p:txBody>
      </p:sp>
      <p:sp>
        <p:nvSpPr>
          <p:cNvPr id="9" name="Oval 8"/>
          <p:cNvSpPr/>
          <p:nvPr/>
        </p:nvSpPr>
        <p:spPr>
          <a:xfrm>
            <a:off x="6217920" y="2880360"/>
            <a:ext cx="384048" cy="384048"/>
          </a:xfrm>
          <a:prstGeom prst="ellipse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F0D0B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86207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EFE7DA"/>
                </a:solidFill>
                <a:latin typeface="Georgia"/>
              </a:rPr>
              <a:t>Shield and block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6440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9C8A"/>
                </a:solidFill>
                <a:latin typeface="Arial"/>
              </a:rPr>
              <a:t>Block blows, bash forward with a stun, and hold off the DM's own magic.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0" y="3977639"/>
            <a:ext cx="384048" cy="384048"/>
          </a:xfrm>
          <a:prstGeom prst="ellipse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3977639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F0D0B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959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EFE7DA"/>
                </a:solidFill>
                <a:latin typeface="Georgia"/>
              </a:rPr>
              <a:t>Spells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436168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9C8A"/>
                </a:solidFill>
                <a:latin typeface="Arial"/>
              </a:rPr>
              <a:t>Fireball, Fire Circle and Heal, found as tomes. Any class can use them.</a:t>
            </a:r>
          </a:p>
        </p:txBody>
      </p:sp>
      <p:sp>
        <p:nvSpPr>
          <p:cNvPr id="17" name="Oval 16"/>
          <p:cNvSpPr/>
          <p:nvPr/>
        </p:nvSpPr>
        <p:spPr>
          <a:xfrm>
            <a:off x="6217920" y="5074920"/>
            <a:ext cx="384048" cy="384048"/>
          </a:xfrm>
          <a:prstGeom prst="ellipse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5074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F0D0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5056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EFE7DA"/>
                </a:solidFill>
                <a:latin typeface="Georgia"/>
              </a:rPr>
              <a:t>Enemies you can 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545896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9C8A"/>
                </a:solidFill>
                <a:latin typeface="Arial"/>
              </a:rPr>
              <a:t>Clear windups. Archers, casters, flyers, sleeping packs and ambushes.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9C8A"/>
                </a:solidFill>
                <a:latin typeface="Arial"/>
              </a:rPr>
              <a:t>THE TABLE WAITS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89C8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2A93B"/>
                </a:solidFill>
                <a:latin typeface="Arial"/>
              </a:rPr>
              <a:t>THE DUNGEON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EFE7DA"/>
                </a:solidFill>
                <a:latin typeface="Georgia"/>
              </a:rPr>
              <a:t>A new dungeon every run</a:t>
            </a:r>
          </a:p>
        </p:txBody>
      </p:sp>
      <p:pic>
        <p:nvPicPr>
          <p:cNvPr id="4" name="Picture 3" descr="dungeon_6.4x4.6_None_Fal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152" y="1783080"/>
            <a:ext cx="585216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8308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0" i="0">
                <a:solidFill>
                  <a:srgbClr val="E2A93B"/>
                </a:solidFill>
                <a:latin typeface="Georgia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0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9C8A"/>
                </a:solidFill>
                <a:latin typeface="Arial"/>
              </a:rPr>
              <a:t>hand-built rooms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178308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0" i="0">
                <a:solidFill>
                  <a:srgbClr val="E2A93B"/>
                </a:solidFill>
                <a:latin typeface="Georgi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560320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9C8A"/>
                </a:solidFill>
                <a:latin typeface="Arial"/>
              </a:rPr>
              <a:t>enemy 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0" i="0">
                <a:solidFill>
                  <a:srgbClr val="E2A93B"/>
                </a:solidFill>
                <a:latin typeface="Georgia"/>
              </a:rPr>
              <a:t>50+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86200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9C8A"/>
                </a:solidFill>
                <a:latin typeface="Arial"/>
              </a:rPr>
              <a:t>items, 4 tiers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31089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0" i="0">
                <a:solidFill>
                  <a:srgbClr val="E2A93B"/>
                </a:solidFill>
                <a:latin typeface="Georgia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3886200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A89C8A"/>
                </a:solidFill>
                <a:latin typeface="Arial"/>
              </a:rPr>
              <a:t>classes, 8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7200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FE7DA"/>
                </a:solidFill>
                <a:latin typeface="Arial"/>
              </a:rPr>
              <a:t>Room events keep floors fresh: ambushes behind slamming gates, sleeping packs, trapped chests, blood shrines and pits that drop into the table itself.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9C8A"/>
                </a:solidFill>
                <a:latin typeface="Arial"/>
              </a:rPr>
              <a:t>THE TABLE WAITS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89C8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D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ss_40_13.3x7.5_bottom_Tru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251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2A93B"/>
                </a:solidFill>
                <a:latin typeface="Arial"/>
              </a:rPr>
              <a:t>THE FINAL FIGHT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262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EFE7DA"/>
                </a:solidFill>
                <a:latin typeface="Georgia"/>
              </a:rPr>
              <a:t>The last floor is a stage in front of him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FE7DA"/>
                </a:solidFill>
                <a:latin typeface="Arial"/>
              </a:rPr>
              <a:t>The Dungeon Master leans over the table, sets the boss down by hand and turns his own magic on you. Hold your shield up, or burn.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544068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1">
                <a:solidFill>
                  <a:srgbClr val="7FDBD6"/>
                </a:solidFill>
                <a:latin typeface="Georgia"/>
              </a:rPr>
              <a:t>“Hold this.”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2A93B"/>
                </a:solidFill>
                <a:latin typeface="Arial"/>
              </a:rPr>
              <a:t>AUDIENCE AND MARKET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EFE7DA"/>
                </a:solidFill>
                <a:latin typeface="Georgia"/>
              </a:rPr>
              <a:t>Who it is for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2A93B"/>
                </a:solidFill>
                <a:latin typeface="Georgia"/>
              </a:rPr>
              <a:t>Dungeon crawler and roguelike players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Short runs, real stakes, better gear every floor.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154680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3375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2A93B"/>
                </a:solidFill>
                <a:latin typeface="Georgia"/>
              </a:rPr>
              <a:t>Tabletop RPG players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The Dungeon Master, the dice, the figures and the character sheet.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26280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7091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2A93B"/>
                </a:solidFill>
                <a:latin typeface="Georgia"/>
              </a:rPr>
              <a:t>Streamers and short-video viewers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1206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A DM who talks back and a final fight made for clips.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FE7DA"/>
                </a:solidFill>
                <a:latin typeface="Georgia"/>
              </a:rPr>
              <a:t>Comparable titles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286000"/>
            <a:ext cx="5120640" cy="77724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2286000"/>
            <a:ext cx="4901183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7A59"/>
                </a:solidFill>
                <a:latin typeface="Arial"/>
              </a:rPr>
              <a:t>[fill in: comparable game 1: year, units sold or reviews]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273552"/>
            <a:ext cx="5120640" cy="77724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3273552"/>
            <a:ext cx="4901183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7A59"/>
                </a:solidFill>
                <a:latin typeface="Arial"/>
              </a:rPr>
              <a:t>[fill in: comparable game 2: year, units sold or reviews]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4261104"/>
            <a:ext cx="5120640" cy="77724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1968" y="4261104"/>
            <a:ext cx="4901183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7A59"/>
                </a:solidFill>
                <a:latin typeface="Arial"/>
              </a:rPr>
              <a:t>[fill in: comparable game 3: year, units sold or reviews]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5303520"/>
            <a:ext cx="5120640" cy="64008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01968" y="5303520"/>
            <a:ext cx="4901183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7A59"/>
                </a:solidFill>
                <a:latin typeface="Arial"/>
              </a:rPr>
              <a:t>[fill in: market size or genre sales figure]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9C8A"/>
                </a:solidFill>
                <a:latin typeface="Arial"/>
              </a:rPr>
              <a:t>THE TABLE WAITS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89C8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2A93B"/>
                </a:solidFill>
                <a:latin typeface="Arial"/>
              </a:rPr>
              <a:t>STATUS AND ROADMAP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EFE7DA"/>
                </a:solidFill>
                <a:latin typeface="Georgia"/>
              </a:rPr>
              <a:t>Playable today, and the road to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E2A93B"/>
                </a:solidFill>
                <a:latin typeface="Georgia"/>
              </a:rPr>
              <a:t>In the demo now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386584"/>
            <a:ext cx="237744" cy="237744"/>
          </a:xfrm>
          <a:prstGeom prst="ellipse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FE7DA"/>
                </a:solidFill>
                <a:latin typeface="Arial"/>
              </a:rPr>
              <a:t>Intro dungeon taught by the Dungeon Master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08376"/>
            <a:ext cx="237744" cy="237744"/>
          </a:xfrm>
          <a:prstGeom prst="ellipse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95351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FE7DA"/>
                </a:solidFill>
                <a:latin typeface="Arial"/>
              </a:rPr>
              <a:t>The room, the table and the morning loop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630168"/>
            <a:ext cx="237744" cy="237744"/>
          </a:xfrm>
          <a:prstGeom prst="ellipse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7530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FE7DA"/>
                </a:solidFill>
                <a:latin typeface="Arial"/>
              </a:rPr>
              <a:t>Four floors over two biomes: Cellars and Crypt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251959"/>
            <a:ext cx="237744" cy="237744"/>
          </a:xfrm>
          <a:prstGeom prst="ellipse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97096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FE7DA"/>
                </a:solidFill>
                <a:latin typeface="Arial"/>
              </a:rPr>
              <a:t>The Crypt Lord fight on the DM's stage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873751"/>
            <a:ext cx="237744" cy="237744"/>
          </a:xfrm>
          <a:prstGeom prst="ellipse">
            <a:avLst/>
          </a:prstGeom>
          <a:solidFill>
            <a:srgbClr val="E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818888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FE7DA"/>
                </a:solidFill>
                <a:latin typeface="Arial"/>
              </a:rPr>
              <a:t>Save and resume, loot, inventory,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6235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A89C8A"/>
                </a:solidFill>
                <a:latin typeface="Arial"/>
              </a:rPr>
              <a:t>In development since April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10528" y="1965960"/>
            <a:ext cx="36576" cy="3977639"/>
          </a:xfrm>
          <a:prstGeom prst="rect">
            <a:avLst/>
          </a:prstGeom>
          <a:solidFill>
            <a:srgbClr val="A89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0" y="1856231"/>
            <a:ext cx="256032" cy="256032"/>
          </a:xfrm>
          <a:prstGeom prst="ellipse">
            <a:avLst/>
          </a:prstGeom>
          <a:solidFill>
            <a:srgbClr val="E2A93B"/>
          </a:solidFill>
          <a:ln w="15875">
            <a:solidFill>
              <a:srgbClr val="E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783080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2A93B"/>
                </a:solidFill>
                <a:latin typeface="Arial"/>
              </a:rPr>
              <a:t>Oct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819656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Playable demo, Dungeon1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0" y="2724912"/>
            <a:ext cx="256032" cy="256032"/>
          </a:xfrm>
          <a:prstGeom prst="ellipse">
            <a:avLst/>
          </a:prstGeom>
          <a:solidFill>
            <a:srgbClr val="0F0D0B"/>
          </a:solidFill>
          <a:ln w="15875">
            <a:solidFill>
              <a:srgbClr val="E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03720" y="2651760"/>
            <a:ext cx="1280160" cy="384048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13448" y="2651760"/>
            <a:ext cx="10607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7A59"/>
                </a:solidFill>
                <a:latin typeface="Arial"/>
              </a:rPr>
              <a:t>[fill in: date]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688336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Steam page and trailer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0" y="3593591"/>
            <a:ext cx="256032" cy="256032"/>
          </a:xfrm>
          <a:prstGeom prst="ellipse">
            <a:avLst/>
          </a:prstGeom>
          <a:solidFill>
            <a:srgbClr val="0F0D0B"/>
          </a:solidFill>
          <a:ln w="15875">
            <a:solidFill>
              <a:srgbClr val="E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03720" y="3520439"/>
            <a:ext cx="1280160" cy="384048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3448" y="3520439"/>
            <a:ext cx="10607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7A59"/>
                </a:solidFill>
                <a:latin typeface="Arial"/>
              </a:rPr>
              <a:t>[fill in: date]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557015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Public demo, festival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0" y="4462272"/>
            <a:ext cx="256032" cy="256032"/>
          </a:xfrm>
          <a:prstGeom prst="ellipse">
            <a:avLst/>
          </a:prstGeom>
          <a:solidFill>
            <a:srgbClr val="0F0D0B"/>
          </a:solidFill>
          <a:ln w="15875">
            <a:solidFill>
              <a:srgbClr val="E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903720" y="4389120"/>
            <a:ext cx="1280160" cy="384048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13448" y="4389120"/>
            <a:ext cx="10607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7A59"/>
                </a:solidFill>
                <a:latin typeface="Arial"/>
              </a:rPr>
              <a:t>[fill in: date]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425696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More biomes and bosses, up to 20 floors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0" y="5330952"/>
            <a:ext cx="256032" cy="256032"/>
          </a:xfrm>
          <a:prstGeom prst="ellipse">
            <a:avLst/>
          </a:prstGeom>
          <a:solidFill>
            <a:srgbClr val="0F0D0B"/>
          </a:solidFill>
          <a:ln w="15875">
            <a:solidFill>
              <a:srgbClr val="E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903720" y="5257800"/>
            <a:ext cx="1280160" cy="384048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13448" y="5257800"/>
            <a:ext cx="10607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7A59"/>
                </a:solidFill>
                <a:latin typeface="Arial"/>
              </a:rPr>
              <a:t>[fill in: date]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5294376"/>
            <a:ext cx="3246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Launch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9C8A"/>
                </a:solidFill>
                <a:latin typeface="Arial"/>
              </a:rPr>
              <a:t>THE TABLE WAITS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89C8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2A93B"/>
                </a:solidFill>
                <a:latin typeface="Arial"/>
              </a:rPr>
              <a:t>THE NUMBERS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EFE7DA"/>
                </a:solidFill>
                <a:latin typeface="Georgia"/>
              </a:rPr>
              <a:t>Business model and traction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01952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2A93B"/>
                </a:solidFill>
                <a:latin typeface="Georgia"/>
              </a:rPr>
              <a:t>Premium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901952"/>
            <a:ext cx="2926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One price on Steam.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07208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2A93B"/>
                </a:solidFill>
                <a:latin typeface="Georgia"/>
              </a:rPr>
              <a:t>Platforms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926080"/>
            <a:ext cx="2926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PC first.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31336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950208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2A93B"/>
                </a:solidFill>
                <a:latin typeface="Georgia"/>
              </a:rPr>
              <a:t>After launch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950208"/>
            <a:ext cx="2926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New dungeons, each a set of biomes.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55464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974336"/>
            <a:ext cx="1737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2A93B"/>
                </a:solidFill>
                <a:latin typeface="Georgia"/>
              </a:rPr>
              <a:t>Co-op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974336"/>
            <a:ext cx="2926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FE7DA"/>
                </a:solidFill>
                <a:latin typeface="Arial"/>
              </a:rPr>
              <a:t>Two players in one run, in development.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978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89C8A"/>
                </a:solidFill>
                <a:latin typeface="Arial"/>
              </a:rPr>
              <a:t>Price and console plans: </a:t>
            </a:r>
            <a:r>
              <a:rPr sz="1300" b="0" i="0">
                <a:solidFill>
                  <a:srgbClr val="FF7A59"/>
                </a:solidFill>
                <a:latin typeface="Arial"/>
              </a:rPr>
              <a:t>[fill in]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783080"/>
            <a:ext cx="2468880" cy="118872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783080"/>
            <a:ext cx="224942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F7A59"/>
                </a:solidFill>
                <a:latin typeface="Arial"/>
              </a:rPr>
              <a:t>[fill in: number]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08152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EFE7DA"/>
                </a:solidFill>
                <a:latin typeface="Arial"/>
              </a:rPr>
              <a:t>Steam wishlists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783080"/>
            <a:ext cx="2468880" cy="118872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6568" y="1783080"/>
            <a:ext cx="224942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F7A59"/>
                </a:solidFill>
                <a:latin typeface="Arial"/>
              </a:rPr>
              <a:t>[fill in: number]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08152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EFE7DA"/>
                </a:solidFill>
                <a:latin typeface="Arial"/>
              </a:rPr>
              <a:t>Short-video views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886200"/>
            <a:ext cx="2468880" cy="118872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886200"/>
            <a:ext cx="224942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F7A59"/>
                </a:solidFill>
                <a:latin typeface="Arial"/>
              </a:rPr>
              <a:t>[fill in: number]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18464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EFE7DA"/>
                </a:solidFill>
                <a:latin typeface="Arial"/>
              </a:rPr>
              <a:t>Followers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3886200"/>
            <a:ext cx="2468880" cy="118872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16568" y="3886200"/>
            <a:ext cx="224942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F7A59"/>
                </a:solidFill>
                <a:latin typeface="Arial"/>
              </a:rPr>
              <a:t>[fill in: number]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518464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EFE7DA"/>
                </a:solidFill>
                <a:latin typeface="Arial"/>
              </a:rPr>
              <a:t>Playtesters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9C8A"/>
                </a:solidFill>
                <a:latin typeface="Arial"/>
              </a:rPr>
              <a:t>THE TABLE WAITS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89C8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D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2A93B"/>
                </a:solidFill>
                <a:latin typeface="Arial"/>
              </a:rPr>
              <a:t>WHO IS MAKING IT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EFE7DA"/>
                </a:solidFill>
                <a:latin typeface="Georgia"/>
              </a:rPr>
              <a:t>The team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394960" cy="27432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103120"/>
            <a:ext cx="1463040" cy="1463040"/>
          </a:xfrm>
          <a:prstGeom prst="ellipse">
            <a:avLst/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7A59"/>
                </a:solidFill>
                <a:latin typeface="Arial"/>
              </a:rPr>
              <a:t>photo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2103120"/>
            <a:ext cx="3017520" cy="50292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15768" y="2103120"/>
            <a:ext cx="279806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7A59"/>
                </a:solidFill>
                <a:latin typeface="Arial"/>
              </a:rPr>
              <a:t>[fill in: name, role]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2788920"/>
            <a:ext cx="3017520" cy="146304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5768" y="2788920"/>
            <a:ext cx="2798063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7A59"/>
                </a:solidFill>
                <a:latin typeface="Arial"/>
              </a:rPr>
              <a:t>[fill in: background, past games, skills]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394960" cy="27432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37959" y="2103120"/>
            <a:ext cx="1463040" cy="1463040"/>
          </a:xfrm>
          <a:prstGeom prst="ellipse">
            <a:avLst/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10312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7A59"/>
                </a:solidFill>
                <a:latin typeface="Arial"/>
              </a:rPr>
              <a:t>photo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2103120"/>
            <a:ext cx="3017520" cy="50292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103120"/>
            <a:ext cx="279806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7A59"/>
                </a:solidFill>
                <a:latin typeface="Arial"/>
              </a:rPr>
              <a:t>[fill in: name, role]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2788920"/>
            <a:ext cx="3017520" cy="146304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5048" y="2788920"/>
            <a:ext cx="2798063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F7A59"/>
                </a:solidFill>
                <a:latin typeface="Arial"/>
              </a:rPr>
              <a:t>[fill in: background, past games, skills]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2A93B"/>
                </a:solidFill>
                <a:latin typeface="Georgia"/>
              </a:rPr>
              <a:t>Built so far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035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FE7DA"/>
                </a:solidFill>
                <a:latin typeface="Arial"/>
              </a:rPr>
              <a:t>Six months from first commit to a playable demo with its own art pipeline, generated dungeons, a full boss fight and a story intro. Add partners, contractors or advisers here.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9C8A"/>
                </a:solidFill>
                <a:latin typeface="Arial"/>
              </a:rPr>
              <a:t>THE TABLE WAITS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89C8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D0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at_13.3x7.5_full_Fal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2A93B"/>
                </a:solidFill>
                <a:latin typeface="Arial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EFE7DA"/>
                </a:solidFill>
                <a:latin typeface="Georgia"/>
              </a:rPr>
              <a:t>The table is waiting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A89C8A"/>
                </a:solidFill>
                <a:latin typeface="Arial"/>
              </a:rPr>
              <a:t>We are looking for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4937760" cy="82296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94560"/>
            <a:ext cx="4718304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F7A59"/>
                </a:solidFill>
                <a:latin typeface="Arial"/>
              </a:rPr>
              <a:t>[fill in: amount, months to launch]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4937760" cy="68580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200400"/>
            <a:ext cx="4718304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7A59"/>
                </a:solidFill>
                <a:latin typeface="Arial"/>
              </a:rPr>
              <a:t>[fill in: what the partner gets: revenue split, rights, platforms]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A89C8A"/>
                </a:solidFill>
                <a:latin typeface="Arial"/>
              </a:rPr>
              <a:t>What it pays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374903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FE7DA"/>
                </a:solidFill>
                <a:latin typeface="Arial"/>
              </a:rPr>
              <a:t>Content: biomes, enemies, bosses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32720" y="2194560"/>
            <a:ext cx="1188720" cy="41148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42448" y="2194560"/>
            <a:ext cx="969264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7A59"/>
                </a:solidFill>
                <a:latin typeface="Arial"/>
              </a:rPr>
              <a:t>[fill in: %]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761488"/>
            <a:ext cx="374903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FE7DA"/>
                </a:solidFill>
                <a:latin typeface="Arial"/>
              </a:rPr>
              <a:t>Art and audio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32720" y="2761488"/>
            <a:ext cx="1188720" cy="41148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42448" y="2761488"/>
            <a:ext cx="969264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7A59"/>
                </a:solidFill>
                <a:latin typeface="Arial"/>
              </a:rPr>
              <a:t>[fill in: %]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5"/>
            <a:ext cx="374903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FE7DA"/>
                </a:solidFill>
                <a:latin typeface="Arial"/>
              </a:rPr>
              <a:t>QA, porting, localisation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32720" y="3328415"/>
            <a:ext cx="1188720" cy="41148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42448" y="3328415"/>
            <a:ext cx="969264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7A59"/>
                </a:solidFill>
                <a:latin typeface="Arial"/>
              </a:rPr>
              <a:t>[fill in: %]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95344"/>
            <a:ext cx="3749039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FE7DA"/>
                </a:solidFill>
                <a:latin typeface="Arial"/>
              </a:rPr>
              <a:t>Marketing and launch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3895344"/>
            <a:ext cx="1188720" cy="41148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42448" y="3895344"/>
            <a:ext cx="969264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7A59"/>
                </a:solidFill>
                <a:latin typeface="Arial"/>
              </a:rPr>
              <a:t>[fill in: %]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800600"/>
            <a:ext cx="10789920" cy="1325880"/>
          </a:xfrm>
          <a:prstGeom prst="roundRect">
            <a:avLst>
              <a:gd name="adj" fmla="val 8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34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2A93B"/>
                </a:solidFill>
                <a:latin typeface="Arial"/>
              </a:rPr>
              <a:t>CONTACT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5349240"/>
            <a:ext cx="3154680" cy="50292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5349240"/>
            <a:ext cx="293522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7A59"/>
                </a:solidFill>
                <a:latin typeface="Arial"/>
              </a:rPr>
              <a:t>[fill in: email]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9834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2A93B"/>
                </a:solidFill>
                <a:latin typeface="Arial"/>
              </a:rPr>
              <a:t>DEMO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6280" y="5349240"/>
            <a:ext cx="3154680" cy="50292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36008" y="5349240"/>
            <a:ext cx="293522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7A59"/>
                </a:solidFill>
                <a:latin typeface="Arial"/>
              </a:rPr>
              <a:t>[fill in: demo link]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49834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2A93B"/>
                </a:solidFill>
                <a:latin typeface="Arial"/>
              </a:rPr>
              <a:t>TRAILER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5349240"/>
            <a:ext cx="3154680" cy="50292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FF7A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5349240"/>
            <a:ext cx="293522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7A59"/>
                </a:solidFill>
                <a:latin typeface="Arial"/>
              </a:rPr>
              <a:t>[fill in: trailer link]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