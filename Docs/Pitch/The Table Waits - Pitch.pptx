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art and one line, then straight to the key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facts first. The GIF is raw demo gameplay. Platforms stay open on purpose: publishers want a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is making it, and why. Shipped work counts even if it did not sell; if there is none, the demo is the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business why: the gap this game fills. Back each point with a number; the bottom row is 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finished vision, familiar parts first, then the twist. The story line is open until the narrative is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makes it play differently. Each feature has the footage that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inner ring is every floor, minute to minute; the outer ring is a night, one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here is a promise: each number and picture is from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comparable games: recent, same subgenre and price, similar team size, never the genre's biggest hits. Pick by estimated revenue against the budget: about 70% (weaker than us), 130% (competitive), 300% (within reach). Estimate revenue as Steam reviews x 30 x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Milestones from now to release, about 30% margin on each; content complete to release is usually about three months. Be open about the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exact number: monthly burn x months to a finished PC build, with about 30% margin built into each line. Too low ends the pitch; too high leaves room to talk. Break-even is the ask divided by 70% of the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summary to leave up during questions. Send the playable build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rt_menu_Menu_camera.png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28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spc="60">
                <a:solidFill>
                  <a:srgbClr val="7FDBD6"/>
                </a:solidFill>
                <a:latin typeface="Lilita One"/>
              </a:rPr>
              <a:t>PUBLISHER PITCH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40280"/>
            <a:ext cx="5852160" cy="7371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4612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ECEFEE"/>
                </a:solidFill>
                <a:latin typeface="Lilita One"/>
              </a:rPr>
              <a:t>A first-person dungeon crawler, played at the Dungeon Master's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B8FF"/>
                </a:solidFill>
                <a:latin typeface="Trebuchet MS"/>
              </a:rPr>
              <a:t>[studio name]</a:t>
            </a:r>
            <a:r>
              <a:rPr sz="1400" b="0" i="0">
                <a:solidFill>
                  <a:srgbClr val="9DB0AD"/>
                </a:solidFill>
                <a:latin typeface="Trebuchet MS"/>
              </a:rPr>
              <a:t>   ·   </a:t>
            </a:r>
            <a:r>
              <a:rPr sz="1400" b="0" i="0">
                <a:solidFill>
                  <a:srgbClr val="8FB8FF"/>
                </a:solidFill>
                <a:latin typeface="Trebuchet MS"/>
              </a:rP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haze_None_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 spc="100">
                <a:solidFill>
                  <a:srgbClr val="E2B23A"/>
                </a:solidFill>
                <a:latin typeface="Bebas Neue"/>
              </a:rPr>
              <a:t>THE GAME AT A GLANCE</a:t>
            </a:r>
          </a:p>
        </p:txBody>
      </p:sp>
      <p:pic>
        <p:nvPicPr>
          <p:cNvPr id="4" name="Picture 3" descr="frame_6.5x3.656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1203960"/>
            <a:ext cx="6736080" cy="4133087"/>
          </a:xfrm>
          <a:prstGeom prst="rect">
            <a:avLst/>
          </a:prstGeom>
        </p:spPr>
      </p:pic>
      <p:pic>
        <p:nvPicPr>
          <p:cNvPr id="5" name="Picture 4" descr="beam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600200"/>
            <a:ext cx="5943600" cy="3343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6636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ECEFEE"/>
                </a:solidFill>
                <a:latin typeface="Trebuchet MS"/>
              </a:rPr>
              <a:t>You sit at a stranger's table. He builds a dungeon in front of you, talks to you while you play it, and at the end </a:t>
            </a:r>
            <a:r>
              <a:rPr sz="1600" b="1" i="0">
                <a:solidFill>
                  <a:srgbClr val="E2B23A"/>
                </a:solidFill>
                <a:latin typeface="Trebuchet MS"/>
              </a:rPr>
              <a:t>he fights you himself.</a:t>
            </a:r>
          </a:p>
        </p:txBody>
      </p:sp>
      <p:pic>
        <p:nvPicPr>
          <p:cNvPr id="7" name="Picture 6" descr="panel_4.5x5.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368" y="1237488"/>
            <a:ext cx="4565904" cy="5205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691640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80">
                <a:solidFill>
                  <a:srgbClr val="E2B23A"/>
                </a:solidFill>
                <a:latin typeface="Lilita One"/>
              </a:rPr>
              <a:t>GENRE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8928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FEE"/>
                </a:solidFill>
                <a:latin typeface="Trebuchet MS"/>
              </a:rPr>
              <a:t>First-person roguelike dungeon crawler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7627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80">
                <a:solidFill>
                  <a:srgbClr val="E2B23A"/>
                </a:solidFill>
                <a:latin typeface="Lilita One"/>
              </a:rPr>
              <a:t>COMBAT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3774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FEE"/>
                </a:solidFill>
                <a:latin typeface="Trebuchet MS"/>
              </a:rPr>
              <a:t>Melee: swords, maces, shields, spells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60904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80">
                <a:solidFill>
                  <a:srgbClr val="E2B23A"/>
                </a:solidFill>
                <a:latin typeface="Lilita One"/>
              </a:rPr>
              <a:t>PLAYERS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86207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FEE"/>
                </a:solidFill>
                <a:latin typeface="Trebuchet MS"/>
              </a:rPr>
              <a:t>Solo, online co-op in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145536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80">
                <a:solidFill>
                  <a:srgbClr val="E2B23A"/>
                </a:solidFill>
                <a:latin typeface="Lilita One"/>
              </a:rPr>
              <a:t>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34670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FEE"/>
                </a:solidFill>
                <a:latin typeface="Trebuchet MS"/>
              </a:rPr>
              <a:t>Unity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630168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80">
                <a:solidFill>
                  <a:srgbClr val="E2B23A"/>
                </a:solidFill>
                <a:latin typeface="Lilita One"/>
              </a:rPr>
              <a:t>PLATFORMS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83133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FEE"/>
                </a:solidFill>
                <a:latin typeface="Trebuchet MS"/>
              </a:rPr>
              <a:t>PC first, open to more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114800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80">
                <a:solidFill>
                  <a:srgbClr val="E2B23A"/>
                </a:solidFill>
                <a:latin typeface="Lilita One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31596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FEE"/>
                </a:solidFill>
                <a:latin typeface="Trebuchet MS"/>
              </a:rPr>
              <a:t>Playable demo, intro to first boss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59943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80">
                <a:solidFill>
                  <a:srgbClr val="E2B23A"/>
                </a:solidFill>
                <a:latin typeface="Lilita One"/>
              </a:rPr>
              <a:t>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800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[window]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084064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80">
                <a:solidFill>
                  <a:srgbClr val="E2B23A"/>
                </a:solidFill>
                <a:latin typeface="Lilita One"/>
              </a:rPr>
              <a:t>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52852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[price]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568696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80">
                <a:solidFill>
                  <a:srgbClr val="E2B23A"/>
                </a:solidFill>
                <a:latin typeface="Lilita One"/>
              </a:rPr>
              <a:t>THE 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7698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[$ total, months]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00">
                <a:solidFill>
                  <a:srgbClr val="9DB0AD"/>
                </a:solidFill>
                <a:latin typeface="Bebas Neue"/>
              </a:rPr>
              <a:t>THE TABLE WAITS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303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9DB0AD"/>
                </a:solidFill>
                <a:latin typeface="Bebas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haze_None_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 spc="100">
                <a:solidFill>
                  <a:srgbClr val="E2B23A"/>
                </a:solidFill>
                <a:latin typeface="Bebas Neue"/>
              </a:rPr>
              <a:t>WHO WE ARE</a:t>
            </a:r>
          </a:p>
        </p:txBody>
      </p:sp>
      <p:pic>
        <p:nvPicPr>
          <p:cNvPr id="4" name="Picture 3" descr="panel_6.2x2.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8" y="1374648"/>
            <a:ext cx="6120384" cy="246278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51560" y="1965960"/>
            <a:ext cx="1280160" cy="1280160"/>
          </a:xfrm>
          <a:prstGeom prst="ellipse">
            <a:avLst/>
          </a:prstGeom>
          <a:noFill/>
          <a:ln w="19050">
            <a:solidFill>
              <a:srgbClr val="8FB8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FB8FF"/>
                </a:solidFill>
                <a:latin typeface="Trebuchet MS"/>
              </a:rPr>
              <a:t>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9202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8FB8FF"/>
                </a:solidFill>
                <a:latin typeface="Bebas Neue"/>
              </a:rPr>
              <a:t>[Name]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46888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B8FF"/>
                </a:solidFill>
                <a:latin typeface="Lilita One"/>
              </a:rPr>
              <a:t>[role]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83464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[shipped games, background, skills]</a:t>
            </a:r>
          </a:p>
        </p:txBody>
      </p:sp>
      <p:pic>
        <p:nvPicPr>
          <p:cNvPr id="10" name="Picture 9" descr="panel_6.2x2.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68" y="3706367"/>
            <a:ext cx="6120384" cy="246278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051560" y="4297680"/>
            <a:ext cx="1280160" cy="1280160"/>
          </a:xfrm>
          <a:prstGeom prst="ellipse">
            <a:avLst/>
          </a:prstGeom>
          <a:noFill/>
          <a:ln w="19050">
            <a:solidFill>
              <a:srgbClr val="8FB8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9768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FB8FF"/>
                </a:solidFill>
                <a:latin typeface="Trebuchet MS"/>
              </a:rPr>
              <a:t>photo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251959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8FB8FF"/>
                </a:solidFill>
                <a:latin typeface="Bebas Neue"/>
              </a:rPr>
              <a:t>[Name]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80060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B8FF"/>
                </a:solidFill>
                <a:latin typeface="Lilita One"/>
              </a:rPr>
              <a:t>[role]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51663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[shipped games, background, skills]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69164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E2B23A"/>
                </a:solidFill>
                <a:latin typeface="Lilita One"/>
              </a:rPr>
              <a:t>WHY THIS GAME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57400"/>
            <a:ext cx="4389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8FB8FF"/>
                </a:solidFill>
                <a:latin typeface="Trebuchet MS"/>
              </a:rPr>
              <a:t>[the personal reason, in two sentences]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3832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0" i="0">
                <a:solidFill>
                  <a:srgbClr val="E2B23A"/>
                </a:solidFill>
                <a:latin typeface="Bebas Neue"/>
              </a:rPr>
              <a:t>6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8006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CEFEE"/>
                </a:solidFill>
                <a:latin typeface="Trebuchet MS"/>
              </a:rPr>
              <a:t>From first commit to a playable demo, with its own art pipeline, generated dungeons and a boss fight.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00">
                <a:solidFill>
                  <a:srgbClr val="9DB0AD"/>
                </a:solidFill>
                <a:latin typeface="Bebas Neue"/>
              </a:rPr>
              <a:t>THE TABLE WAITS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303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9DB0AD"/>
                </a:solidFill>
                <a:latin typeface="Bebas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haze_None_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 spc="100">
                <a:solidFill>
                  <a:srgbClr val="E2B23A"/>
                </a:solidFill>
                <a:latin typeface="Bebas Neue"/>
              </a:rPr>
              <a:t>WHY THIS GAME, WHY NOW</a:t>
            </a:r>
          </a:p>
        </p:txBody>
      </p:sp>
      <p:pic>
        <p:nvPicPr>
          <p:cNvPr id="4" name="Picture 3" descr="card_overview_3.4x1.9_-2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96" y="1164336"/>
            <a:ext cx="4011168" cy="2700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61188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E2B23A"/>
                </a:solidFill>
                <a:latin typeface="Bebas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822191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60">
                <a:solidFill>
                  <a:srgbClr val="ECEFEE"/>
                </a:solidFill>
                <a:latin typeface="Lilita One"/>
              </a:rPr>
              <a:t>A STEADY GENRE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CEFEE"/>
                </a:solidFill>
                <a:latin typeface="Trebuchet MS"/>
              </a:rPr>
              <a:t>First-person dungeon crawlers and roguelikes keep selling on PC. 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FB8FF"/>
                </a:solidFill>
                <a:latin typeface="Trebuchet MS"/>
              </a:rPr>
              <a:t>[genre sales figure]</a:t>
            </a:r>
          </a:p>
        </p:txBody>
      </p:sp>
      <p:pic>
        <p:nvPicPr>
          <p:cNvPr id="8" name="Picture 7" descr="card_eyes_game_3.4x1.9_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1188720"/>
            <a:ext cx="3986784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80560" y="361188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E2B23A"/>
                </a:solidFill>
                <a:latin typeface="Bebas Neu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822191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60">
                <a:solidFill>
                  <a:srgbClr val="ECEFEE"/>
                </a:solidFill>
                <a:latin typeface="Lilita One"/>
              </a:rPr>
              <a:t>A HOST, NOT A MENU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43484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CEFEE"/>
                </a:solidFill>
                <a:latin typeface="Trebuchet MS"/>
              </a:rPr>
              <a:t>In most dungeon crawlers nobody runs the game. Here </a:t>
            </a:r>
            <a:r>
              <a:rPr sz="1300" b="1" i="0">
                <a:solidFill>
                  <a:srgbClr val="E2B23A"/>
                </a:solidFill>
                <a:latin typeface="Trebuchet MS"/>
              </a:rPr>
              <a:t>the Dungeon Master</a:t>
            </a:r>
            <a:r>
              <a:rPr sz="1300" b="0" i="0">
                <a:solidFill>
                  <a:srgbClr val="ECEFEE"/>
                </a:solidFill>
                <a:latin typeface="Trebuchet MS"/>
              </a:rPr>
              <a:t> talks, reacts and fights you.</a:t>
            </a:r>
          </a:p>
        </p:txBody>
      </p:sp>
      <p:pic>
        <p:nvPicPr>
          <p:cNvPr id="12" name="Picture 11" descr="card_boss_20_3.4x1.9_-1.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3944" y="1194816"/>
            <a:ext cx="3974592" cy="2639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361188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E2B23A"/>
                </a:solidFill>
                <a:latin typeface="Bebas Neu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822191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60">
                <a:solidFill>
                  <a:srgbClr val="ECEFEE"/>
                </a:solidFill>
                <a:latin typeface="Lilita One"/>
              </a:rPr>
              <a:t>MADE TO BE SHARED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43484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CEFEE"/>
                </a:solidFill>
                <a:latin typeface="Trebuchet MS"/>
              </a:rPr>
              <a:t>A DM who talks back and a boss fight in front of him are moments people clip and post.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8FB8FF"/>
                </a:solidFill>
                <a:latin typeface="Bebas Neue"/>
              </a:rPr>
              <a:t>[000]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56875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9DB0AD"/>
                </a:solidFill>
                <a:latin typeface="Lilita One"/>
              </a:rPr>
              <a:t>STEAM WISHLISTS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5321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8FB8FF"/>
                </a:solidFill>
                <a:latin typeface="Bebas Neue"/>
              </a:rPr>
              <a:t>[000]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56875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9DB0AD"/>
                </a:solidFill>
                <a:latin typeface="Lilita One"/>
              </a:rPr>
              <a:t>SHORT-VIDEO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5321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8FB8FF"/>
                </a:solidFill>
                <a:latin typeface="Bebas Neue"/>
              </a:rPr>
              <a:t>[000]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56875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9DB0AD"/>
                </a:solidFill>
                <a:latin typeface="Lilita One"/>
              </a:rPr>
              <a:t>PLAYTESTERS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00">
                <a:solidFill>
                  <a:srgbClr val="9DB0AD"/>
                </a:solidFill>
                <a:latin typeface="Bebas Neue"/>
              </a:rPr>
              <a:t>THE TABLE WAITS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9DB0AD"/>
                </a:solidFill>
                <a:latin typeface="Bebas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haze_None_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0" i="0" spc="100">
                <a:solidFill>
                  <a:srgbClr val="E2B23A"/>
                </a:solidFill>
                <a:latin typeface="Bebas Neue"/>
              </a:rPr>
              <a:t>EVERY NIGHT, HE PLAYS A GAME WITH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9377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0" i="0">
                <a:solidFill>
                  <a:srgbClr val="ECEFEE"/>
                </a:solidFill>
                <a:latin typeface="Trebuchet MS"/>
              </a:rPr>
              <a:t>Between runs you are in a quiet apartment. A stranger waits at a big table.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0" i="0">
                <a:solidFill>
                  <a:srgbClr val="ECEFEE"/>
                </a:solidFill>
                <a:latin typeface="Trebuchet MS"/>
              </a:rPr>
              <a:t>Sit down and he builds a dungeon on the table, sets down your figure, and you play it in </a:t>
            </a:r>
            <a:r>
              <a:rPr sz="1500" b="1" i="0">
                <a:solidFill>
                  <a:srgbClr val="E2B23A"/>
                </a:solidFill>
                <a:latin typeface="Trebuchet MS"/>
              </a:rPr>
              <a:t>first person</a:t>
            </a:r>
            <a:r>
              <a:rPr sz="1500" b="0" i="0">
                <a:solidFill>
                  <a:srgbClr val="ECEFEE"/>
                </a:solidFill>
                <a:latin typeface="Trebuchet MS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0" i="0">
                <a:solidFill>
                  <a:srgbClr val="ECEFEE"/>
                </a:solidFill>
                <a:latin typeface="Trebuchet MS"/>
              </a:rPr>
              <a:t>Die, and you are back at the table. Reach the last floor, and he fights you himself.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0" i="0">
                <a:solidFill>
                  <a:srgbClr val="8FB8FF"/>
                </a:solidFill>
                <a:latin typeface="Trebuchet MS"/>
              </a:rPr>
              <a:t>[The story, in two sentences.]</a:t>
            </a:r>
          </a:p>
        </p:txBody>
      </p:sp>
      <p:pic>
        <p:nvPicPr>
          <p:cNvPr id="5" name="Picture 4" descr="say_919368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74920"/>
            <a:ext cx="5120640" cy="304800"/>
          </a:xfrm>
          <a:prstGeom prst="rect">
            <a:avLst/>
          </a:prstGeom>
        </p:spPr>
      </p:pic>
      <p:pic>
        <p:nvPicPr>
          <p:cNvPr id="6" name="Picture 5" descr="card_seat_4.0x2.25_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435864"/>
            <a:ext cx="4645152" cy="3151632"/>
          </a:xfrm>
          <a:prstGeom prst="rect">
            <a:avLst/>
          </a:prstGeom>
        </p:spPr>
      </p:pic>
      <p:pic>
        <p:nvPicPr>
          <p:cNvPr id="7" name="Picture 6" descr="card_board_3.5x1.97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9183" y="2212848"/>
            <a:ext cx="4126992" cy="2798064"/>
          </a:xfrm>
          <a:prstGeom prst="rect">
            <a:avLst/>
          </a:prstGeom>
        </p:spPr>
      </p:pic>
      <p:pic>
        <p:nvPicPr>
          <p:cNvPr id="8" name="Picture 7" descr="card_dungeon_3.8x2.14_-1.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9424" y="3547872"/>
            <a:ext cx="4340352" cy="2871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38404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7FDBD6"/>
                </a:solidFill>
                <a:latin typeface="Lilita One"/>
              </a:rPr>
              <a:t>THE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233172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7FDBD6"/>
                </a:solidFill>
                <a:latin typeface="Lilita One"/>
              </a:rPr>
              <a:t>THE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60533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7FDBD6"/>
                </a:solidFill>
                <a:latin typeface="Lilita One"/>
              </a:rPr>
              <a:t>THE DUNGEON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00">
                <a:solidFill>
                  <a:srgbClr val="9DB0AD"/>
                </a:solidFill>
                <a:latin typeface="Bebas Neue"/>
              </a:rPr>
              <a:t>THE TABLE WAITS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303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9DB0AD"/>
                </a:solidFill>
                <a:latin typeface="Bebas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haze_None_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 spc="100">
                <a:solidFill>
                  <a:srgbClr val="E2B23A"/>
                </a:solidFill>
                <a:latin typeface="Bebas Neue"/>
              </a:rPr>
              <a:t>WHAT YOU DO IN IT</a:t>
            </a:r>
          </a:p>
        </p:txBody>
      </p:sp>
      <p:pic>
        <p:nvPicPr>
          <p:cNvPr id="4" name="Picture 3" descr="card_menu_Menu_camera_2.6x2.6_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36" y="1027176"/>
            <a:ext cx="3340608" cy="3340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9768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spc="60">
                <a:solidFill>
                  <a:srgbClr val="E2B23A"/>
                </a:solidFill>
                <a:latin typeface="Lilita One"/>
              </a:rPr>
              <a:t>THE DM IS IN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2423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CEFEE"/>
                </a:solidFill>
                <a:latin typeface="Trebuchet MS"/>
              </a:rPr>
              <a:t>He builds every floor, comments on how you play, and leans in for the final fight.</a:t>
            </a:r>
          </a:p>
        </p:txBody>
      </p:sp>
      <p:pic>
        <p:nvPicPr>
          <p:cNvPr id="7" name="Picture 6" descr="card_boss_30_2.6x2.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9336" y="1286256"/>
            <a:ext cx="3279648" cy="32796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20440" y="452628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spc="60">
                <a:solidFill>
                  <a:srgbClr val="E2B23A"/>
                </a:solidFill>
                <a:latin typeface="Lilita One"/>
              </a:rPr>
              <a:t>MELEE THAT HITS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4892040"/>
            <a:ext cx="2423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CEFEE"/>
                </a:solidFill>
                <a:latin typeface="Trebuchet MS"/>
              </a:rPr>
              <a:t>Swings, blocks, a shield bash and spells. Kills fly.</a:t>
            </a:r>
          </a:p>
        </p:txBody>
      </p:sp>
      <p:pic>
        <p:nvPicPr>
          <p:cNvPr id="10" name="Picture 9" descr="card_dungeon_2.6x2.6_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8256" y="1057656"/>
            <a:ext cx="3279648" cy="3279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59" y="429768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spc="60">
                <a:solidFill>
                  <a:srgbClr val="E2B23A"/>
                </a:solidFill>
                <a:latin typeface="Lilita One"/>
              </a:rPr>
              <a:t>A NEW DUNGEON EACH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4663440"/>
            <a:ext cx="2423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CEFEE"/>
                </a:solidFill>
                <a:latin typeface="Trebuchet MS"/>
              </a:rPr>
              <a:t>Hand-built rooms, generated floors, ambushes and traps.</a:t>
            </a:r>
          </a:p>
        </p:txBody>
      </p:sp>
      <p:pic>
        <p:nvPicPr>
          <p:cNvPr id="13" name="Picture 12" descr="card_boss_40_2.6x2.6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6695" y="1255776"/>
            <a:ext cx="3340608" cy="3340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98279" y="452628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spc="60">
                <a:solidFill>
                  <a:srgbClr val="E2B23A"/>
                </a:solidFill>
                <a:latin typeface="Lilita One"/>
              </a:rPr>
              <a:t>HIS FINAL FIGHT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79" y="4892040"/>
            <a:ext cx="2423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CEFEE"/>
                </a:solidFill>
                <a:latin typeface="Trebuchet MS"/>
              </a:rPr>
              <a:t>A stage at the edge of the table. Block his beam, or burn.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00">
                <a:solidFill>
                  <a:srgbClr val="9DB0AD"/>
                </a:solidFill>
                <a:latin typeface="Bebas Neue"/>
              </a:rPr>
              <a:t>THE TABLE WAITS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9DB0AD"/>
                </a:solidFill>
                <a:latin typeface="Bebas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haze_None_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 spc="100">
                <a:solidFill>
                  <a:srgbClr val="E2B23A"/>
                </a:solidFill>
                <a:latin typeface="Bebas Neue"/>
              </a:rPr>
              <a:t>TWO LOOPS</a:t>
            </a:r>
          </a:p>
        </p:txBody>
      </p:sp>
      <p:sp>
        <p:nvSpPr>
          <p:cNvPr id="4" name="Oval 3"/>
          <p:cNvSpPr/>
          <p:nvPr/>
        </p:nvSpPr>
        <p:spPr>
          <a:xfrm>
            <a:off x="2011680" y="2057400"/>
            <a:ext cx="4114800" cy="4114800"/>
          </a:xfrm>
          <a:prstGeom prst="ellipse">
            <a:avLst/>
          </a:prstGeom>
          <a:noFill/>
          <a:ln w="19050">
            <a:solidFill>
              <a:srgbClr val="B889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3063240"/>
            <a:ext cx="2103120" cy="2103120"/>
          </a:xfrm>
          <a:prstGeom prst="ellipse">
            <a:avLst/>
          </a:prstGeom>
          <a:noFill/>
          <a:ln w="15875">
            <a:solidFill>
              <a:srgbClr val="5C7E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85616" y="1773936"/>
            <a:ext cx="566928" cy="566928"/>
          </a:xfrm>
          <a:prstGeom prst="ellipse">
            <a:avLst/>
          </a:prstGeom>
          <a:solidFill>
            <a:srgbClr val="E2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85616" y="177393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0201F"/>
                </a:solidFill>
                <a:latin typeface="Bebas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3990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 spc="100">
                <a:solidFill>
                  <a:srgbClr val="E2B23A"/>
                </a:solidFill>
                <a:latin typeface="Bebas Neue"/>
              </a:rPr>
              <a:t>WAKE UP</a:t>
            </a:r>
          </a:p>
        </p:txBody>
      </p:sp>
      <p:sp>
        <p:nvSpPr>
          <p:cNvPr id="9" name="Oval 8"/>
          <p:cNvSpPr/>
          <p:nvPr/>
        </p:nvSpPr>
        <p:spPr>
          <a:xfrm>
            <a:off x="5742319" y="3195564"/>
            <a:ext cx="566928" cy="566928"/>
          </a:xfrm>
          <a:prstGeom prst="ellipse">
            <a:avLst/>
          </a:prstGeom>
          <a:solidFill>
            <a:srgbClr val="E2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319" y="31955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0201F"/>
                </a:solidFill>
                <a:latin typeface="Bebas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263" y="331443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 spc="100">
                <a:solidFill>
                  <a:srgbClr val="E2B23A"/>
                </a:solidFill>
                <a:latin typeface="Bebas Neue"/>
              </a:rPr>
              <a:t>SIT DOWN</a:t>
            </a:r>
          </a:p>
        </p:txBody>
      </p:sp>
      <p:sp>
        <p:nvSpPr>
          <p:cNvPr id="12" name="Oval 11"/>
          <p:cNvSpPr/>
          <p:nvPr/>
        </p:nvSpPr>
        <p:spPr>
          <a:xfrm>
            <a:off x="4994925" y="5495807"/>
            <a:ext cx="566928" cy="566928"/>
          </a:xfrm>
          <a:prstGeom prst="ellipse">
            <a:avLst/>
          </a:prstGeom>
          <a:solidFill>
            <a:srgbClr val="E2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4925" y="5495807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0201F"/>
                </a:solidFill>
                <a:latin typeface="Bebas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9869" y="5614679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 spc="100">
                <a:solidFill>
                  <a:srgbClr val="E2B23A"/>
                </a:solidFill>
                <a:latin typeface="Bebas Neue"/>
              </a:rPr>
              <a:t>PICK A FIGURE</a:t>
            </a:r>
          </a:p>
        </p:txBody>
      </p:sp>
      <p:sp>
        <p:nvSpPr>
          <p:cNvPr id="15" name="Oval 14"/>
          <p:cNvSpPr/>
          <p:nvPr/>
        </p:nvSpPr>
        <p:spPr>
          <a:xfrm>
            <a:off x="2576306" y="5495807"/>
            <a:ext cx="566928" cy="566928"/>
          </a:xfrm>
          <a:prstGeom prst="ellipse">
            <a:avLst/>
          </a:prstGeom>
          <a:solidFill>
            <a:srgbClr val="E2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6306" y="5495807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0201F"/>
                </a:solidFill>
                <a:latin typeface="Bebas Neue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810" y="5614679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0" i="0" spc="100">
                <a:solidFill>
                  <a:srgbClr val="E2B23A"/>
                </a:solidFill>
                <a:latin typeface="Bebas Neue"/>
              </a:rPr>
              <a:t>DESCEND</a:t>
            </a:r>
          </a:p>
        </p:txBody>
      </p:sp>
      <p:sp>
        <p:nvSpPr>
          <p:cNvPr id="18" name="Oval 17"/>
          <p:cNvSpPr/>
          <p:nvPr/>
        </p:nvSpPr>
        <p:spPr>
          <a:xfrm>
            <a:off x="1828912" y="3195564"/>
            <a:ext cx="566928" cy="566928"/>
          </a:xfrm>
          <a:prstGeom prst="ellipse">
            <a:avLst/>
          </a:prstGeom>
          <a:solidFill>
            <a:srgbClr val="E2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912" y="31955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0201F"/>
                </a:solidFill>
                <a:latin typeface="Bebas Neue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416" y="331443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0" i="0" spc="100">
                <a:solidFill>
                  <a:srgbClr val="E2B23A"/>
                </a:solidFill>
                <a:latin typeface="Bebas Neue"/>
              </a:rPr>
              <a:t>WIN OR DIE</a:t>
            </a:r>
          </a:p>
        </p:txBody>
      </p:sp>
      <p:sp>
        <p:nvSpPr>
          <p:cNvPr id="21" name="Oval 20"/>
          <p:cNvSpPr/>
          <p:nvPr/>
        </p:nvSpPr>
        <p:spPr>
          <a:xfrm>
            <a:off x="3867912" y="2862072"/>
            <a:ext cx="402336" cy="402336"/>
          </a:xfrm>
          <a:prstGeom prst="ellipse">
            <a:avLst/>
          </a:prstGeom>
          <a:solidFill>
            <a:srgbClr val="7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28620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0201F"/>
                </a:solidFill>
                <a:latin typeface="Bebas Neue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4868004" y="3588682"/>
            <a:ext cx="402336" cy="402336"/>
          </a:xfrm>
          <a:prstGeom prst="ellipse">
            <a:avLst/>
          </a:prstGeom>
          <a:solidFill>
            <a:srgbClr val="7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8004" y="358868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0201F"/>
                </a:solidFill>
                <a:latin typeface="Bebas Neue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4486003" y="4764361"/>
            <a:ext cx="402336" cy="402336"/>
          </a:xfrm>
          <a:prstGeom prst="ellipse">
            <a:avLst/>
          </a:prstGeom>
          <a:solidFill>
            <a:srgbClr val="7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6003" y="476436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0201F"/>
                </a:solidFill>
                <a:latin typeface="Bebas Neue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3249820" y="4764361"/>
            <a:ext cx="402336" cy="402336"/>
          </a:xfrm>
          <a:prstGeom prst="ellipse">
            <a:avLst/>
          </a:prstGeom>
          <a:solidFill>
            <a:srgbClr val="7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9820" y="476436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0201F"/>
                </a:solidFill>
                <a:latin typeface="Bebas Neue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2867819" y="3588682"/>
            <a:ext cx="402336" cy="402336"/>
          </a:xfrm>
          <a:prstGeom prst="ellipse">
            <a:avLst/>
          </a:prstGeom>
          <a:solidFill>
            <a:srgbClr val="7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67819" y="358868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0201F"/>
                </a:solidFill>
                <a:latin typeface="Bebas Neue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91363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 spc="100">
                <a:solidFill>
                  <a:srgbClr val="7FDBD6"/>
                </a:solidFill>
                <a:latin typeface="Bebas Neue"/>
              </a:rPr>
              <a:t>EVERY FLOOR</a:t>
            </a:r>
          </a:p>
        </p:txBody>
      </p:sp>
      <p:pic>
        <p:nvPicPr>
          <p:cNvPr id="32" name="Picture 31" descr="panel_4.35x4.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7" y="1374648"/>
            <a:ext cx="4428744" cy="49316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818120" y="18288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60">
                <a:solidFill>
                  <a:srgbClr val="7FDBD6"/>
                </a:solidFill>
                <a:latin typeface="Lilita One"/>
              </a:rPr>
              <a:t>EVERY FLOOR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19456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CEFEE"/>
                </a:solidFill>
                <a:latin typeface="Trebuchet MS"/>
              </a:rPr>
              <a:t>Explore, fight, loot, gear up, go down. Skills grow with use; gear gets better every floor.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34290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60">
                <a:solidFill>
                  <a:srgbClr val="E2B23A"/>
                </a:solidFill>
                <a:latin typeface="Lilita One"/>
              </a:rPr>
              <a:t>EVERY NIGHT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79476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CEFEE"/>
                </a:solidFill>
                <a:latin typeface="Trebuchet MS"/>
              </a:rPr>
              <a:t>Wake up in the room, sit at his table, pick a figure and descend. Win, and a new morning comes. Die, and the figure joins the memorials.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34924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DB0AD"/>
                </a:solidFill>
                <a:latin typeface="Trebuchet MS"/>
              </a:rPr>
              <a:t>The next night, the table waits again.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00">
                <a:solidFill>
                  <a:srgbClr val="9DB0AD"/>
                </a:solidFill>
                <a:latin typeface="Bebas Neue"/>
              </a:rPr>
              <a:t>THE TABLE WAITS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4303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9DB0AD"/>
                </a:solidFill>
                <a:latin typeface="Bebas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haze_None_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 spc="100">
                <a:solidFill>
                  <a:srgbClr val="E2B23A"/>
                </a:solidFill>
                <a:latin typeface="Bebas Neue"/>
              </a:rPr>
              <a:t>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0" i="0">
                <a:solidFill>
                  <a:srgbClr val="E2B23A"/>
                </a:solidFill>
                <a:latin typeface="Bebas Neue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ECEFEE"/>
                </a:solidFill>
                <a:latin typeface="Lilita One"/>
              </a:rPr>
              <a:t>HAND-BUILT ROOMS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3258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0" i="0">
                <a:solidFill>
                  <a:srgbClr val="E2B23A"/>
                </a:solidFill>
                <a:latin typeface="Bebas Neue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79" y="2880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ECEFEE"/>
                </a:solidFill>
                <a:latin typeface="Lilita One"/>
              </a:rPr>
              <a:t>ENEMY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258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0" i="0">
                <a:solidFill>
                  <a:srgbClr val="E2B23A"/>
                </a:solidFill>
                <a:latin typeface="Bebas Neue"/>
              </a:rPr>
              <a:t>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880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ECEFEE"/>
                </a:solidFill>
                <a:latin typeface="Lilita One"/>
              </a:rPr>
              <a:t>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3258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0" i="0">
                <a:solidFill>
                  <a:srgbClr val="E2B23A"/>
                </a:solidFill>
                <a:latin typeface="Bebas Neue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80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ECEFEE"/>
                </a:solidFill>
                <a:latin typeface="Lilita One"/>
              </a:rPr>
              <a:t>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13258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0" i="0">
                <a:solidFill>
                  <a:srgbClr val="E2B23A"/>
                </a:solidFill>
                <a:latin typeface="Bebas Neu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80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ECEFEE"/>
                </a:solidFill>
                <a:latin typeface="Lilita One"/>
              </a:rPr>
              <a:t>BOSS STAGE</a:t>
            </a:r>
          </a:p>
        </p:txBody>
      </p:sp>
      <p:pic>
        <p:nvPicPr>
          <p:cNvPr id="14" name="Picture 13" descr="card_sheet_dice_2.6x1.46_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76" y="3560064"/>
            <a:ext cx="3279648" cy="22981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57150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 spc="60">
                <a:solidFill>
                  <a:srgbClr val="7FDBD6"/>
                </a:solidFill>
                <a:latin typeface="Lilita One"/>
              </a:rPr>
              <a:t>HE DEALS THE CHARACTER SHEET</a:t>
            </a:r>
          </a:p>
        </p:txBody>
      </p:sp>
      <p:pic>
        <p:nvPicPr>
          <p:cNvPr id="16" name="Picture 15" descr="card_boss_35_2.6x1.4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1903" y="3590544"/>
            <a:ext cx="3243072" cy="2237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74720" y="57150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 spc="60">
                <a:solidFill>
                  <a:srgbClr val="7FDBD6"/>
                </a:solidFill>
                <a:latin typeface="Lilita One"/>
              </a:rPr>
              <a:t>BOSSES WITH WEIGHT</a:t>
            </a:r>
          </a:p>
        </p:txBody>
      </p:sp>
      <p:pic>
        <p:nvPicPr>
          <p:cNvPr id="18" name="Picture 17" descr="card_dungeon_2.6x1.46_-1.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2639" y="3602736"/>
            <a:ext cx="3230880" cy="22128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9359" y="57150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 spc="60">
                <a:solidFill>
                  <a:srgbClr val="7FDBD6"/>
                </a:solidFill>
                <a:latin typeface="Lilita One"/>
              </a:rPr>
              <a:t>ROOMS BUILT BY HAND</a:t>
            </a:r>
          </a:p>
        </p:txBody>
      </p:sp>
      <p:pic>
        <p:nvPicPr>
          <p:cNvPr id="20" name="Picture 19" descr="card_overview_2.6x1.46_2.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8992" y="3572256"/>
            <a:ext cx="3267456" cy="22738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0" y="57150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 spc="60">
                <a:solidFill>
                  <a:srgbClr val="7FDBD6"/>
                </a:solidFill>
                <a:latin typeface="Lilita One"/>
              </a:rPr>
              <a:t>ONE PAINTED 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00">
                <a:solidFill>
                  <a:srgbClr val="9DB0AD"/>
                </a:solidFill>
                <a:latin typeface="Bebas Neue"/>
              </a:rPr>
              <a:t>THE TABLE WAITS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9DB0AD"/>
                </a:solidFill>
                <a:latin typeface="Bebas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haze_None_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 spc="100">
                <a:solidFill>
                  <a:srgbClr val="E2B23A"/>
                </a:solidFill>
                <a:latin typeface="Bebas Neue"/>
              </a:rPr>
              <a:t>WHAT GAMES LIKE OURS EARNED</a:t>
            </a:r>
          </a:p>
        </p:txBody>
      </p:sp>
      <p:pic>
        <p:nvPicPr>
          <p:cNvPr id="4" name="Picture 3" descr="panel_11.73x4.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8" y="1374648"/>
            <a:ext cx="11177016" cy="42458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9DB0AD"/>
                </a:solidFill>
                <a:latin typeface="Lilita One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874519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9DB0AD"/>
                </a:solidFill>
                <a:latin typeface="Lilita One"/>
              </a:rPr>
              <a:t>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874519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9DB0AD"/>
                </a:solidFill>
                <a:latin typeface="Lilita One"/>
              </a:rPr>
              <a:t>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874519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9DB0AD"/>
                </a:solidFill>
                <a:latin typeface="Lilita One"/>
              </a:rP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874519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9DB0AD"/>
                </a:solidFill>
                <a:latin typeface="Lilita One"/>
              </a:rPr>
              <a:t>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874519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9DB0AD"/>
                </a:solidFill>
                <a:latin typeface="Lilita One"/>
              </a:rPr>
              <a:t>EST.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 spc="100">
                <a:solidFill>
                  <a:srgbClr val="E2B23A"/>
                </a:solidFill>
                <a:latin typeface="Bebas Neue"/>
              </a:rPr>
              <a:t>WEAKER THAN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346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0AD"/>
                </a:solidFill>
                <a:latin typeface="Trebuchet MS"/>
              </a:rPr>
              <a:t>about 70% of our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68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[title]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4688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688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4688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375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 spc="100">
                <a:solidFill>
                  <a:srgbClr val="E2B23A"/>
                </a:solidFill>
                <a:latin typeface="Bebas Neue"/>
              </a:rPr>
              <a:t>COMPETITIVE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947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0AD"/>
                </a:solidFill>
                <a:latin typeface="Trebuchet MS"/>
              </a:rPr>
              <a:t>about 130% of our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4290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[title]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290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429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4290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4290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2976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 spc="100">
                <a:solidFill>
                  <a:srgbClr val="E2B23A"/>
                </a:solidFill>
                <a:latin typeface="Bebas Neue"/>
              </a:rPr>
              <a:t>WITHIN 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75488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0AD"/>
                </a:solidFill>
                <a:latin typeface="Trebuchet MS"/>
              </a:rPr>
              <a:t>about 300% of our 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389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[title]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3891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3891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3891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3891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B8FF"/>
                </a:solidFill>
                <a:latin typeface="Trebuchet MS"/>
              </a:rPr>
              <a:t>[fill in]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2B23A"/>
                </a:solidFill>
                <a:latin typeface="Trebuchet MS"/>
              </a:rPr>
              <a:t>Method  </a:t>
            </a:r>
            <a:r>
              <a:rPr sz="1200" b="0" i="0">
                <a:solidFill>
                  <a:srgbClr val="9DB0AD"/>
                </a:solidFill>
                <a:latin typeface="Trebuchet MS"/>
              </a:rPr>
              <a:t>Released in the last 3 years, same subgenre and price band, similar team size. Estimated revenue = Steam reviews x 30 x price.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00">
                <a:solidFill>
                  <a:srgbClr val="9DB0AD"/>
                </a:solidFill>
                <a:latin typeface="Bebas Neue"/>
              </a:rPr>
              <a:t>THE TABLE WAITS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303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9DB0AD"/>
                </a:solidFill>
                <a:latin typeface="Bebas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haze_None_N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 spc="100">
                <a:solidFill>
                  <a:srgbClr val="E2B23A"/>
                </a:solidFill>
                <a:latin typeface="Bebas Neue"/>
              </a:rPr>
              <a:t>FROM DEMO TO RELEASE</a:t>
            </a:r>
          </a:p>
        </p:txBody>
      </p:sp>
      <p:sp>
        <p:nvSpPr>
          <p:cNvPr id="4" name="Oval 3"/>
          <p:cNvSpPr/>
          <p:nvPr/>
        </p:nvSpPr>
        <p:spPr>
          <a:xfrm>
            <a:off x="882396" y="2756915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8700" y="2814951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5004" y="2872211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1307" y="2927931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7611" y="2981366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3915" y="3031802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60219" y="3078565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3" y="3121030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52827" y="3158631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99132" y="319086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5436" y="3217299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91740" y="3237582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8044" y="325144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4348" y="3258698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0652" y="3259247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76956" y="3253085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23260" y="3240293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69564" y="3221043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15868" y="3195592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62172" y="3164279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08476" y="3127523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54780" y="3085816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01084" y="303971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47388" y="298983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93692" y="2936841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39996" y="2881445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6300" y="2824385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32604" y="2766423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78908" y="270833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25212" y="265089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271516" y="2594871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17820" y="2541013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64124" y="2490040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10428" y="2442632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856732" y="239942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03036" y="2360992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49340" y="2327850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95644" y="2300441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41948" y="2279131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88252" y="2264205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734556" y="2255862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80860" y="225421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027164" y="2259282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173468" y="2271000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19772" y="2289209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66076" y="2313668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612380" y="2344050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758684" y="2379947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04988" y="2420882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051292" y="2466306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97596" y="2515613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43900" y="256814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90204" y="2623197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36508" y="2680037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82812" y="273790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29116" y="2796026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075420" y="285362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221724" y="2909931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368028" y="2964193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514332" y="3015685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660636" y="3063720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806940" y="3107656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953244" y="3146906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099548" y="3180944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245852" y="3209318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392156" y="3231646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538460" y="3247632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684764" y="3257061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831068" y="3259807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977372" y="3255835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123676" y="3245196"/>
            <a:ext cx="64008" cy="64008"/>
          </a:xfrm>
          <a:prstGeom prst="ellipse">
            <a:avLst/>
          </a:prstGeom>
          <a:solidFill>
            <a:srgbClr val="6E8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22960" y="2642361"/>
            <a:ext cx="365760" cy="365760"/>
          </a:xfrm>
          <a:prstGeom prst="ellipse">
            <a:avLst/>
          </a:prstGeom>
          <a:solidFill>
            <a:srgbClr val="E2B23A"/>
          </a:solidFill>
          <a:ln w="28575">
            <a:solidFill>
              <a:srgbClr val="E2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" y="186512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 spc="100">
                <a:solidFill>
                  <a:srgbClr val="E2B23A"/>
                </a:solidFill>
                <a:latin typeface="Bebas Neue"/>
              </a:rPr>
              <a:t>PROTOTYPE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" y="2212593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7FDBD6"/>
                </a:solidFill>
                <a:latin typeface="Lilita One"/>
              </a:rPr>
              <a:t>DONE</a:t>
            </a:r>
          </a:p>
        </p:txBody>
      </p:sp>
      <p:sp>
        <p:nvSpPr>
          <p:cNvPr id="78" name="Oval 77"/>
          <p:cNvSpPr/>
          <p:nvPr/>
        </p:nvSpPr>
        <p:spPr>
          <a:xfrm>
            <a:off x="2834640" y="3106844"/>
            <a:ext cx="365760" cy="365760"/>
          </a:xfrm>
          <a:prstGeom prst="ellipse">
            <a:avLst/>
          </a:prstGeom>
          <a:solidFill>
            <a:srgbClr val="E2B23A"/>
          </a:solidFill>
          <a:ln w="28575">
            <a:solidFill>
              <a:srgbClr val="E2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0" y="35823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 spc="100">
                <a:solidFill>
                  <a:srgbClr val="E2B23A"/>
                </a:solidFill>
                <a:latin typeface="Bebas Neue"/>
              </a:rPr>
              <a:t>VERTICAL SLICE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03120" y="39298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CEFEE"/>
                </a:solidFill>
                <a:latin typeface="Trebuchet MS"/>
              </a:rPr>
              <a:t>Oct 2026</a:t>
            </a:r>
          </a:p>
        </p:txBody>
      </p:sp>
      <p:sp>
        <p:nvSpPr>
          <p:cNvPr id="81" name="Oval 80"/>
          <p:cNvSpPr/>
          <p:nvPr/>
        </p:nvSpPr>
        <p:spPr>
          <a:xfrm>
            <a:off x="4846320" y="2550227"/>
            <a:ext cx="365760" cy="365760"/>
          </a:xfrm>
          <a:prstGeom prst="ellipse">
            <a:avLst/>
          </a:prstGeom>
          <a:solidFill>
            <a:srgbClr val="1A2626"/>
          </a:solidFill>
          <a:ln w="28575">
            <a:solidFill>
              <a:srgbClr val="E2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0" y="1772987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 spc="100">
                <a:solidFill>
                  <a:srgbClr val="E2B23A"/>
                </a:solidFill>
                <a:latin typeface="Bebas Neue"/>
              </a:rPr>
              <a:t>PRODUCTION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0" y="212045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FB8FF"/>
                </a:solidFill>
                <a:latin typeface="Trebuchet MS"/>
              </a:rPr>
              <a:t>[date]</a:t>
            </a:r>
          </a:p>
        </p:txBody>
      </p:sp>
      <p:sp>
        <p:nvSpPr>
          <p:cNvPr id="84" name="Oval 83"/>
          <p:cNvSpPr/>
          <p:nvPr/>
        </p:nvSpPr>
        <p:spPr>
          <a:xfrm>
            <a:off x="6858000" y="2107407"/>
            <a:ext cx="365760" cy="365760"/>
          </a:xfrm>
          <a:prstGeom prst="ellipse">
            <a:avLst/>
          </a:prstGeom>
          <a:solidFill>
            <a:srgbClr val="1A2626"/>
          </a:solidFill>
          <a:ln w="28575">
            <a:solidFill>
              <a:srgbClr val="E2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26480" y="2582895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 spc="100">
                <a:solidFill>
                  <a:srgbClr val="E2B23A"/>
                </a:solidFill>
                <a:latin typeface="Bebas Neue"/>
              </a:rPr>
              <a:t>FEATURE COMPLETE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26480" y="2930367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FB8FF"/>
                </a:solidFill>
                <a:latin typeface="Trebuchet MS"/>
              </a:rPr>
              <a:t>[date]</a:t>
            </a:r>
          </a:p>
        </p:txBody>
      </p:sp>
      <p:sp>
        <p:nvSpPr>
          <p:cNvPr id="87" name="Oval 86"/>
          <p:cNvSpPr/>
          <p:nvPr/>
        </p:nvSpPr>
        <p:spPr>
          <a:xfrm>
            <a:off x="8869680" y="2681259"/>
            <a:ext cx="365760" cy="365760"/>
          </a:xfrm>
          <a:prstGeom prst="ellipse">
            <a:avLst/>
          </a:prstGeom>
          <a:solidFill>
            <a:srgbClr val="1A2626"/>
          </a:solidFill>
          <a:ln w="28575">
            <a:solidFill>
              <a:srgbClr val="E2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38160" y="190401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 spc="100">
                <a:solidFill>
                  <a:srgbClr val="E2B23A"/>
                </a:solidFill>
                <a:latin typeface="Bebas Neue"/>
              </a:rPr>
              <a:t>CONTENT COMPLETE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38160" y="225149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FB8FF"/>
                </a:solidFill>
                <a:latin typeface="Trebuchet MS"/>
              </a:rPr>
              <a:t>[date]</a:t>
            </a:r>
          </a:p>
        </p:txBody>
      </p:sp>
      <p:sp>
        <p:nvSpPr>
          <p:cNvPr id="90" name="Oval 89"/>
          <p:cNvSpPr/>
          <p:nvPr/>
        </p:nvSpPr>
        <p:spPr>
          <a:xfrm>
            <a:off x="10881360" y="3101745"/>
            <a:ext cx="365760" cy="365760"/>
          </a:xfrm>
          <a:prstGeom prst="ellipse">
            <a:avLst/>
          </a:prstGeom>
          <a:solidFill>
            <a:srgbClr val="E36C5A"/>
          </a:solidFill>
          <a:ln w="28575">
            <a:solidFill>
              <a:srgbClr val="E36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49840" y="3577233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 spc="100">
                <a:solidFill>
                  <a:srgbClr val="E36C5A"/>
                </a:solidFill>
                <a:latin typeface="Bebas Neue"/>
              </a:rPr>
              <a:t>RELEASE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3924705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FB8FF"/>
                </a:solidFill>
                <a:latin typeface="Trebuchet MS"/>
              </a:rPr>
              <a:t>[date]</a:t>
            </a:r>
          </a:p>
        </p:txBody>
      </p:sp>
      <p:pic>
        <p:nvPicPr>
          <p:cNvPr id="93" name="Picture 92" descr="panel_3.7x1.95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8" y="4117847"/>
            <a:ext cx="3834384" cy="2234184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05840" y="452628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E2B23A"/>
                </a:solidFill>
                <a:latin typeface="Lilita One"/>
              </a:rPr>
              <a:t>RISK 1:  CONTENT VOLUME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" y="4892040"/>
            <a:ext cx="2880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CEFEE"/>
                </a:solidFill>
                <a:latin typeface="Trebuchet MS"/>
              </a:rPr>
              <a:t>2 of 6 planned biomes are built. New ones reuse the room kit, the generator and the painting pipeline.</a:t>
            </a:r>
          </a:p>
        </p:txBody>
      </p:sp>
      <p:pic>
        <p:nvPicPr>
          <p:cNvPr id="96" name="Picture 95" descr="panel_3.7x1.95r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567" y="4117847"/>
            <a:ext cx="3834384" cy="2234184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4663440" y="452628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E2B23A"/>
                </a:solidFill>
                <a:latin typeface="Lilita One"/>
              </a:rPr>
              <a:t>RISK 2:  COMBAT FEEL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63440" y="4892040"/>
            <a:ext cx="2880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CEFEE"/>
                </a:solidFill>
                <a:latin typeface="Trebuchet MS"/>
              </a:rPr>
              <a:t>Tuned with scripted combat tests. Next: </a:t>
            </a:r>
            <a:r>
              <a:rPr sz="1200" b="0" i="0">
                <a:solidFill>
                  <a:srgbClr val="8FB8FF"/>
                </a:solidFill>
                <a:latin typeface="Trebuchet MS"/>
              </a:rPr>
              <a:t>[external playtests]</a:t>
            </a:r>
          </a:p>
        </p:txBody>
      </p:sp>
      <p:pic>
        <p:nvPicPr>
          <p:cNvPr id="99" name="Picture 98" descr="panel_3.7x1.95r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168" y="4117847"/>
            <a:ext cx="3834384" cy="2234184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8321040" y="452628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E2B23A"/>
                </a:solidFill>
                <a:latin typeface="Lilita One"/>
              </a:rPr>
              <a:t>RISK 3:  TEAM CAPACITY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21040" y="4892040"/>
            <a:ext cx="2880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FB8FF"/>
                </a:solidFill>
                <a:latin typeface="Trebuchet MS"/>
              </a:rPr>
              <a:t>[what the team lacks, and who covers it]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00">
                <a:solidFill>
                  <a:srgbClr val="9DB0AD"/>
                </a:solidFill>
                <a:latin typeface="Bebas Neue"/>
              </a:rPr>
              <a:t>THE TABLE WAITS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4303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9DB0AD"/>
                </a:solidFill>
                <a:latin typeface="Bebas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rt_seat.png_fulla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 spc="100">
                <a:solidFill>
                  <a:srgbClr val="E2B23A"/>
                </a:solidFill>
                <a:latin typeface="Bebas Neue"/>
              </a:rPr>
              <a:t>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spc="60">
                <a:solidFill>
                  <a:srgbClr val="7FDBD6"/>
                </a:solidFill>
                <a:latin typeface="Lilita One"/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0" i="0">
                <a:solidFill>
                  <a:srgbClr val="8FB8FF"/>
                </a:solidFill>
                <a:latin typeface="Bebas Neue"/>
              </a:rPr>
              <a:t>[$000,000]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DB0AD"/>
                </a:solidFill>
                <a:latin typeface="Trebuchet MS"/>
              </a:rPr>
              <a:t>= </a:t>
            </a:r>
            <a:r>
              <a:rPr sz="1300" b="0" i="0">
                <a:solidFill>
                  <a:srgbClr val="8FB8FF"/>
                </a:solidFill>
                <a:latin typeface="Trebuchet MS"/>
              </a:rPr>
              <a:t>[$ a month]</a:t>
            </a:r>
            <a:r>
              <a:rPr sz="1300" b="0" i="0">
                <a:solidFill>
                  <a:srgbClr val="9DB0AD"/>
                </a:solidFill>
                <a:latin typeface="Trebuchet MS"/>
              </a:rPr>
              <a:t> x </a:t>
            </a:r>
            <a:r>
              <a:rPr sz="1300" b="0" i="0">
                <a:solidFill>
                  <a:srgbClr val="8FB8FF"/>
                </a:solidFill>
                <a:latin typeface="Trebuchet MS"/>
              </a:rPr>
              <a:t>[months]</a:t>
            </a:r>
            <a:r>
              <a:rPr sz="1300" b="0" i="0">
                <a:solidFill>
                  <a:srgbClr val="9DB0AD"/>
                </a:solidFill>
                <a:latin typeface="Trebuchet MS"/>
              </a:rPr>
              <a:t> to a finished PC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2B23A"/>
                </a:solidFill>
                <a:latin typeface="Trebuchet MS"/>
              </a:rPr>
              <a:t>Break-even  </a:t>
            </a:r>
            <a:r>
              <a:rPr sz="1300" b="0" i="0">
                <a:solidFill>
                  <a:srgbClr val="9DB0AD"/>
                </a:solidFill>
                <a:latin typeface="Trebuchet MS"/>
              </a:rPr>
              <a:t>ask / (70% x price) = </a:t>
            </a:r>
            <a:r>
              <a:rPr sz="1300" b="0" i="0">
                <a:solidFill>
                  <a:srgbClr val="8FB8FF"/>
                </a:solidFill>
                <a:latin typeface="Trebuchet MS"/>
              </a:rPr>
              <a:t>[copies]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60">
                <a:solidFill>
                  <a:srgbClr val="7FDBD6"/>
                </a:solidFill>
                <a:latin typeface="Lilita One"/>
              </a:rPr>
              <a:t>ALSO LOOKING FOR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047488"/>
            <a:ext cx="182880" cy="182880"/>
          </a:xfrm>
          <a:prstGeom prst="ellipse">
            <a:avLst/>
          </a:prstGeom>
          <a:noFill/>
          <a:ln w="19050">
            <a:solidFill>
              <a:srgbClr val="E2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834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FEE"/>
                </a:solidFill>
                <a:latin typeface="Trebuchet MS"/>
              </a:rPr>
              <a:t>Marketing and PR</a:t>
            </a:r>
          </a:p>
        </p:txBody>
      </p:sp>
      <p:sp>
        <p:nvSpPr>
          <p:cNvPr id="11" name="Oval 10"/>
          <p:cNvSpPr/>
          <p:nvPr/>
        </p:nvSpPr>
        <p:spPr>
          <a:xfrm>
            <a:off x="3291839" y="5047488"/>
            <a:ext cx="182880" cy="182880"/>
          </a:xfrm>
          <a:prstGeom prst="ellipse">
            <a:avLst/>
          </a:prstGeom>
          <a:noFill/>
          <a:ln w="19050">
            <a:solidFill>
              <a:srgbClr val="E2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49834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FEE"/>
                </a:solidFill>
                <a:latin typeface="Trebuchet MS"/>
              </a:rPr>
              <a:t>Porting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458968"/>
            <a:ext cx="182880" cy="182880"/>
          </a:xfrm>
          <a:prstGeom prst="ellipse">
            <a:avLst/>
          </a:prstGeom>
          <a:noFill/>
          <a:ln w="19050">
            <a:solidFill>
              <a:srgbClr val="E2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394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FEE"/>
                </a:solidFill>
                <a:latin typeface="Trebuchet MS"/>
              </a:rPr>
              <a:t>QA and localisation</a:t>
            </a:r>
          </a:p>
        </p:txBody>
      </p:sp>
      <p:sp>
        <p:nvSpPr>
          <p:cNvPr id="15" name="Oval 14"/>
          <p:cNvSpPr/>
          <p:nvPr/>
        </p:nvSpPr>
        <p:spPr>
          <a:xfrm>
            <a:off x="3291839" y="5458968"/>
            <a:ext cx="182880" cy="182880"/>
          </a:xfrm>
          <a:prstGeom prst="ellipse">
            <a:avLst/>
          </a:prstGeom>
          <a:noFill/>
          <a:ln w="19050">
            <a:solidFill>
              <a:srgbClr val="E2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5394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FEE"/>
                </a:solidFill>
                <a:latin typeface="Trebuchet MS"/>
              </a:rPr>
              <a:t>Platform support</a:t>
            </a:r>
          </a:p>
        </p:txBody>
      </p:sp>
      <p:pic>
        <p:nvPicPr>
          <p:cNvPr id="17" name="Picture 16" descr="panel_5.25x4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567" y="1374648"/>
            <a:ext cx="5251704" cy="46573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95160" y="18288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60">
                <a:solidFill>
                  <a:srgbClr val="E2B23A"/>
                </a:solidFill>
                <a:latin typeface="Lilita One"/>
              </a:rPr>
              <a:t>WHERE IT GOES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3774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CEFEE"/>
                </a:solidFill>
                <a:latin typeface="Trebuchet MS"/>
              </a:rPr>
              <a:t>Programming and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30428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0" i="0">
                <a:solidFill>
                  <a:srgbClr val="8FB8FF"/>
                </a:solidFill>
                <a:latin typeface="Bebas Neue"/>
              </a:rPr>
              <a:t>[$]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063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CEFEE"/>
                </a:solidFill>
                <a:latin typeface="Trebuchet MS"/>
              </a:rPr>
              <a:t>Art and animation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99008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0" i="0">
                <a:solidFill>
                  <a:srgbClr val="8FB8FF"/>
                </a:solidFill>
                <a:latin typeface="Bebas Neue"/>
              </a:rPr>
              <a:t>[$]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74903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CEFEE"/>
                </a:solidFill>
                <a:latin typeface="Trebuchet MS"/>
              </a:rPr>
              <a:t>Audio and music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675887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0" i="0">
                <a:solidFill>
                  <a:srgbClr val="8FB8FF"/>
                </a:solidFill>
                <a:latin typeface="Bebas Neue"/>
              </a:rPr>
              <a:t>[$]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4348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CEFEE"/>
                </a:solidFill>
                <a:latin typeface="Trebuchet MS"/>
              </a:rPr>
              <a:t>QA and playtesting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36168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0" i="0">
                <a:solidFill>
                  <a:srgbClr val="8FB8FF"/>
                </a:solidFill>
                <a:latin typeface="Bebas Neue"/>
              </a:rPr>
              <a:t>[$]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512064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DB0AD"/>
                </a:solidFill>
                <a:latin typeface="Trebuchet MS"/>
              </a:rPr>
              <a:t>About 30% margin is built into each line. Marketing, ports and localisation are on the partner's side.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00">
                <a:solidFill>
                  <a:srgbClr val="9DB0AD"/>
                </a:solidFill>
                <a:latin typeface="Bebas Neue"/>
              </a:rPr>
              <a:t>THE TABLE WAITS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4303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9DB0AD"/>
                </a:solidFill>
                <a:latin typeface="Bebas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rt_menu_Menu_camera.png_left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777240"/>
            <a:ext cx="4754880" cy="598957"/>
          </a:xfrm>
          <a:prstGeom prst="rect">
            <a:avLst/>
          </a:prstGeom>
        </p:spPr>
      </p:pic>
      <p:pic>
        <p:nvPicPr>
          <p:cNvPr id="4" name="Picture 3" descr="say_996131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600200"/>
            <a:ext cx="2926080" cy="353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51460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E2B23A"/>
                </a:solidFill>
                <a:latin typeface="Lilita One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514600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B8FF"/>
                </a:solidFill>
                <a:latin typeface="Trebuchet MS"/>
              </a:rPr>
              <a:t>[$ total, months]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4436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E2B23A"/>
                </a:solidFill>
                <a:latin typeface="Lilita One"/>
              </a:rPr>
              <a:t>GENRE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94436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FEE"/>
                </a:solidFill>
                <a:latin typeface="Trebuchet MS"/>
              </a:rPr>
              <a:t>First-person roguelike dungeon crawler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7413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E2B23A"/>
                </a:solidFill>
                <a:latin typeface="Lilita One"/>
              </a:rPr>
              <a:t>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374136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B8FF"/>
                </a:solidFill>
                <a:latin typeface="Trebuchet MS"/>
              </a:rPr>
              <a:t>[window]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03904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E2B23A"/>
                </a:solidFill>
                <a:latin typeface="Lilita One"/>
              </a:rPr>
              <a:t>PLATFORMS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803904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FEE"/>
                </a:solidFill>
                <a:latin typeface="Trebuchet MS"/>
              </a:rPr>
              <a:t>PC first, open to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33672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E2B23A"/>
                </a:solidFill>
                <a:latin typeface="Lilita One"/>
              </a:rPr>
              <a:t>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233672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EFEE"/>
                </a:solidFill>
                <a:latin typeface="Trebuchet MS"/>
              </a:rPr>
              <a:t>Unity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E2B23A"/>
                </a:solidFill>
                <a:latin typeface="Lilita One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663440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B8FF"/>
                </a:solidFill>
                <a:latin typeface="Trebuchet MS"/>
              </a:rPr>
              <a:t>[link]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9320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E2B23A"/>
                </a:solidFill>
                <a:latin typeface="Lilita One"/>
              </a:rPr>
              <a:t>STEAM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09320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B8FF"/>
                </a:solidFill>
                <a:latin typeface="Trebuchet MS"/>
              </a:rPr>
              <a:t>[link]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 spc="60">
                <a:solidFill>
                  <a:srgbClr val="E2B23A"/>
                </a:solidFill>
                <a:latin typeface="Lilita One"/>
              </a:rPr>
              <a:t>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522976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B8FF"/>
                </a:solidFill>
                <a:latin typeface="Trebuchet MS"/>
              </a:rPr>
              <a:t>[email]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80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DB0AD"/>
                </a:solidFill>
                <a:latin typeface="Trebuchet MS"/>
              </a:rPr>
              <a:t>Skip intro on the main menu goes straight to play.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