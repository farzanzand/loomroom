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41603a2c784217" /><Relationship Type="http://schemas.openxmlformats.org/officeDocument/2006/relationships/extended-properties" Target="/docProps/app.xml" Id="R9d633c6e91244da4" /><Relationship Type="http://schemas.openxmlformats.org/officeDocument/2006/relationships/officeDocument" Target="/ppt/presentation.xml" Id="R829dd87ca4d240f9" /></Relationships>
</file>

<file path=ppt/presentation.xml><?xml version="1.0" encoding="utf-8"?>
<p:presentation xmlns:p="http://schemas.openxmlformats.org/presentationml/2006/main">
  <p:sldMasterIdLst>
    <p:sldMasterId xmlns:r="http://schemas.openxmlformats.org/officeDocument/2006/relationships" id="2147483648" r:id="Reaf1a105efe14fa8"/>
  </p:sldMasterIdLst>
  <p:notesMasterIdLst>
    <p:notesMasterId xmlns:r="http://schemas.openxmlformats.org/officeDocument/2006/relationships" r:id="R475234b5f1504e9f"/>
  </p:notesMasterIdLst>
  <p:sldIdLst>
    <p:sldId xmlns:r="http://schemas.openxmlformats.org/officeDocument/2006/relationships" id="256" r:id="R51078043be224507"/>
    <p:sldId xmlns:r="http://schemas.openxmlformats.org/officeDocument/2006/relationships" id="257" r:id="R75105b3259224b8d"/>
    <p:sldId xmlns:r="http://schemas.openxmlformats.org/officeDocument/2006/relationships" id="258" r:id="R15a0ae09b8e44f8c"/>
    <p:sldId xmlns:r="http://schemas.openxmlformats.org/officeDocument/2006/relationships" id="259" r:id="R9c28efa2bf3e48f7"/>
    <p:sldId xmlns:r="http://schemas.openxmlformats.org/officeDocument/2006/relationships" id="260" r:id="R916f26973e1a4cd6"/>
    <p:sldId xmlns:r="http://schemas.openxmlformats.org/officeDocument/2006/relationships" id="261" r:id="Ra127611650e64c9b"/>
    <p:sldId xmlns:r="http://schemas.openxmlformats.org/officeDocument/2006/relationships" id="262" r:id="R8c22541f452f46e4"/>
    <p:sldId xmlns:r="http://schemas.openxmlformats.org/officeDocument/2006/relationships" id="263" r:id="R5fe63b7a021d4256"/>
    <p:sldId xmlns:r="http://schemas.openxmlformats.org/officeDocument/2006/relationships" id="264" r:id="R926976abbcba489b"/>
    <p:sldId xmlns:r="http://schemas.openxmlformats.org/officeDocument/2006/relationships" id="265" r:id="Rf8647825dc3a4eb4"/>
    <p:sldId xmlns:r="http://schemas.openxmlformats.org/officeDocument/2006/relationships" id="266" r:id="R17c9e09745b646a2"/>
    <p:sldId xmlns:r="http://schemas.openxmlformats.org/officeDocument/2006/relationships" id="267" r:id="R46ff0b3bad6d43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b366da4d014b54" /><Relationship Type="http://schemas.openxmlformats.org/officeDocument/2006/relationships/slideMaster" Target="/ppt/slideMasters/slideMaster1.xml" Id="Reaf1a105efe14fa8" /><Relationship Type="http://schemas.openxmlformats.org/officeDocument/2006/relationships/notesMaster" Target="/ppt/notesMasters/notesMaster1.xml" Id="R475234b5f1504e9f" /><Relationship Type="http://schemas.openxmlformats.org/officeDocument/2006/relationships/presProps" Target="/ppt/presProps.xml" Id="R2b9032ae646c46ae" /><Relationship Type="http://schemas.openxmlformats.org/officeDocument/2006/relationships/tableStyles" Target="/ppt/tableStyles.xml" Id="Rc8acfba2c04848f9" /><Relationship Type="http://schemas.openxmlformats.org/officeDocument/2006/relationships/slide" Target="/ppt/slides/slide1.xml" Id="R51078043be224507" /><Relationship Type="http://schemas.openxmlformats.org/officeDocument/2006/relationships/slide" Target="/ppt/slides/slide2.xml" Id="R75105b3259224b8d" /><Relationship Type="http://schemas.openxmlformats.org/officeDocument/2006/relationships/slide" Target="/ppt/slides/slide3.xml" Id="R15a0ae09b8e44f8c" /><Relationship Type="http://schemas.openxmlformats.org/officeDocument/2006/relationships/slide" Target="/ppt/slides/slide4.xml" Id="R9c28efa2bf3e48f7" /><Relationship Type="http://schemas.openxmlformats.org/officeDocument/2006/relationships/slide" Target="/ppt/slides/slide5.xml" Id="R916f26973e1a4cd6" /><Relationship Type="http://schemas.openxmlformats.org/officeDocument/2006/relationships/slide" Target="/ppt/slides/slide6.xml" Id="Ra127611650e64c9b" /><Relationship Type="http://schemas.openxmlformats.org/officeDocument/2006/relationships/slide" Target="/ppt/slides/slide7.xml" Id="R8c22541f452f46e4" /><Relationship Type="http://schemas.openxmlformats.org/officeDocument/2006/relationships/slide" Target="/ppt/slides/slide8.xml" Id="R5fe63b7a021d4256" /><Relationship Type="http://schemas.openxmlformats.org/officeDocument/2006/relationships/slide" Target="/ppt/slides/slide9.xml" Id="R926976abbcba489b" /><Relationship Type="http://schemas.openxmlformats.org/officeDocument/2006/relationships/slide" Target="/ppt/slides/slide10.xml" Id="Rf8647825dc3a4eb4" /><Relationship Type="http://schemas.openxmlformats.org/officeDocument/2006/relationships/slide" Target="/ppt/slides/slide11.xml" Id="R17c9e09745b646a2" /><Relationship Type="http://schemas.openxmlformats.org/officeDocument/2006/relationships/slide" Target="/ppt/slides/slide12.xml" Id="R46ff0b3bad6d43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6abc297e9340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9fa667a8614a1b" /><Relationship Type="http://schemas.openxmlformats.org/officeDocument/2006/relationships/notesMaster" Target="/ppt/notesMasters/notesMaster1.xml" Id="R4269710da3fa4e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8d14296a7a460b" /><Relationship Type="http://schemas.openxmlformats.org/officeDocument/2006/relationships/notesMaster" Target="/ppt/notesMasters/notesMaster1.xml" Id="Rf249b007034f4e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ecfd8de5744e44" /><Relationship Type="http://schemas.openxmlformats.org/officeDocument/2006/relationships/notesMaster" Target="/ppt/notesMasters/notesMaster1.xml" Id="R9b3c95d971de46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94afb302cd41b1" /><Relationship Type="http://schemas.openxmlformats.org/officeDocument/2006/relationships/notesMaster" Target="/ppt/notesMasters/notesMaster1.xml" Id="R5942c942bec7485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1ded0cafa84dab" /><Relationship Type="http://schemas.openxmlformats.org/officeDocument/2006/relationships/notesMaster" Target="/ppt/notesMasters/notesMaster1.xml" Id="Rc56e75a20c0543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599b34bd594fca" /><Relationship Type="http://schemas.openxmlformats.org/officeDocument/2006/relationships/notesMaster" Target="/ppt/notesMasters/notesMaster1.xml" Id="R8ed7eded81fe40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656f1999134953" /><Relationship Type="http://schemas.openxmlformats.org/officeDocument/2006/relationships/notesMaster" Target="/ppt/notesMasters/notesMaster1.xml" Id="R355981b74b284a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685c8393ae4f7c" /><Relationship Type="http://schemas.openxmlformats.org/officeDocument/2006/relationships/notesMaster" Target="/ppt/notesMasters/notesMaster1.xml" Id="R15527efcf5fe46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5a691b349245f1" /><Relationship Type="http://schemas.openxmlformats.org/officeDocument/2006/relationships/notesMaster" Target="/ppt/notesMasters/notesMaster1.xml" Id="R786c76af09e441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042f643ee94374" /><Relationship Type="http://schemas.openxmlformats.org/officeDocument/2006/relationships/notesMaster" Target="/ppt/notesMasters/notesMaster1.xml" Id="R47bc8c49daea411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0727dc3d9604c40" /><Relationship Type="http://schemas.openxmlformats.org/officeDocument/2006/relationships/notesMaster" Target="/ppt/notesMasters/notesMaster1.xml" Id="R5039466d51334bb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ab3e6b2be846b3" /><Relationship Type="http://schemas.openxmlformats.org/officeDocument/2006/relationships/notesMaster" Target="/ppt/notesMasters/notesMaster1.xml" Id="R0618577e5bb844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Pitch claim grounded in LoomRoom’s GameDesign.md: first-person dungeon crawler framed by a miniature table, Dungeon Master, and bedroom setting. The cover figure is a project character model and is used as a mood image, not presented as a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positioning claim. The room and table are project framing. The game design describes 90% of play in the dungeon; avoid presenting the bedroom layer as equally large. Image is a concept asset for the Dungeon Master, not a final in-game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loop is stated in Docs/GameDesign.md. The visual sequence is an editable native diagram, not a decorative image. Full-run persistence is described as intended design, although AdventureSave and descent functionality exist in project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Weapons and shield images are authored project art, while Fireball is a texture from the project’s spell pack. GameDesign.md specifies one-handed swords and maces, shield or spell in left hand, stamina-driven attacks and blocks. This slide presents the intended systems; the current design scope and precise implementation should be confirmed against a playable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rat image is a Meshy project character asset. Enemy behavior and fairness rules are described in GameDesign.md. Present the tactical encounter as target design; verify the exact enemy mix and behaviors in the current build before a live publisher meeting.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 from GameDesign.md, including proposed three starting classes and seven skills. The detailed balance values are still tuning proposals, so this slide avoids exact percentages or claims of final balance.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game design states that a small supporting tabletop and Dungeon Master layer occurs between runs while about 90% of gameplay is in the dungeon. The project has bedroom and boss-stage assets. Images are textured art assets, not assembled scene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game design’s intended full-run layout is six three-floor biome blocks plus a two-floor finale. The current Unity asset Assets/Game/Levels/Dungeon1/Dungeon1.asset has two stages of two floors each. This slide expressly distinguishes design target from the configured current game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Barony is named in GameDesign.md as the reference for dungeon loop, classes and baseline equipment stats. Inscryption is the design reference for the tabletop frame. No market size, sales, wishlist or revenue claims are made because this workspace contains no verified market research or traction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audit dated 2026-10-09 reports compiling cleanly and a Play-mode smoke test of a generated dungeon, kills and XP credit. This is not a claim that every mechanic is complete or a final quality playable is ready. Verify and attach a publisher build and gameplay capture before external circulation.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production gates, not an approved schedule. No team size, budget, build milestone dates, platforms or release window were supplied or found in project documentation. Derive dates from a production plan and developer burn rate before submitting to publishers.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 specific ask follows Raw Fury’s six questions and Devolver’s requested fields: quick pitch, gameplay video, demo, financial roadmap, publisher support and requested funds. No contact, build URL, budget, platform commitment or release date is asserted. Fill these from team-approved and verified inputs before external circulation.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24aec3c6ab45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35589132b43487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8313751c51d47c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5bb5c4b058f42f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a0e41269f9e44e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6043eea22ac4f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166C29-63FB-4422-86B6-7C9746A021E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EDC7385-29EA-45EC-B92F-AE3D640DA1E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4A71B0A-5D70-4EDC-BD73-A6EFE853E5C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0C321E-0239-4654-AF38-8F125923E8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0B80DE-3FBD-4F89-9A55-4DD919D4548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9728110-F6C5-4E27-81BE-62F557182A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4F55811-80E4-4082-A263-E42FCB2EDC0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2E68C34-3E89-427C-B38A-43F9AE808FF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53BBA8-E10F-46F2-944B-5A1A56679C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626B5F-58F4-4446-AB32-CF29ABFD98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6e95210e544a63" /><Relationship Type="http://schemas.openxmlformats.org/officeDocument/2006/relationships/slideLayout" Target="/ppt/slideLayouts/slideLayout1.xml" Id="Rd9615ab7b6c54576" /><Relationship Type="http://schemas.openxmlformats.org/officeDocument/2006/relationships/slideLayout" Target="/ppt/slideLayouts/slideLayout2.xml" Id="R1ddf9514305d4c14" /><Relationship Type="http://schemas.openxmlformats.org/officeDocument/2006/relationships/slideLayout" Target="/ppt/slideLayouts/slideLayout3.xml" Id="Rd8d954d01ba8410e" /><Relationship Type="http://schemas.openxmlformats.org/officeDocument/2006/relationships/slideLayout" Target="/ppt/slideLayouts/slideLayout4.xml" Id="R20aa370e68f94057" /><Relationship Type="http://schemas.openxmlformats.org/officeDocument/2006/relationships/slideLayout" Target="/ppt/slideLayouts/slideLayout5.xml" Id="R88da992b572449cb" /><Relationship Type="http://schemas.openxmlformats.org/officeDocument/2006/relationships/slideLayout" Target="/ppt/slideLayouts/slideLayout6.xml" Id="R4e13ba68a11640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615ab7b6c54576"/>
    <p:sldLayoutId xmlns:r="http://schemas.openxmlformats.org/officeDocument/2006/relationships" id="2147483650" r:id="R1ddf9514305d4c14"/>
    <p:sldLayoutId xmlns:r="http://schemas.openxmlformats.org/officeDocument/2006/relationships" id="2147483651" r:id="Rd8d954d01ba8410e"/>
    <p:sldLayoutId xmlns:r="http://schemas.openxmlformats.org/officeDocument/2006/relationships" id="2147483652" r:id="R20aa370e68f94057"/>
    <p:sldLayoutId xmlns:r="http://schemas.openxmlformats.org/officeDocument/2006/relationships" id="2147483653" r:id="R88da992b572449cb"/>
    <p:sldLayoutId xmlns:r="http://schemas.openxmlformats.org/officeDocument/2006/relationships" id="2147483654" r:id="R4e13ba68a11640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8b07df942134b92" /><Relationship Type="http://schemas.openxmlformats.org/officeDocument/2006/relationships/image" Target="/ppt/media/image.png" Id="R69dfa4e991da40e1" /><Relationship Type="http://schemas.openxmlformats.org/officeDocument/2006/relationships/notesSlide" Target="/ppt/notesSlides/notesSlide1.xml" Id="R8dd2f434302343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d7f4deeb7e84295" /><Relationship Type="http://schemas.openxmlformats.org/officeDocument/2006/relationships/image" Target="/ppt/media/image2.png" Id="R5c9447c4764b4ffe" /><Relationship Type="http://schemas.openxmlformats.org/officeDocument/2006/relationships/notesSlide" Target="/ppt/notesSlides/notesSlide2.xml" Id="R0af29b2d173e4d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ce7f907add04f20" /><Relationship Type="http://schemas.openxmlformats.org/officeDocument/2006/relationships/notesSlide" Target="/ppt/notesSlides/notesSlide3.xml" Id="R66e32b4153994b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dad9e4b90214821" /><Relationship Type="http://schemas.openxmlformats.org/officeDocument/2006/relationships/image" Target="/ppt/media/image3.png" Id="R5ae332a23f8041a1" /><Relationship Type="http://schemas.openxmlformats.org/officeDocument/2006/relationships/image" Target="/ppt/media/image4.png" Id="Re51d8fb0ca3a4c4c" /><Relationship Type="http://schemas.openxmlformats.org/officeDocument/2006/relationships/notesSlide" Target="/ppt/notesSlides/notesSlide4.xml" Id="R236f40cc843e44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b2f3239651b4314" /><Relationship Type="http://schemas.openxmlformats.org/officeDocument/2006/relationships/image" Target="/ppt/media/image5.png" Id="Raf2c9f88d214484d" /><Relationship Type="http://schemas.openxmlformats.org/officeDocument/2006/relationships/notesSlide" Target="/ppt/notesSlides/notesSlide5.xml" Id="R2140d2213afc4a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af41b3219b844f1" /><Relationship Type="http://schemas.openxmlformats.org/officeDocument/2006/relationships/notesSlide" Target="/ppt/notesSlides/notesSlide6.xml" Id="R92649a279d0748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49e411c13de48c7" /><Relationship Type="http://schemas.openxmlformats.org/officeDocument/2006/relationships/image" Target="/ppt/media/image6.png" Id="R6fd3a71704dc4091" /><Relationship Type="http://schemas.openxmlformats.org/officeDocument/2006/relationships/image" Target="/ppt/media/image7.png" Id="R7c78fe89c799444e" /><Relationship Type="http://schemas.openxmlformats.org/officeDocument/2006/relationships/image" Target="/ppt/media/image8.png" Id="Rc4b5b9a62b7142b0" /><Relationship Type="http://schemas.openxmlformats.org/officeDocument/2006/relationships/notesSlide" Target="/ppt/notesSlides/notesSlide7.xml" Id="Rdb1c32c883944d5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7f4007b99c94bda" /><Relationship Type="http://schemas.openxmlformats.org/officeDocument/2006/relationships/notesSlide" Target="/ppt/notesSlides/notesSlide8.xml" Id="Rf811e10fc91441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3923dca89444909" /><Relationship Type="http://schemas.openxmlformats.org/officeDocument/2006/relationships/notesSlide" Target="/ppt/notesSlides/notesSlide9.xml" Id="R8c962b7322f046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ef25d9ea62e42e4" /><Relationship Type="http://schemas.openxmlformats.org/officeDocument/2006/relationships/notesSlide" Target="/ppt/notesSlides/notesSlide10.xml" Id="R4e6a6969f85a46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8d9b11d35294a21" /><Relationship Type="http://schemas.openxmlformats.org/officeDocument/2006/relationships/notesSlide" Target="/ppt/notesSlides/notesSlide11.xml" Id="Rbf0515098fd94fc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f41751fccbf48d1" /><Relationship Type="http://schemas.openxmlformats.org/officeDocument/2006/relationships/notesSlide" Target="/ppt/notesSlides/notesSlide12.xml" Id="R5ae2c2fc23204e5c" /></Relationships>
</file>

<file path=ppt/slides/slide1.xml><?xml version="1.0" encoding="utf-8"?>
<p:sld xmlns:p="http://schemas.openxmlformats.org/presentationml/2006/main">
  <p:cSld>
    <p:bg>
      <p:bgPr>
        <a:solidFill xmlns:a="http://schemas.openxmlformats.org/drawingml/2006/main">
          <a:srgbClr val="10131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A149A49-6027-496C-BC83-451DF375A1E5}"/>
              </a:ext>
            </a:extLst>
          </p:cNvPr>
          <p:cNvPicPr>
            <a:picLocks xmlns:a="http://schemas.openxmlformats.org/drawingml/2006/main" noChangeAspect="1"/>
          </p:cNvPicPr>
          <p:nvPr/>
        </p:nvPicPr>
        <p:blipFill>
          <a:blip xmlns:r="http://schemas.openxmlformats.org/officeDocument/2006/relationships" xmlns:a="http://schemas.openxmlformats.org/drawingml/2006/main" r:embed="R69dfa4e991da40e1"/>
          <a:stretch xmlns:a="http://schemas.openxmlformats.org/drawingml/2006/main"/>
        </p:blipFill>
        <p:spPr>
          <a:xfrm xmlns:a="http://schemas.openxmlformats.org/drawingml/2006/main">
            <a:off x="7810500" y="2094049"/>
            <a:ext cx="3619500" cy="2288903"/>
          </a:xfrm>
          <a:prstGeom xmlns:a="http://schemas.openxmlformats.org/drawingml/2006/main" prst="rect">
            <a:avLst/>
          </a:prstGeom>
        </p:spPr>
      </p:pic>
      <p:sp>
        <p:nvSpPr>
          <p:cNvPr id="2" name="cover left field">
            <a:extLst xmlns:a="http://schemas.openxmlformats.org/drawingml/2006/main">
              <a:ext uri="{FF2B5EF4-FFF2-40B4-BE49-F238E27FC236}">
                <a16:creationId xmlns:a16="http://schemas.microsoft.com/office/drawing/2014/main" id="{F2EAD801-E434-4ED9-92EC-F15850EA7EE3}"/>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10131A"/>
          </a:solidFill>
          <a:ln xmlns:a="http://schemas.openxmlformats.org/drawingml/2006/main" w="0">
            <a:noFill/>
            <a:prstDash val="solid"/>
          </a:ln>
        </p:spPr>
      </p:sp>
      <p:sp>
        <p:nvSpPr>
          <p:cNvPr id="3" name="cover accent">
            <a:extLst xmlns:a="http://schemas.openxmlformats.org/drawingml/2006/main">
              <a:ext uri="{FF2B5EF4-FFF2-40B4-BE49-F238E27FC236}">
                <a16:creationId xmlns:a16="http://schemas.microsoft.com/office/drawing/2014/main" id="{A2032362-2E74-4646-9296-3E192F3D77BA}"/>
              </a:ext>
            </a:extLst>
          </p:cNvPr>
          <p:cNvSpPr>
            <a:spLocks xmlns:a="http://schemas.openxmlformats.org/drawingml/2006/main" noGrp="1"/>
          </p:cNvSpPr>
          <p:nvPr/>
        </p:nvSpPr>
        <p:spPr>
          <a:xfrm xmlns:a="http://schemas.openxmlformats.org/drawingml/2006/main">
            <a:off x="666750" y="809625"/>
            <a:ext cx="685800" cy="47625"/>
          </a:xfrm>
          <a:prstGeom xmlns:a="http://schemas.openxmlformats.org/drawingml/2006/main" prst="rect">
            <a:avLst/>
          </a:prstGeom>
          <a:solidFill xmlns:a="http://schemas.openxmlformats.org/drawingml/2006/main">
            <a:srgbClr val="E7A94B"/>
          </a:solidFill>
          <a:ln xmlns:a="http://schemas.openxmlformats.org/drawingml/2006/main" w="0">
            <a:noFill/>
            <a:prstDash val="solid"/>
          </a:ln>
        </p:spPr>
      </p:sp>
      <p:sp>
        <p:nvSpPr>
          <p:cNvPr id="4" name="title">
            <a:extLst xmlns:a="http://schemas.openxmlformats.org/drawingml/2006/main">
              <a:ext uri="{FF2B5EF4-FFF2-40B4-BE49-F238E27FC236}">
                <a16:creationId xmlns:a16="http://schemas.microsoft.com/office/drawing/2014/main" id="{F6C7CF27-8188-4D03-9C17-D949354DB2FC}"/>
              </a:ext>
            </a:extLst>
          </p:cNvPr>
          <p:cNvSpPr>
            <a:spLocks xmlns:a="http://schemas.openxmlformats.org/drawingml/2006/main" noGrp="1"/>
          </p:cNvSpPr>
          <p:nvPr/>
        </p:nvSpPr>
        <p:spPr>
          <a:xfrm xmlns:a="http://schemas.openxmlformats.org/drawingml/2006/main">
            <a:off x="666750" y="1428750"/>
            <a:ext cx="647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650" b="1">
                <a:solidFill>
                  <a:srgbClr val="F4F0E5"/>
                </a:solidFill>
                <a:latin typeface="Arial"/>
                <a:ea typeface="Arial"/>
                <a:cs typeface="Arial"/>
              </a:defRPr>
            </a:defPPr>
          </a:lstStyle>
          <a:p xmlns:a="http://schemas.openxmlformats.org/drawingml/2006/main">
            <a:pPr algn="l">
              <a:defRPr sz="4650" b="1">
                <a:solidFill>
                  <a:srgbClr val="F4F0E5"/>
                </a:solidFill>
                <a:latin typeface="Arial"/>
                <a:ea typeface="Arial"/>
                <a:cs typeface="Arial"/>
              </a:defRPr>
            </a:pPr>
            <a:r>
              <a:rPr sz="4650" b="1">
                <a:solidFill>
                  <a:srgbClr val="F4F0E5"/>
                </a:solidFill>
                <a:latin typeface="Arial"/>
                <a:ea typeface="Arial"/>
                <a:cs typeface="Arial"/>
              </a:rPr>
              <a:t>LOOMROOM</a:t>
            </a:r>
          </a:p>
        </p:txBody>
      </p:sp>
      <p:sp>
        <p:nvSpPr>
          <p:cNvPr id="5" name="subtitle">
            <a:extLst xmlns:a="http://schemas.openxmlformats.org/drawingml/2006/main">
              <a:ext uri="{FF2B5EF4-FFF2-40B4-BE49-F238E27FC236}">
                <a16:creationId xmlns:a16="http://schemas.microsoft.com/office/drawing/2014/main" id="{8689AD5D-DA1E-43D7-BCB3-4BEF9DF8327F}"/>
              </a:ext>
            </a:extLst>
          </p:cNvPr>
          <p:cNvSpPr>
            <a:spLocks xmlns:a="http://schemas.openxmlformats.org/drawingml/2006/main" noGrp="1"/>
          </p:cNvSpPr>
          <p:nvPr/>
        </p:nvSpPr>
        <p:spPr>
          <a:xfrm xmlns:a="http://schemas.openxmlformats.org/drawingml/2006/main">
            <a:off x="704850" y="2428875"/>
            <a:ext cx="619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250" b="1">
                <a:solidFill>
                  <a:srgbClr val="E7A94B"/>
                </a:solidFill>
                <a:latin typeface="Arial"/>
                <a:ea typeface="Arial"/>
                <a:cs typeface="Arial"/>
              </a:defRPr>
            </a:defPPr>
          </a:lstStyle>
          <a:p xmlns:a="http://schemas.openxmlformats.org/drawingml/2006/main">
            <a:pPr algn="l">
              <a:defRPr sz="2250" b="1">
                <a:solidFill>
                  <a:srgbClr val="E7A94B"/>
                </a:solidFill>
                <a:latin typeface="Arial"/>
                <a:ea typeface="Arial"/>
                <a:cs typeface="Arial"/>
              </a:defRPr>
            </a:pPr>
            <a:r>
              <a:rPr sz="2250" b="1">
                <a:solidFill>
                  <a:srgbClr val="E7A94B"/>
                </a:solidFill>
                <a:latin typeface="Arial"/>
                <a:ea typeface="Arial"/>
                <a:cs typeface="Arial"/>
              </a:rPr>
              <a:t>A dungeon crawl on a bedroom table</a:t>
            </a:r>
          </a:p>
        </p:txBody>
      </p:sp>
      <p:sp>
        <p:nvSpPr>
          <p:cNvPr id="6" name="genre">
            <a:extLst xmlns:a="http://schemas.openxmlformats.org/drawingml/2006/main">
              <a:ext uri="{FF2B5EF4-FFF2-40B4-BE49-F238E27FC236}">
                <a16:creationId xmlns:a16="http://schemas.microsoft.com/office/drawing/2014/main" id="{2FDDAA58-9A5E-490B-879E-1E1ACD980698}"/>
              </a:ext>
            </a:extLst>
          </p:cNvPr>
          <p:cNvSpPr>
            <a:spLocks xmlns:a="http://schemas.openxmlformats.org/drawingml/2006/main" noGrp="1"/>
          </p:cNvSpPr>
          <p:nvPr/>
        </p:nvSpPr>
        <p:spPr>
          <a:xfrm xmlns:a="http://schemas.openxmlformats.org/drawingml/2006/main">
            <a:off x="704850" y="323850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ABB2BC"/>
                </a:solidFill>
                <a:latin typeface="Arial"/>
                <a:ea typeface="Arial"/>
                <a:cs typeface="Arial"/>
              </a:defRPr>
            </a:defPPr>
          </a:lstStyle>
          <a:p xmlns:a="http://schemas.openxmlformats.org/drawingml/2006/main">
            <a:pPr algn="l">
              <a:defRPr sz="1650" b="0">
                <a:solidFill>
                  <a:srgbClr val="ABB2BC"/>
                </a:solidFill>
                <a:latin typeface="Arial"/>
                <a:ea typeface="Arial"/>
                <a:cs typeface="Arial"/>
              </a:defRPr>
            </a:pPr>
            <a:r>
              <a:rPr sz="1650" b="0">
                <a:solidFill>
                  <a:srgbClr val="ABB2BC"/>
                </a:solidFill>
                <a:latin typeface="Arial"/>
                <a:ea typeface="Arial"/>
                <a:cs typeface="Arial"/>
              </a:rPr>
              <a:t>First-person roguelike dungeon crawler</a:t>
            </a:r>
          </a:p>
        </p:txBody>
      </p:sp>
      <p:sp>
        <p:nvSpPr>
          <p:cNvPr id="7" name="studio">
            <a:extLst xmlns:a="http://schemas.openxmlformats.org/drawingml/2006/main">
              <a:ext uri="{FF2B5EF4-FFF2-40B4-BE49-F238E27FC236}">
                <a16:creationId xmlns:a16="http://schemas.microsoft.com/office/drawing/2014/main" id="{B1B232A9-AE89-439A-9358-6976F4E14C0D}"/>
              </a:ext>
            </a:extLst>
          </p:cNvPr>
          <p:cNvSpPr>
            <a:spLocks xmlns:a="http://schemas.openxmlformats.org/drawingml/2006/main" noGrp="1"/>
          </p:cNvSpPr>
          <p:nvPr/>
        </p:nvSpPr>
        <p:spPr>
          <a:xfrm xmlns:a="http://schemas.openxmlformats.org/drawingml/2006/main">
            <a:off x="704850" y="6000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737D89"/>
                </a:solidFill>
                <a:latin typeface="Arial"/>
                <a:ea typeface="Arial"/>
                <a:cs typeface="Arial"/>
              </a:defRPr>
            </a:defPPr>
          </a:lstStyle>
          <a:p xmlns:a="http://schemas.openxmlformats.org/drawingml/2006/main">
            <a:pPr algn="l">
              <a:defRPr sz="1050" b="1">
                <a:solidFill>
                  <a:srgbClr val="737D89"/>
                </a:solidFill>
                <a:latin typeface="Arial"/>
                <a:ea typeface="Arial"/>
                <a:cs typeface="Arial"/>
              </a:defRPr>
            </a:pPr>
            <a:r>
              <a:rPr sz="1050" b="1">
                <a:solidFill>
                  <a:srgbClr val="737D89"/>
                </a:solidFill>
                <a:latin typeface="Arial"/>
                <a:ea typeface="Arial"/>
                <a:cs typeface="Arial"/>
              </a:rPr>
              <a:t>PUBLISHER PITCH  /  OCTOBER 2026</a:t>
            </a:r>
          </a:p>
        </p:txBody>
      </p:sp>
    </p:spTree>
    <p:extLst>
      <p:ext uri="{BB962C8B-B14F-4D97-AF65-F5344CB8AC3E}">
        <p14:creationId xmlns:p14="http://schemas.microsoft.com/office/powerpoint/2010/main" val="788671674"/>
      </p:ext>
    </p:extLst>
  </p:cSld>
</p:sld>
</file>

<file path=ppt/slides/slide2.xml><?xml version="1.0" encoding="utf-8"?>
<p:sld xmlns:p="http://schemas.openxmlformats.org/presentationml/2006/main">
  <p:cSld>
    <p:bg>
      <p:bgPr>
        <a:solidFill xmlns:a="http://schemas.openxmlformats.org/drawingml/2006/main">
          <a:srgbClr val="10131A"/>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C24CF72F-2653-4E66-86FE-231819585AF0}"/>
              </a:ext>
            </a:extLst>
          </p:cNvPr>
          <p:cNvSpPr>
            <a:spLocks xmlns:a="http://schemas.openxmlformats.org/drawingml/2006/main" noGrp="1"/>
          </p:cNvSpPr>
          <p:nvPr/>
        </p:nvSpPr>
        <p:spPr>
          <a:xfrm xmlns:a="http://schemas.openxmlformats.org/drawingml/2006/main">
            <a:off x="647700" y="3810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F4F0E5"/>
                </a:solidFill>
                <a:latin typeface="Arial"/>
                <a:ea typeface="Arial"/>
                <a:cs typeface="Arial"/>
              </a:defRPr>
            </a:defPPr>
          </a:lstStyle>
          <a:p xmlns:a="http://schemas.openxmlformats.org/drawingml/2006/main">
            <a:pPr algn="l">
              <a:defRPr sz="2850" b="1">
                <a:solidFill>
                  <a:srgbClr val="F4F0E5"/>
                </a:solidFill>
                <a:latin typeface="Arial"/>
                <a:ea typeface="Arial"/>
                <a:cs typeface="Arial"/>
              </a:defRPr>
            </a:pPr>
            <a:r>
              <a:rPr sz="2850" b="1">
                <a:solidFill>
                  <a:srgbClr val="F4F0E5"/>
                </a:solidFill>
                <a:latin typeface="Arial"/>
                <a:ea typeface="Arial"/>
                <a:cs typeface="Arial"/>
              </a:rPr>
              <a:t>A long descent, played on a small table</a:t>
            </a:r>
          </a:p>
        </p:txBody>
      </p:sp>
      <p:sp>
        <p:nvSpPr>
          <p:cNvPr id="2" name="title rule">
            <a:extLst xmlns:a="http://schemas.openxmlformats.org/drawingml/2006/main">
              <a:ext uri="{FF2B5EF4-FFF2-40B4-BE49-F238E27FC236}">
                <a16:creationId xmlns:a16="http://schemas.microsoft.com/office/drawing/2014/main" id="{E175E9A4-C759-4AD0-86CB-1AED8662B82C}"/>
              </a:ext>
            </a:extLst>
          </p:cNvPr>
          <p:cNvSpPr>
            <a:spLocks xmlns:a="http://schemas.openxmlformats.org/drawingml/2006/main" noGrp="1"/>
          </p:cNvSpPr>
          <p:nvPr/>
        </p:nvSpPr>
        <p:spPr>
          <a:xfrm xmlns:a="http://schemas.openxmlformats.org/drawingml/2006/main">
            <a:off x="647700" y="1028700"/>
            <a:ext cx="647700" cy="38100"/>
          </a:xfrm>
          <a:prstGeom xmlns:a="http://schemas.openxmlformats.org/drawingml/2006/main" prst="rect">
            <a:avLst/>
          </a:prstGeom>
          <a:solidFill xmlns:a="http://schemas.openxmlformats.org/drawingml/2006/main">
            <a:srgbClr val="E7A94B"/>
          </a:solidFill>
          <a:ln xmlns:a="http://schemas.openxmlformats.org/drawingml/2006/main" w="0">
            <a:noFill/>
            <a:prstDash val="solid"/>
          </a:ln>
        </p:spPr>
      </p:sp>
      <p:sp>
        <p:nvSpPr>
          <p:cNvPr id="3" name="subtitle">
            <a:extLst xmlns:a="http://schemas.openxmlformats.org/drawingml/2006/main">
              <a:ext uri="{FF2B5EF4-FFF2-40B4-BE49-F238E27FC236}">
                <a16:creationId xmlns:a16="http://schemas.microsoft.com/office/drawing/2014/main" id="{48A2E1C6-18A3-4C8F-9002-C6B8DF49C390}"/>
              </a:ext>
            </a:extLst>
          </p:cNvPr>
          <p:cNvSpPr>
            <a:spLocks xmlns:a="http://schemas.openxmlformats.org/drawingml/2006/main" noGrp="1"/>
          </p:cNvSpPr>
          <p:nvPr/>
        </p:nvSpPr>
        <p:spPr>
          <a:xfrm xmlns:a="http://schemas.openxmlformats.org/drawingml/2006/main">
            <a:off x="647700" y="117157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ABB2BC"/>
                </a:solidFill>
                <a:latin typeface="Arial"/>
                <a:ea typeface="Arial"/>
                <a:cs typeface="Arial"/>
              </a:defRPr>
            </a:defPPr>
          </a:lstStyle>
          <a:p xmlns:a="http://schemas.openxmlformats.org/drawingml/2006/main">
            <a:pPr algn="l">
              <a:defRPr sz="1275" b="0">
                <a:solidFill>
                  <a:srgbClr val="ABB2BC"/>
                </a:solidFill>
                <a:latin typeface="Arial"/>
                <a:ea typeface="Arial"/>
                <a:cs typeface="Arial"/>
              </a:defRPr>
            </a:pPr>
            <a:r>
              <a:rPr sz="1275" b="0">
                <a:solidFill>
                  <a:srgbClr val="ABB2BC"/>
                </a:solidFill>
                <a:latin typeface="Arial"/>
                <a:ea typeface="Arial"/>
                <a:cs typeface="Arial"/>
              </a:rPr>
              <a:t>The player descends through a dungeon while the Dungeon Master watches from the bedroom</a:t>
            </a:r>
          </a:p>
        </p:txBody>
      </p:sp>
      <p:sp>
        <p:nvSpPr>
          <p:cNvPr id="4" name="wordmark">
            <a:extLst xmlns:a="http://schemas.openxmlformats.org/drawingml/2006/main">
              <a:ext uri="{FF2B5EF4-FFF2-40B4-BE49-F238E27FC236}">
                <a16:creationId xmlns:a16="http://schemas.microsoft.com/office/drawing/2014/main" id="{5C285700-491F-4872-9199-95BDE2B695E3}"/>
              </a:ext>
            </a:extLst>
          </p:cNvPr>
          <p:cNvSpPr>
            <a:spLocks xmlns:a="http://schemas.openxmlformats.org/drawingml/2006/main" noGrp="1"/>
          </p:cNvSpPr>
          <p:nvPr/>
        </p:nvSpPr>
        <p:spPr>
          <a:xfrm xmlns:a="http://schemas.openxmlformats.org/drawingml/2006/main">
            <a:off x="647700" y="64389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737D89"/>
                </a:solidFill>
                <a:latin typeface="Arial"/>
                <a:ea typeface="Arial"/>
                <a:cs typeface="Arial"/>
              </a:defRPr>
            </a:defPPr>
          </a:lstStyle>
          <a:p xmlns:a="http://schemas.openxmlformats.org/drawingml/2006/main">
            <a:pPr algn="l">
              <a:defRPr sz="900" b="1">
                <a:solidFill>
                  <a:srgbClr val="737D89"/>
                </a:solidFill>
                <a:latin typeface="Arial"/>
                <a:ea typeface="Arial"/>
                <a:cs typeface="Arial"/>
              </a:defRPr>
            </a:pPr>
            <a:r>
              <a:rPr sz="900" b="1">
                <a:solidFill>
                  <a:srgbClr val="737D89"/>
                </a:solidFill>
                <a:latin typeface="Arial"/>
                <a:ea typeface="Arial"/>
                <a:cs typeface="Arial"/>
              </a:rPr>
              <a:t>LOOMROOM</a:t>
            </a:r>
          </a:p>
        </p:txBody>
      </p:sp>
      <p:sp>
        <p:nvSpPr>
          <p:cNvPr id="5" name="page">
            <a:extLst xmlns:a="http://schemas.openxmlformats.org/drawingml/2006/main">
              <a:ext uri="{FF2B5EF4-FFF2-40B4-BE49-F238E27FC236}">
                <a16:creationId xmlns:a16="http://schemas.microsoft.com/office/drawing/2014/main" id="{32072F1C-7896-4AA2-9C37-FDD870AB36F7}"/>
              </a:ext>
            </a:extLst>
          </p:cNvPr>
          <p:cNvSpPr>
            <a:spLocks xmlns:a="http://schemas.openxmlformats.org/drawingml/2006/main" noGrp="1"/>
          </p:cNvSpPr>
          <p:nvPr/>
        </p:nvSpPr>
        <p:spPr>
          <a:xfrm xmlns:a="http://schemas.openxmlformats.org/drawingml/2006/main">
            <a:off x="11201400" y="64389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00" b="0">
                <a:solidFill>
                  <a:srgbClr val="737D89"/>
                </a:solidFill>
                <a:latin typeface="Arial"/>
                <a:ea typeface="Arial"/>
                <a:cs typeface="Arial"/>
              </a:defRPr>
            </a:defPPr>
          </a:lstStyle>
          <a:p xmlns:a="http://schemas.openxmlformats.org/drawingml/2006/main">
            <a:pPr algn="r">
              <a:defRPr sz="900" b="0">
                <a:solidFill>
                  <a:srgbClr val="737D89"/>
                </a:solidFill>
                <a:latin typeface="Arial"/>
                <a:ea typeface="Arial"/>
                <a:cs typeface="Arial"/>
              </a:defRPr>
            </a:pPr>
            <a:r>
              <a:rPr sz="900" b="0">
                <a:solidFill>
                  <a:srgbClr val="737D89"/>
                </a:solidFill>
                <a:latin typeface="Arial"/>
                <a:ea typeface="Arial"/>
                <a:cs typeface="Arial"/>
              </a:rPr>
              <a:t>02</a:t>
            </a:r>
          </a:p>
        </p:txBody>
      </p:sp>
      <p:pic>
        <p:nvPicPr>
          <p:cNvPr id="6" name="">
            <a:extLst xmlns:a="http://schemas.openxmlformats.org/drawingml/2006/main">
              <a:ext uri="{FF2B5EF4-FFF2-40B4-BE49-F238E27FC236}">
                <a16:creationId xmlns:a16="http://schemas.microsoft.com/office/drawing/2014/main" id="{06387A5E-0584-4250-879A-1B277FE49DC1}"/>
              </a:ext>
            </a:extLst>
          </p:cNvPr>
          <p:cNvPicPr>
            <a:picLocks xmlns:a="http://schemas.openxmlformats.org/drawingml/2006/main" noChangeAspect="1"/>
          </p:cNvPicPr>
          <p:nvPr/>
        </p:nvPicPr>
        <p:blipFill>
          <a:blip xmlns:r="http://schemas.openxmlformats.org/officeDocument/2006/relationships" xmlns:a="http://schemas.openxmlformats.org/drawingml/2006/main" r:embed="R5c9447c4764b4ffe"/>
          <a:stretch xmlns:a="http://schemas.openxmlformats.org/drawingml/2006/main"/>
        </p:blipFill>
        <p:spPr>
          <a:xfrm xmlns:a="http://schemas.openxmlformats.org/drawingml/2006/main">
            <a:off x="742950" y="1862138"/>
            <a:ext cx="3667125" cy="3667125"/>
          </a:xfrm>
          <a:prstGeom xmlns:a="http://schemas.openxmlformats.org/drawingml/2006/main" prst="rect">
            <a:avLst/>
          </a:prstGeom>
        </p:spPr>
      </p:pic>
      <p:sp>
        <p:nvSpPr>
          <p:cNvPr id="7" name="premise">
            <a:extLst xmlns:a="http://schemas.openxmlformats.org/drawingml/2006/main">
              <a:ext uri="{FF2B5EF4-FFF2-40B4-BE49-F238E27FC236}">
                <a16:creationId xmlns:a16="http://schemas.microsoft.com/office/drawing/2014/main" id="{A3CB75CE-D00B-4209-8EEC-34C69F8F38D1}"/>
              </a:ext>
            </a:extLst>
          </p:cNvPr>
          <p:cNvSpPr>
            <a:spLocks xmlns:a="http://schemas.openxmlformats.org/drawingml/2006/main" noGrp="1"/>
          </p:cNvSpPr>
          <p:nvPr/>
        </p:nvSpPr>
        <p:spPr>
          <a:xfrm xmlns:a="http://schemas.openxmlformats.org/drawingml/2006/main">
            <a:off x="4857750" y="1952625"/>
            <a:ext cx="619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8039"/>
          </a:bodyPr>
          <a:lstStyle xmlns:a="http://schemas.openxmlformats.org/drawingml/2006/main">
            <a:defPPr algn="l">
              <a:defRPr sz="2550" b="1">
                <a:solidFill>
                  <a:srgbClr val="F4F0E5"/>
                </a:solidFill>
                <a:latin typeface="Arial"/>
                <a:ea typeface="Arial"/>
                <a:cs typeface="Arial"/>
              </a:defRPr>
            </a:defPPr>
          </a:lstStyle>
          <a:p xmlns:a="http://schemas.openxmlformats.org/drawingml/2006/main">
            <a:pPr algn="l">
              <a:defRPr sz="2550" b="1">
                <a:solidFill>
                  <a:srgbClr val="F4F0E5"/>
                </a:solidFill>
                <a:latin typeface="Arial"/>
                <a:ea typeface="Arial"/>
                <a:cs typeface="Arial"/>
              </a:defRPr>
            </a:pPr>
            <a:r>
              <a:rPr sz="2550" b="1">
                <a:solidFill>
                  <a:srgbClr val="F4F0E5"/>
                </a:solidFill>
                <a:latin typeface="Arial"/>
                <a:ea typeface="Arial"/>
                <a:cs typeface="Arial"/>
              </a:rPr>
              <a:t>A dungeon crawler staged as a miniature adventure.</a:t>
            </a:r>
          </a:p>
        </p:txBody>
      </p:sp>
      <p:sp>
        <p:nvSpPr>
          <p:cNvPr id="8" name="detail">
            <a:extLst xmlns:a="http://schemas.openxmlformats.org/drawingml/2006/main">
              <a:ext uri="{FF2B5EF4-FFF2-40B4-BE49-F238E27FC236}">
                <a16:creationId xmlns:a16="http://schemas.microsoft.com/office/drawing/2014/main" id="{F7B8B911-708C-4D52-B979-31FBF3C76819}"/>
              </a:ext>
            </a:extLst>
          </p:cNvPr>
          <p:cNvSpPr>
            <a:spLocks xmlns:a="http://schemas.openxmlformats.org/drawingml/2006/main" noGrp="1"/>
          </p:cNvSpPr>
          <p:nvPr/>
        </p:nvSpPr>
        <p:spPr>
          <a:xfrm xmlns:a="http://schemas.openxmlformats.org/drawingml/2006/main">
            <a:off x="4876800" y="2971800"/>
            <a:ext cx="5810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00" b="0">
                <a:solidFill>
                  <a:srgbClr val="ABB2BC"/>
                </a:solidFill>
                <a:latin typeface="Arial"/>
                <a:ea typeface="Arial"/>
                <a:cs typeface="Arial"/>
              </a:defRPr>
            </a:defPPr>
          </a:lstStyle>
          <a:p xmlns:a="http://schemas.openxmlformats.org/drawingml/2006/main">
            <a:pPr algn="l">
              <a:defRPr sz="1800" b="0">
                <a:solidFill>
                  <a:srgbClr val="ABB2BC"/>
                </a:solidFill>
                <a:latin typeface="Arial"/>
                <a:ea typeface="Arial"/>
                <a:cs typeface="Arial"/>
              </a:defRPr>
            </a:pPr>
            <a:r>
              <a:rPr sz="1800" b="0">
                <a:solidFill>
                  <a:srgbClr val="ABB2BC"/>
                </a:solidFill>
                <a:latin typeface="Arial"/>
                <a:ea typeface="Arial"/>
                <a:cs typeface="Arial"/>
              </a:rPr>
              <a:t>Fight through authored rooms, find stronger gear, and build a character over a multi-floor run.</a:t>
            </a:r>
          </a:p>
        </p:txBody>
      </p:sp>
      <p:sp>
        <p:nvSpPr>
          <p:cNvPr id="9" name="callout rule">
            <a:extLst xmlns:a="http://schemas.openxmlformats.org/drawingml/2006/main">
              <a:ext uri="{FF2B5EF4-FFF2-40B4-BE49-F238E27FC236}">
                <a16:creationId xmlns:a16="http://schemas.microsoft.com/office/drawing/2014/main" id="{8F71DA25-BE0B-4A44-A3D1-A02D0F7F8631}"/>
              </a:ext>
            </a:extLst>
          </p:cNvPr>
          <p:cNvSpPr>
            <a:spLocks xmlns:a="http://schemas.openxmlformats.org/drawingml/2006/main" noGrp="1"/>
          </p:cNvSpPr>
          <p:nvPr/>
        </p:nvSpPr>
        <p:spPr>
          <a:xfrm xmlns:a="http://schemas.openxmlformats.org/drawingml/2006/main">
            <a:off x="4876800" y="4457700"/>
            <a:ext cx="38100" cy="762000"/>
          </a:xfrm>
          <a:prstGeom xmlns:a="http://schemas.openxmlformats.org/drawingml/2006/main" prst="rect">
            <a:avLst/>
          </a:prstGeom>
          <a:solidFill xmlns:a="http://schemas.openxmlformats.org/drawingml/2006/main">
            <a:srgbClr val="E7A94B"/>
          </a:solidFill>
          <a:ln xmlns:a="http://schemas.openxmlformats.org/drawingml/2006/main" w="0">
            <a:noFill/>
            <a:prstDash val="solid"/>
          </a:ln>
        </p:spPr>
      </p:sp>
      <p:sp>
        <p:nvSpPr>
          <p:cNvPr id="10" name="callout heading">
            <a:extLst xmlns:a="http://schemas.openxmlformats.org/drawingml/2006/main">
              <a:ext uri="{FF2B5EF4-FFF2-40B4-BE49-F238E27FC236}">
                <a16:creationId xmlns:a16="http://schemas.microsoft.com/office/drawing/2014/main" id="{E75BF9AD-60F2-4062-A8DA-BE9454ACCD4B}"/>
              </a:ext>
            </a:extLst>
          </p:cNvPr>
          <p:cNvSpPr>
            <a:spLocks xmlns:a="http://schemas.openxmlformats.org/drawingml/2006/main" noGrp="1"/>
          </p:cNvSpPr>
          <p:nvPr/>
        </p:nvSpPr>
        <p:spPr>
          <a:xfrm xmlns:a="http://schemas.openxmlformats.org/drawingml/2006/main">
            <a:off x="5067300" y="445770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4F0E5"/>
                </a:solidFill>
                <a:latin typeface="Arial"/>
                <a:ea typeface="Arial"/>
                <a:cs typeface="Arial"/>
              </a:defRPr>
            </a:defPPr>
          </a:lstStyle>
          <a:p xmlns:a="http://schemas.openxmlformats.org/drawingml/2006/main">
            <a:pPr algn="l">
              <a:defRPr sz="1425" b="1">
                <a:solidFill>
                  <a:srgbClr val="F4F0E5"/>
                </a:solidFill>
                <a:latin typeface="Arial"/>
                <a:ea typeface="Arial"/>
                <a:cs typeface="Arial"/>
              </a:defRPr>
            </a:pPr>
            <a:r>
              <a:rPr sz="1425" b="1">
                <a:solidFill>
                  <a:srgbClr val="F4F0E5"/>
                </a:solidFill>
                <a:latin typeface="Arial"/>
                <a:ea typeface="Arial"/>
                <a:cs typeface="Arial"/>
              </a:rPr>
              <a:t>The framing device</a:t>
            </a:r>
          </a:p>
        </p:txBody>
      </p:sp>
      <p:sp>
        <p:nvSpPr>
          <p:cNvPr id="11" name="callout body">
            <a:extLst xmlns:a="http://schemas.openxmlformats.org/drawingml/2006/main">
              <a:ext uri="{FF2B5EF4-FFF2-40B4-BE49-F238E27FC236}">
                <a16:creationId xmlns:a16="http://schemas.microsoft.com/office/drawing/2014/main" id="{ED757461-28D1-4241-93CD-0CEED80AAD3F}"/>
              </a:ext>
            </a:extLst>
          </p:cNvPr>
          <p:cNvSpPr>
            <a:spLocks xmlns:a="http://schemas.openxmlformats.org/drawingml/2006/main" noGrp="1"/>
          </p:cNvSpPr>
          <p:nvPr/>
        </p:nvSpPr>
        <p:spPr>
          <a:xfrm xmlns:a="http://schemas.openxmlformats.org/drawingml/2006/main">
            <a:off x="5067300" y="476250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ABB2BC"/>
                </a:solidFill>
                <a:latin typeface="Arial"/>
                <a:ea typeface="Arial"/>
                <a:cs typeface="Arial"/>
              </a:defRPr>
            </a:defPPr>
          </a:lstStyle>
          <a:p xmlns:a="http://schemas.openxmlformats.org/drawingml/2006/main">
            <a:pPr algn="l">
              <a:defRPr sz="1200" b="0">
                <a:solidFill>
                  <a:srgbClr val="ABB2BC"/>
                </a:solidFill>
                <a:latin typeface="Arial"/>
                <a:ea typeface="Arial"/>
                <a:cs typeface="Arial"/>
              </a:defRPr>
            </a:pPr>
            <a:r>
              <a:rPr sz="1200" b="0">
                <a:solidFill>
                  <a:srgbClr val="ABB2BC"/>
                </a:solidFill>
                <a:latin typeface="Arial"/>
                <a:ea typeface="Arial"/>
                <a:cs typeface="Arial"/>
              </a:rPr>
              <a:t>The bedroom table and Dungeon Master give the descent a story-shaped context.</a:t>
            </a:r>
          </a:p>
        </p:txBody>
      </p:sp>
    </p:spTree>
    <p:extLst>
      <p:ext uri="{BB962C8B-B14F-4D97-AF65-F5344CB8AC3E}">
        <p14:creationId xmlns:p14="http://schemas.microsoft.com/office/powerpoint/2010/main" val="158563182"/>
      </p:ext>
    </p:extLst>
  </p:cSld>
</p:sld>
</file>

<file path=ppt/slides/slide3.xml><?xml version="1.0" encoding="utf-8"?>
<p:sld xmlns:p="http://schemas.openxmlformats.org/presentationml/2006/main">
  <p:cSld>
    <p:bg>
      <p:bgPr>
        <a:solidFill xmlns:a="http://schemas.openxmlformats.org/drawingml/2006/main">
          <a:srgbClr val="10131A"/>
        </a:solidFill>
      </p:bgPr>
    </p:bg>
    <p:spTree>
      <p:nvGrpSpPr>
        <p:cNvPr id="1" name=""/>
        <p:cNvGrpSpPr/>
        <p:nvPr/>
      </p:nvGrpSpPr>
      <p:grpSpPr>
        <a:xfrm xmlns:a="http://schemas.openxmlformats.org/drawingml/2006/main"/>
      </p:grpSpPr>
      <p:sp>
        <p:nvSpPr>
          <p:cNvPr id="27" name="title">
            <a:extLst xmlns:a="http://schemas.openxmlformats.org/drawingml/2006/main">
              <a:ext uri="{FF2B5EF4-FFF2-40B4-BE49-F238E27FC236}">
                <a16:creationId xmlns:a16="http://schemas.microsoft.com/office/drawing/2014/main" id="{5B80A649-8738-4B36-805F-03E1BDF4FF2A}"/>
              </a:ext>
            </a:extLst>
          </p:cNvPr>
          <p:cNvSpPr>
            <a:spLocks xmlns:a="http://schemas.openxmlformats.org/drawingml/2006/main" noGrp="1"/>
          </p:cNvSpPr>
          <p:nvPr/>
        </p:nvSpPr>
        <p:spPr>
          <a:xfrm xmlns:a="http://schemas.openxmlformats.org/drawingml/2006/main">
            <a:off x="647700" y="3810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F4F0E5"/>
                </a:solidFill>
                <a:latin typeface="Arial"/>
                <a:ea typeface="Arial"/>
                <a:cs typeface="Arial"/>
              </a:defRPr>
            </a:defPPr>
          </a:lstStyle>
          <a:p xmlns:a="http://schemas.openxmlformats.org/drawingml/2006/main">
            <a:pPr algn="l">
              <a:defRPr sz="2850" b="1">
                <a:solidFill>
                  <a:srgbClr val="F4F0E5"/>
                </a:solidFill>
                <a:latin typeface="Arial"/>
                <a:ea typeface="Arial"/>
                <a:cs typeface="Arial"/>
              </a:defRPr>
            </a:pPr>
            <a:r>
              <a:rPr sz="2850" b="1">
                <a:solidFill>
                  <a:srgbClr val="F4F0E5"/>
                </a:solidFill>
                <a:latin typeface="Arial"/>
                <a:ea typeface="Arial"/>
                <a:cs typeface="Arial"/>
              </a:rPr>
              <a:t>The run is built around earned upgrades</a:t>
            </a:r>
          </a:p>
        </p:txBody>
      </p:sp>
      <p:sp>
        <p:nvSpPr>
          <p:cNvPr id="2" name="title rule">
            <a:extLst xmlns:a="http://schemas.openxmlformats.org/drawingml/2006/main">
              <a:ext uri="{FF2B5EF4-FFF2-40B4-BE49-F238E27FC236}">
                <a16:creationId xmlns:a16="http://schemas.microsoft.com/office/drawing/2014/main" id="{98FAC167-196B-4FA1-8ECF-BD9B1E2C8FC5}"/>
              </a:ext>
            </a:extLst>
          </p:cNvPr>
          <p:cNvSpPr>
            <a:spLocks xmlns:a="http://schemas.openxmlformats.org/drawingml/2006/main" noGrp="1"/>
          </p:cNvSpPr>
          <p:nvPr/>
        </p:nvSpPr>
        <p:spPr>
          <a:xfrm xmlns:a="http://schemas.openxmlformats.org/drawingml/2006/main">
            <a:off x="647700" y="1028700"/>
            <a:ext cx="647700" cy="38100"/>
          </a:xfrm>
          <a:prstGeom xmlns:a="http://schemas.openxmlformats.org/drawingml/2006/main" prst="rect">
            <a:avLst/>
          </a:prstGeom>
          <a:solidFill xmlns:a="http://schemas.openxmlformats.org/drawingml/2006/main">
            <a:srgbClr val="E7A94B"/>
          </a:solidFill>
          <a:ln xmlns:a="http://schemas.openxmlformats.org/drawingml/2006/main" w="0">
            <a:noFill/>
            <a:prstDash val="solid"/>
          </a:ln>
        </p:spPr>
      </p:sp>
      <p:sp>
        <p:nvSpPr>
          <p:cNvPr id="3" name="subtitle">
            <a:extLst xmlns:a="http://schemas.openxmlformats.org/drawingml/2006/main">
              <a:ext uri="{FF2B5EF4-FFF2-40B4-BE49-F238E27FC236}">
                <a16:creationId xmlns:a16="http://schemas.microsoft.com/office/drawing/2014/main" id="{3A00CF13-F479-46E6-8839-26CB899E5205}"/>
              </a:ext>
            </a:extLst>
          </p:cNvPr>
          <p:cNvSpPr>
            <a:spLocks xmlns:a="http://schemas.openxmlformats.org/drawingml/2006/main" noGrp="1"/>
          </p:cNvSpPr>
          <p:nvPr/>
        </p:nvSpPr>
        <p:spPr>
          <a:xfrm xmlns:a="http://schemas.openxmlformats.org/drawingml/2006/main">
            <a:off x="647700" y="117157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ABB2BC"/>
                </a:solidFill>
                <a:latin typeface="Arial"/>
                <a:ea typeface="Arial"/>
                <a:cs typeface="Arial"/>
              </a:defRPr>
            </a:defPPr>
          </a:lstStyle>
          <a:p xmlns:a="http://schemas.openxmlformats.org/drawingml/2006/main">
            <a:pPr algn="l">
              <a:defRPr sz="1275" b="0">
                <a:solidFill>
                  <a:srgbClr val="ABB2BC"/>
                </a:solidFill>
                <a:latin typeface="Arial"/>
                <a:ea typeface="Arial"/>
                <a:cs typeface="Arial"/>
              </a:defRPr>
            </a:pPr>
            <a:r>
              <a:rPr sz="1275" b="0">
                <a:solidFill>
                  <a:srgbClr val="ABB2BC"/>
                </a:solidFill>
                <a:latin typeface="Arial"/>
                <a:ea typeface="Arial"/>
                <a:cs typeface="Arial"/>
              </a:rPr>
              <a:t>An easy-to-follow loop connects moment-to-moment combat to long-run character growth</a:t>
            </a:r>
          </a:p>
        </p:txBody>
      </p:sp>
      <p:sp>
        <p:nvSpPr>
          <p:cNvPr id="4" name="wordmark">
            <a:extLst xmlns:a="http://schemas.openxmlformats.org/drawingml/2006/main">
              <a:ext uri="{FF2B5EF4-FFF2-40B4-BE49-F238E27FC236}">
                <a16:creationId xmlns:a16="http://schemas.microsoft.com/office/drawing/2014/main" id="{72E17618-57FA-4949-8119-0E15F9101F43}"/>
              </a:ext>
            </a:extLst>
          </p:cNvPr>
          <p:cNvSpPr>
            <a:spLocks xmlns:a="http://schemas.openxmlformats.org/drawingml/2006/main" noGrp="1"/>
          </p:cNvSpPr>
          <p:nvPr/>
        </p:nvSpPr>
        <p:spPr>
          <a:xfrm xmlns:a="http://schemas.openxmlformats.org/drawingml/2006/main">
            <a:off x="647700" y="64389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737D89"/>
                </a:solidFill>
                <a:latin typeface="Arial"/>
                <a:ea typeface="Arial"/>
                <a:cs typeface="Arial"/>
              </a:defRPr>
            </a:defPPr>
          </a:lstStyle>
          <a:p xmlns:a="http://schemas.openxmlformats.org/drawingml/2006/main">
            <a:pPr algn="l">
              <a:defRPr sz="900" b="1">
                <a:solidFill>
                  <a:srgbClr val="737D89"/>
                </a:solidFill>
                <a:latin typeface="Arial"/>
                <a:ea typeface="Arial"/>
                <a:cs typeface="Arial"/>
              </a:defRPr>
            </a:pPr>
            <a:r>
              <a:rPr sz="900" b="1">
                <a:solidFill>
                  <a:srgbClr val="737D89"/>
                </a:solidFill>
                <a:latin typeface="Arial"/>
                <a:ea typeface="Arial"/>
                <a:cs typeface="Arial"/>
              </a:rPr>
              <a:t>LOOMROOM</a:t>
            </a:r>
          </a:p>
        </p:txBody>
      </p:sp>
      <p:sp>
        <p:nvSpPr>
          <p:cNvPr id="5" name="page">
            <a:extLst xmlns:a="http://schemas.openxmlformats.org/drawingml/2006/main">
              <a:ext uri="{FF2B5EF4-FFF2-40B4-BE49-F238E27FC236}">
                <a16:creationId xmlns:a16="http://schemas.microsoft.com/office/drawing/2014/main" id="{A4CFBF3D-EA01-4D47-B944-924A409835A3}"/>
              </a:ext>
            </a:extLst>
          </p:cNvPr>
          <p:cNvSpPr>
            <a:spLocks xmlns:a="http://schemas.openxmlformats.org/drawingml/2006/main" noGrp="1"/>
          </p:cNvSpPr>
          <p:nvPr/>
        </p:nvSpPr>
        <p:spPr>
          <a:xfrm xmlns:a="http://schemas.openxmlformats.org/drawingml/2006/main">
            <a:off x="11201400" y="64389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00" b="0">
                <a:solidFill>
                  <a:srgbClr val="737D89"/>
                </a:solidFill>
                <a:latin typeface="Arial"/>
                <a:ea typeface="Arial"/>
                <a:cs typeface="Arial"/>
              </a:defRPr>
            </a:defPPr>
          </a:lstStyle>
          <a:p xmlns:a="http://schemas.openxmlformats.org/drawingml/2006/main">
            <a:pPr algn="r">
              <a:defRPr sz="900" b="0">
                <a:solidFill>
                  <a:srgbClr val="737D89"/>
                </a:solidFill>
                <a:latin typeface="Arial"/>
                <a:ea typeface="Arial"/>
                <a:cs typeface="Arial"/>
              </a:defRPr>
            </a:pPr>
            <a:r>
              <a:rPr sz="900" b="0">
                <a:solidFill>
                  <a:srgbClr val="737D89"/>
                </a:solidFill>
                <a:latin typeface="Arial"/>
                <a:ea typeface="Arial"/>
                <a:cs typeface="Arial"/>
              </a:rPr>
              <a:t>03</a:t>
            </a:r>
          </a:p>
        </p:txBody>
      </p:sp>
      <p:sp>
        <p:nvSpPr>
          <p:cNvPr id="6" name="label EXPLORE">
            <a:extLst xmlns:a="http://schemas.openxmlformats.org/drawingml/2006/main">
              <a:ext uri="{FF2B5EF4-FFF2-40B4-BE49-F238E27FC236}">
                <a16:creationId xmlns:a16="http://schemas.microsoft.com/office/drawing/2014/main" id="{1F27599D-F0C2-4389-A2DC-41D23BD419E7}"/>
              </a:ext>
            </a:extLst>
          </p:cNvPr>
          <p:cNvSpPr>
            <a:spLocks xmlns:a="http://schemas.openxmlformats.org/drawingml/2006/main" noGrp="1"/>
          </p:cNvSpPr>
          <p:nvPr/>
        </p:nvSpPr>
        <p:spPr>
          <a:xfrm xmlns:a="http://schemas.openxmlformats.org/drawingml/2006/main">
            <a:off x="742950" y="21907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E7A94B"/>
                </a:solidFill>
                <a:latin typeface="Arial"/>
                <a:ea typeface="Arial"/>
                <a:cs typeface="Arial"/>
              </a:defRPr>
            </a:defPPr>
          </a:lstStyle>
          <a:p xmlns:a="http://schemas.openxmlformats.org/drawingml/2006/main">
            <a:pPr algn="l">
              <a:defRPr sz="900" b="1">
                <a:solidFill>
                  <a:srgbClr val="E7A94B"/>
                </a:solidFill>
                <a:latin typeface="Arial"/>
                <a:ea typeface="Arial"/>
                <a:cs typeface="Arial"/>
              </a:defRPr>
            </a:pPr>
            <a:r>
              <a:rPr sz="900" b="1">
                <a:solidFill>
                  <a:srgbClr val="E7A94B"/>
                </a:solidFill>
                <a:latin typeface="Arial"/>
                <a:ea typeface="Arial"/>
                <a:cs typeface="Arial"/>
              </a:rPr>
              <a:t>EXPLORE</a:t>
            </a:r>
          </a:p>
        </p:txBody>
      </p:sp>
      <p:sp>
        <p:nvSpPr>
          <p:cNvPr id="7" name="stage EXPLORE">
            <a:extLst xmlns:a="http://schemas.openxmlformats.org/drawingml/2006/main">
              <a:ext uri="{FF2B5EF4-FFF2-40B4-BE49-F238E27FC236}">
                <a16:creationId xmlns:a16="http://schemas.microsoft.com/office/drawing/2014/main" id="{A9D6E1B1-BB99-4C4B-B08A-08E388278200}"/>
              </a:ext>
            </a:extLst>
          </p:cNvPr>
          <p:cNvSpPr>
            <a:spLocks xmlns:a="http://schemas.openxmlformats.org/drawingml/2006/main" noGrp="1"/>
          </p:cNvSpPr>
          <p:nvPr/>
        </p:nvSpPr>
        <p:spPr>
          <a:xfrm xmlns:a="http://schemas.openxmlformats.org/drawingml/2006/main">
            <a:off x="742950" y="2533650"/>
            <a:ext cx="2333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250" b="1">
                <a:solidFill>
                  <a:srgbClr val="F4F0E5"/>
                </a:solidFill>
                <a:latin typeface="Arial"/>
                <a:ea typeface="Arial"/>
                <a:cs typeface="Arial"/>
              </a:defRPr>
            </a:defPPr>
          </a:lstStyle>
          <a:p xmlns:a="http://schemas.openxmlformats.org/drawingml/2006/main">
            <a:pPr algn="l">
              <a:defRPr sz="2250" b="1">
                <a:solidFill>
                  <a:srgbClr val="F4F0E5"/>
                </a:solidFill>
                <a:latin typeface="Arial"/>
                <a:ea typeface="Arial"/>
                <a:cs typeface="Arial"/>
              </a:defRPr>
            </a:pPr>
            <a:r>
              <a:rPr sz="2250" b="1">
                <a:solidFill>
                  <a:srgbClr val="F4F0E5"/>
                </a:solidFill>
                <a:latin typeface="Arial"/>
                <a:ea typeface="Arial"/>
                <a:cs typeface="Arial"/>
              </a:rPr>
              <a:t>EXPLORE</a:t>
            </a:r>
          </a:p>
        </p:txBody>
      </p:sp>
      <p:sp>
        <p:nvSpPr>
          <p:cNvPr id="8" name="stage detail EXPLORE">
            <a:extLst xmlns:a="http://schemas.openxmlformats.org/drawingml/2006/main">
              <a:ext uri="{FF2B5EF4-FFF2-40B4-BE49-F238E27FC236}">
                <a16:creationId xmlns:a16="http://schemas.microsoft.com/office/drawing/2014/main" id="{202921D4-D718-4F15-8678-A7A7C85E1E48}"/>
              </a:ext>
            </a:extLst>
          </p:cNvPr>
          <p:cNvSpPr>
            <a:spLocks xmlns:a="http://schemas.openxmlformats.org/drawingml/2006/main" noGrp="1"/>
          </p:cNvSpPr>
          <p:nvPr/>
        </p:nvSpPr>
        <p:spPr>
          <a:xfrm xmlns:a="http://schemas.openxmlformats.org/drawingml/2006/main">
            <a:off x="742950" y="3143250"/>
            <a:ext cx="21145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ABB2BC"/>
                </a:solidFill>
                <a:latin typeface="Arial"/>
                <a:ea typeface="Arial"/>
                <a:cs typeface="Arial"/>
              </a:defRPr>
            </a:defPPr>
          </a:lstStyle>
          <a:p xmlns:a="http://schemas.openxmlformats.org/drawingml/2006/main">
            <a:pPr algn="l">
              <a:defRPr sz="1425" b="0">
                <a:solidFill>
                  <a:srgbClr val="ABB2BC"/>
                </a:solidFill>
                <a:latin typeface="Arial"/>
                <a:ea typeface="Arial"/>
                <a:cs typeface="Arial"/>
              </a:defRPr>
            </a:pPr>
            <a:r>
              <a:rPr sz="1425" b="0">
                <a:solidFill>
                  <a:srgbClr val="ABB2BC"/>
                </a:solidFill>
                <a:latin typeface="Arial"/>
                <a:ea typeface="Arial"/>
                <a:cs typeface="Arial"/>
              </a:rPr>
              <a:t>Find branches, landmarks, secrets and stairs.</a:t>
            </a:r>
          </a:p>
        </p:txBody>
      </p:sp>
      <p:sp>
        <p:nvSpPr>
          <p:cNvPr id="9" name="loop connector 0">
            <a:extLst xmlns:a="http://schemas.openxmlformats.org/drawingml/2006/main">
              <a:ext uri="{FF2B5EF4-FFF2-40B4-BE49-F238E27FC236}">
                <a16:creationId xmlns:a16="http://schemas.microsoft.com/office/drawing/2014/main" id="{D9A1F20F-508E-41EF-9C39-437D084BC9BF}"/>
              </a:ext>
            </a:extLst>
          </p:cNvPr>
          <p:cNvSpPr>
            <a:spLocks xmlns:a="http://schemas.openxmlformats.org/drawingml/2006/main" noGrp="1"/>
          </p:cNvSpPr>
          <p:nvPr/>
        </p:nvSpPr>
        <p:spPr>
          <a:xfrm xmlns:a="http://schemas.openxmlformats.org/drawingml/2006/main">
            <a:off x="3000375" y="2752725"/>
            <a:ext cx="400050" cy="19050"/>
          </a:xfrm>
          <a:prstGeom xmlns:a="http://schemas.openxmlformats.org/drawingml/2006/main" prst="rect">
            <a:avLst/>
          </a:prstGeom>
          <a:solidFill xmlns:a="http://schemas.openxmlformats.org/drawingml/2006/main">
            <a:srgbClr val="4C515B"/>
          </a:solidFill>
          <a:ln xmlns:a="http://schemas.openxmlformats.org/drawingml/2006/main" w="0">
            <a:noFill/>
            <a:prstDash val="solid"/>
          </a:ln>
        </p:spPr>
      </p:sp>
      <p:sp>
        <p:nvSpPr>
          <p:cNvPr id="10" name="connector head 0">
            <a:extLst xmlns:a="http://schemas.openxmlformats.org/drawingml/2006/main">
              <a:ext uri="{FF2B5EF4-FFF2-40B4-BE49-F238E27FC236}">
                <a16:creationId xmlns:a16="http://schemas.microsoft.com/office/drawing/2014/main" id="{B300B223-BBF5-4994-9EF5-A48A9B3B1A8F}"/>
              </a:ext>
            </a:extLst>
          </p:cNvPr>
          <p:cNvSpPr>
            <a:spLocks xmlns:a="http://schemas.openxmlformats.org/drawingml/2006/main" noGrp="1"/>
          </p:cNvSpPr>
          <p:nvPr/>
        </p:nvSpPr>
        <p:spPr>
          <a:xfrm xmlns:a="http://schemas.openxmlformats.org/drawingml/2006/main">
            <a:off x="3019425" y="2533650"/>
            <a:ext cx="38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00" b="1">
                <a:solidFill>
                  <a:srgbClr val="E7A94B"/>
                </a:solidFill>
                <a:latin typeface="Arial"/>
                <a:ea typeface="Arial"/>
                <a:cs typeface="Arial"/>
              </a:defRPr>
            </a:defPPr>
          </a:lstStyle>
          <a:p xmlns:a="http://schemas.openxmlformats.org/drawingml/2006/main">
            <a:pPr algn="l">
              <a:defRPr sz="2100" b="1">
                <a:solidFill>
                  <a:srgbClr val="E7A94B"/>
                </a:solidFill>
                <a:latin typeface="Arial"/>
                <a:ea typeface="Arial"/>
                <a:cs typeface="Arial"/>
              </a:defRPr>
            </a:pPr>
            <a:r>
              <a:rPr sz="2100" b="1">
                <a:solidFill>
                  <a:srgbClr val="E7A94B"/>
                </a:solidFill>
                <a:latin typeface="Arial"/>
                <a:ea typeface="Arial"/>
                <a:cs typeface="Arial"/>
              </a:rPr>
              <a:t>›</a:t>
            </a:r>
          </a:p>
        </p:txBody>
      </p:sp>
      <p:sp>
        <p:nvSpPr>
          <p:cNvPr id="11" name="label FIGHT">
            <a:extLst xmlns:a="http://schemas.openxmlformats.org/drawingml/2006/main">
              <a:ext uri="{FF2B5EF4-FFF2-40B4-BE49-F238E27FC236}">
                <a16:creationId xmlns:a16="http://schemas.microsoft.com/office/drawing/2014/main" id="{21D94E11-4529-4243-BF6D-2952C7AD3AF2}"/>
              </a:ext>
            </a:extLst>
          </p:cNvPr>
          <p:cNvSpPr>
            <a:spLocks xmlns:a="http://schemas.openxmlformats.org/drawingml/2006/main" noGrp="1"/>
          </p:cNvSpPr>
          <p:nvPr/>
        </p:nvSpPr>
        <p:spPr>
          <a:xfrm xmlns:a="http://schemas.openxmlformats.org/drawingml/2006/main">
            <a:off x="3333750" y="21907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B75A3C"/>
                </a:solidFill>
                <a:latin typeface="Arial"/>
                <a:ea typeface="Arial"/>
                <a:cs typeface="Arial"/>
              </a:defRPr>
            </a:defPPr>
          </a:lstStyle>
          <a:p xmlns:a="http://schemas.openxmlformats.org/drawingml/2006/main">
            <a:pPr algn="l">
              <a:defRPr sz="900" b="1">
                <a:solidFill>
                  <a:srgbClr val="B75A3C"/>
                </a:solidFill>
                <a:latin typeface="Arial"/>
                <a:ea typeface="Arial"/>
                <a:cs typeface="Arial"/>
              </a:defRPr>
            </a:pPr>
            <a:r>
              <a:rPr sz="900" b="1">
                <a:solidFill>
                  <a:srgbClr val="B75A3C"/>
                </a:solidFill>
                <a:latin typeface="Arial"/>
                <a:ea typeface="Arial"/>
                <a:cs typeface="Arial"/>
              </a:rPr>
              <a:t>FIGHT</a:t>
            </a:r>
          </a:p>
        </p:txBody>
      </p:sp>
      <p:sp>
        <p:nvSpPr>
          <p:cNvPr id="12" name="stage FIGHT">
            <a:extLst xmlns:a="http://schemas.openxmlformats.org/drawingml/2006/main">
              <a:ext uri="{FF2B5EF4-FFF2-40B4-BE49-F238E27FC236}">
                <a16:creationId xmlns:a16="http://schemas.microsoft.com/office/drawing/2014/main" id="{B26C9C50-ECB1-4D03-A89C-9765AA58AAE4}"/>
              </a:ext>
            </a:extLst>
          </p:cNvPr>
          <p:cNvSpPr>
            <a:spLocks xmlns:a="http://schemas.openxmlformats.org/drawingml/2006/main" noGrp="1"/>
          </p:cNvSpPr>
          <p:nvPr/>
        </p:nvSpPr>
        <p:spPr>
          <a:xfrm xmlns:a="http://schemas.openxmlformats.org/drawingml/2006/main">
            <a:off x="3333750" y="2533650"/>
            <a:ext cx="2333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250" b="1">
                <a:solidFill>
                  <a:srgbClr val="F4F0E5"/>
                </a:solidFill>
                <a:latin typeface="Arial"/>
                <a:ea typeface="Arial"/>
                <a:cs typeface="Arial"/>
              </a:defRPr>
            </a:defPPr>
          </a:lstStyle>
          <a:p xmlns:a="http://schemas.openxmlformats.org/drawingml/2006/main">
            <a:pPr algn="l">
              <a:defRPr sz="2250" b="1">
                <a:solidFill>
                  <a:srgbClr val="F4F0E5"/>
                </a:solidFill>
                <a:latin typeface="Arial"/>
                <a:ea typeface="Arial"/>
                <a:cs typeface="Arial"/>
              </a:defRPr>
            </a:pPr>
            <a:r>
              <a:rPr sz="2250" b="1">
                <a:solidFill>
                  <a:srgbClr val="F4F0E5"/>
                </a:solidFill>
                <a:latin typeface="Arial"/>
                <a:ea typeface="Arial"/>
                <a:cs typeface="Arial"/>
              </a:rPr>
              <a:t>FIGHT</a:t>
            </a:r>
          </a:p>
        </p:txBody>
      </p:sp>
      <p:sp>
        <p:nvSpPr>
          <p:cNvPr id="13" name="stage detail FIGHT">
            <a:extLst xmlns:a="http://schemas.openxmlformats.org/drawingml/2006/main">
              <a:ext uri="{FF2B5EF4-FFF2-40B4-BE49-F238E27FC236}">
                <a16:creationId xmlns:a16="http://schemas.microsoft.com/office/drawing/2014/main" id="{8C7FF6AB-7DCA-40DD-B5FC-12FDE0C08E0F}"/>
              </a:ext>
            </a:extLst>
          </p:cNvPr>
          <p:cNvSpPr>
            <a:spLocks xmlns:a="http://schemas.openxmlformats.org/drawingml/2006/main" noGrp="1"/>
          </p:cNvSpPr>
          <p:nvPr/>
        </p:nvSpPr>
        <p:spPr>
          <a:xfrm xmlns:a="http://schemas.openxmlformats.org/drawingml/2006/main">
            <a:off x="3333750" y="3143250"/>
            <a:ext cx="21145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ABB2BC"/>
                </a:solidFill>
                <a:latin typeface="Arial"/>
                <a:ea typeface="Arial"/>
                <a:cs typeface="Arial"/>
              </a:defRPr>
            </a:defPPr>
          </a:lstStyle>
          <a:p xmlns:a="http://schemas.openxmlformats.org/drawingml/2006/main">
            <a:pPr algn="l">
              <a:defRPr sz="1425" b="0">
                <a:solidFill>
                  <a:srgbClr val="ABB2BC"/>
                </a:solidFill>
                <a:latin typeface="Arial"/>
                <a:ea typeface="Arial"/>
                <a:cs typeface="Arial"/>
              </a:defRPr>
            </a:pPr>
            <a:r>
              <a:rPr sz="1425" b="0">
                <a:solidFill>
                  <a:srgbClr val="ABB2BC"/>
                </a:solidFill>
                <a:latin typeface="Arial"/>
                <a:ea typeface="Arial"/>
                <a:cs typeface="Arial"/>
              </a:rPr>
              <a:t>Read enemy wind-ups, manage stamina and choose an opening.</a:t>
            </a:r>
          </a:p>
        </p:txBody>
      </p:sp>
      <p:sp>
        <p:nvSpPr>
          <p:cNvPr id="14" name="loop connector 1">
            <a:extLst xmlns:a="http://schemas.openxmlformats.org/drawingml/2006/main">
              <a:ext uri="{FF2B5EF4-FFF2-40B4-BE49-F238E27FC236}">
                <a16:creationId xmlns:a16="http://schemas.microsoft.com/office/drawing/2014/main" id="{3B93E836-E76F-4780-AB8B-E668E09A145C}"/>
              </a:ext>
            </a:extLst>
          </p:cNvPr>
          <p:cNvSpPr>
            <a:spLocks xmlns:a="http://schemas.openxmlformats.org/drawingml/2006/main" noGrp="1"/>
          </p:cNvSpPr>
          <p:nvPr/>
        </p:nvSpPr>
        <p:spPr>
          <a:xfrm xmlns:a="http://schemas.openxmlformats.org/drawingml/2006/main">
            <a:off x="5591175" y="2752725"/>
            <a:ext cx="400050" cy="19050"/>
          </a:xfrm>
          <a:prstGeom xmlns:a="http://schemas.openxmlformats.org/drawingml/2006/main" prst="rect">
            <a:avLst/>
          </a:prstGeom>
          <a:solidFill xmlns:a="http://schemas.openxmlformats.org/drawingml/2006/main">
            <a:srgbClr val="4C515B"/>
          </a:solidFill>
          <a:ln xmlns:a="http://schemas.openxmlformats.org/drawingml/2006/main" w="0">
            <a:noFill/>
            <a:prstDash val="solid"/>
          </a:ln>
        </p:spPr>
      </p:sp>
      <p:sp>
        <p:nvSpPr>
          <p:cNvPr id="15" name="connector head 1">
            <a:extLst xmlns:a="http://schemas.openxmlformats.org/drawingml/2006/main">
              <a:ext uri="{FF2B5EF4-FFF2-40B4-BE49-F238E27FC236}">
                <a16:creationId xmlns:a16="http://schemas.microsoft.com/office/drawing/2014/main" id="{C1A7E111-5C0C-40A4-981E-283F046B37C8}"/>
              </a:ext>
            </a:extLst>
          </p:cNvPr>
          <p:cNvSpPr>
            <a:spLocks xmlns:a="http://schemas.openxmlformats.org/drawingml/2006/main" noGrp="1"/>
          </p:cNvSpPr>
          <p:nvPr/>
        </p:nvSpPr>
        <p:spPr>
          <a:xfrm xmlns:a="http://schemas.openxmlformats.org/drawingml/2006/main">
            <a:off x="5610225" y="2533650"/>
            <a:ext cx="38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00" b="1">
                <a:solidFill>
                  <a:srgbClr val="E7A94B"/>
                </a:solidFill>
                <a:latin typeface="Arial"/>
                <a:ea typeface="Arial"/>
                <a:cs typeface="Arial"/>
              </a:defRPr>
            </a:defPPr>
          </a:lstStyle>
          <a:p xmlns:a="http://schemas.openxmlformats.org/drawingml/2006/main">
            <a:pPr algn="l">
              <a:defRPr sz="2100" b="1">
                <a:solidFill>
                  <a:srgbClr val="E7A94B"/>
                </a:solidFill>
                <a:latin typeface="Arial"/>
                <a:ea typeface="Arial"/>
                <a:cs typeface="Arial"/>
              </a:defRPr>
            </a:pPr>
            <a:r>
              <a:rPr sz="2100" b="1">
                <a:solidFill>
                  <a:srgbClr val="E7A94B"/>
                </a:solidFill>
                <a:latin typeface="Arial"/>
                <a:ea typeface="Arial"/>
                <a:cs typeface="Arial"/>
              </a:rPr>
              <a:t>›</a:t>
            </a:r>
          </a:p>
        </p:txBody>
      </p:sp>
      <p:sp>
        <p:nvSpPr>
          <p:cNvPr id="16" name="label RECOVER">
            <a:extLst xmlns:a="http://schemas.openxmlformats.org/drawingml/2006/main">
              <a:ext uri="{FF2B5EF4-FFF2-40B4-BE49-F238E27FC236}">
                <a16:creationId xmlns:a16="http://schemas.microsoft.com/office/drawing/2014/main" id="{6405EB7E-E5A2-47D6-952F-91CD6CF71537}"/>
              </a:ext>
            </a:extLst>
          </p:cNvPr>
          <p:cNvSpPr>
            <a:spLocks xmlns:a="http://schemas.openxmlformats.org/drawingml/2006/main" noGrp="1"/>
          </p:cNvSpPr>
          <p:nvPr/>
        </p:nvSpPr>
        <p:spPr>
          <a:xfrm xmlns:a="http://schemas.openxmlformats.org/drawingml/2006/main">
            <a:off x="5924550" y="21907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70B6A7"/>
                </a:solidFill>
                <a:latin typeface="Arial"/>
                <a:ea typeface="Arial"/>
                <a:cs typeface="Arial"/>
              </a:defRPr>
            </a:defPPr>
          </a:lstStyle>
          <a:p xmlns:a="http://schemas.openxmlformats.org/drawingml/2006/main">
            <a:pPr algn="l">
              <a:defRPr sz="900" b="1">
                <a:solidFill>
                  <a:srgbClr val="70B6A7"/>
                </a:solidFill>
                <a:latin typeface="Arial"/>
                <a:ea typeface="Arial"/>
                <a:cs typeface="Arial"/>
              </a:defRPr>
            </a:pPr>
            <a:r>
              <a:rPr sz="900" b="1">
                <a:solidFill>
                  <a:srgbClr val="70B6A7"/>
                </a:solidFill>
                <a:latin typeface="Arial"/>
                <a:ea typeface="Arial"/>
                <a:cs typeface="Arial"/>
              </a:rPr>
              <a:t>RECOVER</a:t>
            </a:r>
          </a:p>
        </p:txBody>
      </p:sp>
      <p:sp>
        <p:nvSpPr>
          <p:cNvPr id="17" name="stage RECOVER">
            <a:extLst xmlns:a="http://schemas.openxmlformats.org/drawingml/2006/main">
              <a:ext uri="{FF2B5EF4-FFF2-40B4-BE49-F238E27FC236}">
                <a16:creationId xmlns:a16="http://schemas.microsoft.com/office/drawing/2014/main" id="{C53A6DC1-0D76-45A7-9AF8-053A7FC4D9E8}"/>
              </a:ext>
            </a:extLst>
          </p:cNvPr>
          <p:cNvSpPr>
            <a:spLocks xmlns:a="http://schemas.openxmlformats.org/drawingml/2006/main" noGrp="1"/>
          </p:cNvSpPr>
          <p:nvPr/>
        </p:nvSpPr>
        <p:spPr>
          <a:xfrm xmlns:a="http://schemas.openxmlformats.org/drawingml/2006/main">
            <a:off x="5924550" y="2533650"/>
            <a:ext cx="2333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250" b="1">
                <a:solidFill>
                  <a:srgbClr val="F4F0E5"/>
                </a:solidFill>
                <a:latin typeface="Arial"/>
                <a:ea typeface="Arial"/>
                <a:cs typeface="Arial"/>
              </a:defRPr>
            </a:defPPr>
          </a:lstStyle>
          <a:p xmlns:a="http://schemas.openxmlformats.org/drawingml/2006/main">
            <a:pPr algn="l">
              <a:defRPr sz="2250" b="1">
                <a:solidFill>
                  <a:srgbClr val="F4F0E5"/>
                </a:solidFill>
                <a:latin typeface="Arial"/>
                <a:ea typeface="Arial"/>
                <a:cs typeface="Arial"/>
              </a:defRPr>
            </a:pPr>
            <a:r>
              <a:rPr sz="2250" b="1">
                <a:solidFill>
                  <a:srgbClr val="F4F0E5"/>
                </a:solidFill>
                <a:latin typeface="Arial"/>
                <a:ea typeface="Arial"/>
                <a:cs typeface="Arial"/>
              </a:rPr>
              <a:t>RECOVER</a:t>
            </a:r>
          </a:p>
        </p:txBody>
      </p:sp>
      <p:sp>
        <p:nvSpPr>
          <p:cNvPr id="18" name="stage detail RECOVER">
            <a:extLst xmlns:a="http://schemas.openxmlformats.org/drawingml/2006/main">
              <a:ext uri="{FF2B5EF4-FFF2-40B4-BE49-F238E27FC236}">
                <a16:creationId xmlns:a16="http://schemas.microsoft.com/office/drawing/2014/main" id="{EB5E3A98-B1D3-4BDE-B4E4-C9AD29ED5E0D}"/>
              </a:ext>
            </a:extLst>
          </p:cNvPr>
          <p:cNvSpPr>
            <a:spLocks xmlns:a="http://schemas.openxmlformats.org/drawingml/2006/main" noGrp="1"/>
          </p:cNvSpPr>
          <p:nvPr/>
        </p:nvSpPr>
        <p:spPr>
          <a:xfrm xmlns:a="http://schemas.openxmlformats.org/drawingml/2006/main">
            <a:off x="5924550" y="3143250"/>
            <a:ext cx="21145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ABB2BC"/>
                </a:solidFill>
                <a:latin typeface="Arial"/>
                <a:ea typeface="Arial"/>
                <a:cs typeface="Arial"/>
              </a:defRPr>
            </a:defPPr>
          </a:lstStyle>
          <a:p xmlns:a="http://schemas.openxmlformats.org/drawingml/2006/main">
            <a:pPr algn="l">
              <a:defRPr sz="1425" b="0">
                <a:solidFill>
                  <a:srgbClr val="ABB2BC"/>
                </a:solidFill>
                <a:latin typeface="Arial"/>
                <a:ea typeface="Arial"/>
                <a:cs typeface="Arial"/>
              </a:defRPr>
            </a:pPr>
            <a:r>
              <a:rPr sz="1425" b="0">
                <a:solidFill>
                  <a:srgbClr val="ABB2BC"/>
                </a:solidFill>
                <a:latin typeface="Arial"/>
                <a:ea typeface="Arial"/>
                <a:cs typeface="Arial"/>
              </a:rPr>
              <a:t>Compare loot, equip upgrades and restore health or mana.</a:t>
            </a:r>
          </a:p>
        </p:txBody>
      </p:sp>
      <p:sp>
        <p:nvSpPr>
          <p:cNvPr id="19" name="loop connector 2">
            <a:extLst xmlns:a="http://schemas.openxmlformats.org/drawingml/2006/main">
              <a:ext uri="{FF2B5EF4-FFF2-40B4-BE49-F238E27FC236}">
                <a16:creationId xmlns:a16="http://schemas.microsoft.com/office/drawing/2014/main" id="{8E89D9E8-9AE3-4C98-AC65-0ECDFA92540F}"/>
              </a:ext>
            </a:extLst>
          </p:cNvPr>
          <p:cNvSpPr>
            <a:spLocks xmlns:a="http://schemas.openxmlformats.org/drawingml/2006/main" noGrp="1"/>
          </p:cNvSpPr>
          <p:nvPr/>
        </p:nvSpPr>
        <p:spPr>
          <a:xfrm xmlns:a="http://schemas.openxmlformats.org/drawingml/2006/main">
            <a:off x="8181975" y="2752725"/>
            <a:ext cx="400050" cy="19050"/>
          </a:xfrm>
          <a:prstGeom xmlns:a="http://schemas.openxmlformats.org/drawingml/2006/main" prst="rect">
            <a:avLst/>
          </a:prstGeom>
          <a:solidFill xmlns:a="http://schemas.openxmlformats.org/drawingml/2006/main">
            <a:srgbClr val="4C515B"/>
          </a:solidFill>
          <a:ln xmlns:a="http://schemas.openxmlformats.org/drawingml/2006/main" w="0">
            <a:noFill/>
            <a:prstDash val="solid"/>
          </a:ln>
        </p:spPr>
      </p:sp>
      <p:sp>
        <p:nvSpPr>
          <p:cNvPr id="20" name="connector head 2">
            <a:extLst xmlns:a="http://schemas.openxmlformats.org/drawingml/2006/main">
              <a:ext uri="{FF2B5EF4-FFF2-40B4-BE49-F238E27FC236}">
                <a16:creationId xmlns:a16="http://schemas.microsoft.com/office/drawing/2014/main" id="{024BE4A0-757E-4EEA-89ED-EFFABDDD3448}"/>
              </a:ext>
            </a:extLst>
          </p:cNvPr>
          <p:cNvSpPr>
            <a:spLocks xmlns:a="http://schemas.openxmlformats.org/drawingml/2006/main" noGrp="1"/>
          </p:cNvSpPr>
          <p:nvPr/>
        </p:nvSpPr>
        <p:spPr>
          <a:xfrm xmlns:a="http://schemas.openxmlformats.org/drawingml/2006/main">
            <a:off x="8201025" y="2533650"/>
            <a:ext cx="38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00" b="1">
                <a:solidFill>
                  <a:srgbClr val="E7A94B"/>
                </a:solidFill>
                <a:latin typeface="Arial"/>
                <a:ea typeface="Arial"/>
                <a:cs typeface="Arial"/>
              </a:defRPr>
            </a:defPPr>
          </a:lstStyle>
          <a:p xmlns:a="http://schemas.openxmlformats.org/drawingml/2006/main">
            <a:pPr algn="l">
              <a:defRPr sz="2100" b="1">
                <a:solidFill>
                  <a:srgbClr val="E7A94B"/>
                </a:solidFill>
                <a:latin typeface="Arial"/>
                <a:ea typeface="Arial"/>
                <a:cs typeface="Arial"/>
              </a:defRPr>
            </a:pPr>
            <a:r>
              <a:rPr sz="2100" b="1">
                <a:solidFill>
                  <a:srgbClr val="E7A94B"/>
                </a:solidFill>
                <a:latin typeface="Arial"/>
                <a:ea typeface="Arial"/>
                <a:cs typeface="Arial"/>
              </a:rPr>
              <a:t>›</a:t>
            </a:r>
          </a:p>
        </p:txBody>
      </p:sp>
      <p:sp>
        <p:nvSpPr>
          <p:cNvPr id="21" name="label DESCEND">
            <a:extLst xmlns:a="http://schemas.openxmlformats.org/drawingml/2006/main">
              <a:ext uri="{FF2B5EF4-FFF2-40B4-BE49-F238E27FC236}">
                <a16:creationId xmlns:a16="http://schemas.microsoft.com/office/drawing/2014/main" id="{B770893A-8A0E-436A-AB9F-7A70B357AAA2}"/>
              </a:ext>
            </a:extLst>
          </p:cNvPr>
          <p:cNvSpPr>
            <a:spLocks xmlns:a="http://schemas.openxmlformats.org/drawingml/2006/main" noGrp="1"/>
          </p:cNvSpPr>
          <p:nvPr/>
        </p:nvSpPr>
        <p:spPr>
          <a:xfrm xmlns:a="http://schemas.openxmlformats.org/drawingml/2006/main">
            <a:off x="8515350" y="21907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E7A94B"/>
                </a:solidFill>
                <a:latin typeface="Arial"/>
                <a:ea typeface="Arial"/>
                <a:cs typeface="Arial"/>
              </a:defRPr>
            </a:defPPr>
          </a:lstStyle>
          <a:p xmlns:a="http://schemas.openxmlformats.org/drawingml/2006/main">
            <a:pPr algn="l">
              <a:defRPr sz="900" b="1">
                <a:solidFill>
                  <a:srgbClr val="E7A94B"/>
                </a:solidFill>
                <a:latin typeface="Arial"/>
                <a:ea typeface="Arial"/>
                <a:cs typeface="Arial"/>
              </a:defRPr>
            </a:pPr>
            <a:r>
              <a:rPr sz="900" b="1">
                <a:solidFill>
                  <a:srgbClr val="E7A94B"/>
                </a:solidFill>
                <a:latin typeface="Arial"/>
                <a:ea typeface="Arial"/>
                <a:cs typeface="Arial"/>
              </a:rPr>
              <a:t>DESCEND</a:t>
            </a:r>
          </a:p>
        </p:txBody>
      </p:sp>
      <p:sp>
        <p:nvSpPr>
          <p:cNvPr id="22" name="stage DESCEND">
            <a:extLst xmlns:a="http://schemas.openxmlformats.org/drawingml/2006/main">
              <a:ext uri="{FF2B5EF4-FFF2-40B4-BE49-F238E27FC236}">
                <a16:creationId xmlns:a16="http://schemas.microsoft.com/office/drawing/2014/main" id="{01762123-46CB-490C-9CCB-B32E8ACB2AE8}"/>
              </a:ext>
            </a:extLst>
          </p:cNvPr>
          <p:cNvSpPr>
            <a:spLocks xmlns:a="http://schemas.openxmlformats.org/drawingml/2006/main" noGrp="1"/>
          </p:cNvSpPr>
          <p:nvPr/>
        </p:nvSpPr>
        <p:spPr>
          <a:xfrm xmlns:a="http://schemas.openxmlformats.org/drawingml/2006/main">
            <a:off x="8515350" y="2533650"/>
            <a:ext cx="2333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250" b="1">
                <a:solidFill>
                  <a:srgbClr val="F4F0E5"/>
                </a:solidFill>
                <a:latin typeface="Arial"/>
                <a:ea typeface="Arial"/>
                <a:cs typeface="Arial"/>
              </a:defRPr>
            </a:defPPr>
          </a:lstStyle>
          <a:p xmlns:a="http://schemas.openxmlformats.org/drawingml/2006/main">
            <a:pPr algn="l">
              <a:defRPr sz="2250" b="1">
                <a:solidFill>
                  <a:srgbClr val="F4F0E5"/>
                </a:solidFill>
                <a:latin typeface="Arial"/>
                <a:ea typeface="Arial"/>
                <a:cs typeface="Arial"/>
              </a:defRPr>
            </a:pPr>
            <a:r>
              <a:rPr sz="2250" b="1">
                <a:solidFill>
                  <a:srgbClr val="F4F0E5"/>
                </a:solidFill>
                <a:latin typeface="Arial"/>
                <a:ea typeface="Arial"/>
                <a:cs typeface="Arial"/>
              </a:rPr>
              <a:t>DESCEND</a:t>
            </a:r>
          </a:p>
        </p:txBody>
      </p:sp>
      <p:sp>
        <p:nvSpPr>
          <p:cNvPr id="23" name="stage detail DESCEND">
            <a:extLst xmlns:a="http://schemas.openxmlformats.org/drawingml/2006/main">
              <a:ext uri="{FF2B5EF4-FFF2-40B4-BE49-F238E27FC236}">
                <a16:creationId xmlns:a16="http://schemas.microsoft.com/office/drawing/2014/main" id="{DA45F295-5005-40A7-8689-2B187200B103}"/>
              </a:ext>
            </a:extLst>
          </p:cNvPr>
          <p:cNvSpPr>
            <a:spLocks xmlns:a="http://schemas.openxmlformats.org/drawingml/2006/main" noGrp="1"/>
          </p:cNvSpPr>
          <p:nvPr/>
        </p:nvSpPr>
        <p:spPr>
          <a:xfrm xmlns:a="http://schemas.openxmlformats.org/drawingml/2006/main">
            <a:off x="8515350" y="3143250"/>
            <a:ext cx="21145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0">
                <a:solidFill>
                  <a:srgbClr val="ABB2BC"/>
                </a:solidFill>
                <a:latin typeface="Arial"/>
                <a:ea typeface="Arial"/>
                <a:cs typeface="Arial"/>
              </a:defRPr>
            </a:defPPr>
          </a:lstStyle>
          <a:p xmlns:a="http://schemas.openxmlformats.org/drawingml/2006/main">
            <a:pPr algn="l">
              <a:defRPr sz="1425" b="0">
                <a:solidFill>
                  <a:srgbClr val="ABB2BC"/>
                </a:solidFill>
                <a:latin typeface="Arial"/>
                <a:ea typeface="Arial"/>
                <a:cs typeface="Arial"/>
              </a:defRPr>
            </a:pPr>
            <a:r>
              <a:rPr sz="1425" b="0">
                <a:solidFill>
                  <a:srgbClr val="ABB2BC"/>
                </a:solidFill>
                <a:latin typeface="Arial"/>
                <a:ea typeface="Arial"/>
                <a:cs typeface="Arial"/>
              </a:rPr>
              <a:t>Keep gear and skills as the next floor raises the pressure.</a:t>
            </a:r>
          </a:p>
        </p:txBody>
      </p:sp>
      <p:sp>
        <p:nvSpPr>
          <p:cNvPr id="24" name="carry strip">
            <a:extLst xmlns:a="http://schemas.openxmlformats.org/drawingml/2006/main">
              <a:ext uri="{FF2B5EF4-FFF2-40B4-BE49-F238E27FC236}">
                <a16:creationId xmlns:a16="http://schemas.microsoft.com/office/drawing/2014/main" id="{59E13A3D-EA55-48E9-A37E-67E091F16FA4}"/>
              </a:ext>
            </a:extLst>
          </p:cNvPr>
          <p:cNvSpPr>
            <a:spLocks xmlns:a="http://schemas.openxmlformats.org/drawingml/2006/main" noGrp="1"/>
          </p:cNvSpPr>
          <p:nvPr/>
        </p:nvSpPr>
        <p:spPr>
          <a:xfrm xmlns:a="http://schemas.openxmlformats.org/drawingml/2006/main">
            <a:off x="733425" y="4981575"/>
            <a:ext cx="10572750" cy="9525"/>
          </a:xfrm>
          <a:prstGeom xmlns:a="http://schemas.openxmlformats.org/drawingml/2006/main" prst="rect">
            <a:avLst/>
          </a:prstGeom>
          <a:solidFill xmlns:a="http://schemas.openxmlformats.org/drawingml/2006/main">
            <a:srgbClr val="353D48"/>
          </a:solidFill>
          <a:ln xmlns:a="http://schemas.openxmlformats.org/drawingml/2006/main" w="0">
            <a:noFill/>
            <a:prstDash val="solid"/>
          </a:ln>
        </p:spPr>
      </p:sp>
      <p:sp>
        <p:nvSpPr>
          <p:cNvPr id="25" name="carry heading">
            <a:extLst xmlns:a="http://schemas.openxmlformats.org/drawingml/2006/main">
              <a:ext uri="{FF2B5EF4-FFF2-40B4-BE49-F238E27FC236}">
                <a16:creationId xmlns:a16="http://schemas.microsoft.com/office/drawing/2014/main" id="{FAF4AC70-711C-4BB6-AE72-DB4DFE813B4C}"/>
              </a:ext>
            </a:extLst>
          </p:cNvPr>
          <p:cNvSpPr>
            <a:spLocks xmlns:a="http://schemas.openxmlformats.org/drawingml/2006/main" noGrp="1"/>
          </p:cNvSpPr>
          <p:nvPr/>
        </p:nvSpPr>
        <p:spPr>
          <a:xfrm xmlns:a="http://schemas.openxmlformats.org/drawingml/2006/main">
            <a:off x="742950" y="52197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E7A94B"/>
                </a:solidFill>
                <a:latin typeface="Arial"/>
                <a:ea typeface="Arial"/>
                <a:cs typeface="Arial"/>
              </a:defRPr>
            </a:defPPr>
          </a:lstStyle>
          <a:p xmlns:a="http://schemas.openxmlformats.org/drawingml/2006/main">
            <a:pPr algn="l">
              <a:defRPr sz="1050" b="1">
                <a:solidFill>
                  <a:srgbClr val="E7A94B"/>
                </a:solidFill>
                <a:latin typeface="Arial"/>
                <a:ea typeface="Arial"/>
                <a:cs typeface="Arial"/>
              </a:defRPr>
            </a:pPr>
            <a:r>
              <a:rPr sz="1050" b="1">
                <a:solidFill>
                  <a:srgbClr val="E7A94B"/>
                </a:solidFill>
                <a:latin typeface="Arial"/>
                <a:ea typeface="Arial"/>
                <a:cs typeface="Arial"/>
              </a:rPr>
              <a:t>PROGRESS CARRIES BETWEEN FLOORS</a:t>
            </a:r>
          </a:p>
        </p:txBody>
      </p:sp>
      <p:sp>
        <p:nvSpPr>
          <p:cNvPr id="26" name="carry detail">
            <a:extLst xmlns:a="http://schemas.openxmlformats.org/drawingml/2006/main">
              <a:ext uri="{FF2B5EF4-FFF2-40B4-BE49-F238E27FC236}">
                <a16:creationId xmlns:a16="http://schemas.microsoft.com/office/drawing/2014/main" id="{D84E8134-71D8-480A-83BB-9C72037B0D06}"/>
              </a:ext>
            </a:extLst>
          </p:cNvPr>
          <p:cNvSpPr>
            <a:spLocks xmlns:a="http://schemas.openxmlformats.org/drawingml/2006/main" noGrp="1"/>
          </p:cNvSpPr>
          <p:nvPr/>
        </p:nvSpPr>
        <p:spPr>
          <a:xfrm xmlns:a="http://schemas.openxmlformats.org/drawingml/2006/main">
            <a:off x="742950" y="552450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F4F0E5"/>
                </a:solidFill>
                <a:latin typeface="Arial"/>
                <a:ea typeface="Arial"/>
                <a:cs typeface="Arial"/>
              </a:defRPr>
            </a:defPPr>
          </a:lstStyle>
          <a:p xmlns:a="http://schemas.openxmlformats.org/drawingml/2006/main">
            <a:pPr algn="l">
              <a:defRPr sz="1575" b="0">
                <a:solidFill>
                  <a:srgbClr val="F4F0E5"/>
                </a:solidFill>
                <a:latin typeface="Arial"/>
                <a:ea typeface="Arial"/>
                <a:cs typeface="Arial"/>
              </a:defRPr>
            </a:pPr>
            <a:r>
              <a:rPr sz="1575" b="0">
                <a:solidFill>
                  <a:srgbClr val="F4F0E5"/>
                </a:solidFill>
                <a:latin typeface="Arial"/>
                <a:ea typeface="Arial"/>
                <a:cs typeface="Arial"/>
              </a:rPr>
              <a:t>Equipment  /  character level  /  skills  /  health and mana  /  supplies</a:t>
            </a:r>
          </a:p>
        </p:txBody>
      </p:sp>
    </p:spTree>
    <p:extLst>
      <p:ext uri="{BB962C8B-B14F-4D97-AF65-F5344CB8AC3E}">
        <p14:creationId xmlns:p14="http://schemas.microsoft.com/office/powerpoint/2010/main" val="91223878"/>
      </p:ext>
    </p:extLst>
  </p:cSld>
</p:sld>
</file>

<file path=ppt/slides/slide4.xml><?xml version="1.0" encoding="utf-8"?>
<p:sld xmlns:p="http://schemas.openxmlformats.org/presentationml/2006/main">
  <p:cSld>
    <p:bg>
      <p:bgPr>
        <a:solidFill xmlns:a="http://schemas.openxmlformats.org/drawingml/2006/main">
          <a:srgbClr val="10131A"/>
        </a:solidFill>
      </p:bgPr>
    </p:bg>
    <p:spTree>
      <p:nvGrpSpPr>
        <p:cNvPr id="1" name=""/>
        <p:cNvGrpSpPr/>
        <p:nvPr/>
      </p:nvGrpSpPr>
      <p:grpSpPr>
        <a:xfrm xmlns:a="http://schemas.openxmlformats.org/drawingml/2006/main"/>
      </p:grpSpPr>
      <p:sp>
        <p:nvSpPr>
          <p:cNvPr id="19" name="title">
            <a:extLst xmlns:a="http://schemas.openxmlformats.org/drawingml/2006/main">
              <a:ext uri="{FF2B5EF4-FFF2-40B4-BE49-F238E27FC236}">
                <a16:creationId xmlns:a16="http://schemas.microsoft.com/office/drawing/2014/main" id="{58BA1537-5969-4EF4-A961-AF970B88D3E3}"/>
              </a:ext>
            </a:extLst>
          </p:cNvPr>
          <p:cNvSpPr>
            <a:spLocks xmlns:a="http://schemas.openxmlformats.org/drawingml/2006/main" noGrp="1"/>
          </p:cNvSpPr>
          <p:nvPr/>
        </p:nvSpPr>
        <p:spPr>
          <a:xfrm xmlns:a="http://schemas.openxmlformats.org/drawingml/2006/main">
            <a:off x="647700" y="3810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F4F0E5"/>
                </a:solidFill>
                <a:latin typeface="Arial"/>
                <a:ea typeface="Arial"/>
                <a:cs typeface="Arial"/>
              </a:defRPr>
            </a:defPPr>
          </a:lstStyle>
          <a:p xmlns:a="http://schemas.openxmlformats.org/drawingml/2006/main">
            <a:pPr algn="l">
              <a:defRPr sz="2850" b="1">
                <a:solidFill>
                  <a:srgbClr val="F4F0E5"/>
                </a:solidFill>
                <a:latin typeface="Arial"/>
                <a:ea typeface="Arial"/>
                <a:cs typeface="Arial"/>
              </a:defRPr>
            </a:pPr>
            <a:r>
              <a:rPr sz="2850" b="1">
                <a:solidFill>
                  <a:srgbClr val="F4F0E5"/>
                </a:solidFill>
                <a:latin typeface="Arial"/>
                <a:ea typeface="Arial"/>
                <a:cs typeface="Arial"/>
              </a:rPr>
              <a:t>Every attack spends a defensive resource</a:t>
            </a:r>
          </a:p>
        </p:txBody>
      </p:sp>
      <p:sp>
        <p:nvSpPr>
          <p:cNvPr id="2" name="title rule">
            <a:extLst xmlns:a="http://schemas.openxmlformats.org/drawingml/2006/main">
              <a:ext uri="{FF2B5EF4-FFF2-40B4-BE49-F238E27FC236}">
                <a16:creationId xmlns:a16="http://schemas.microsoft.com/office/drawing/2014/main" id="{0E82D006-5453-472C-8192-F171BFA76200}"/>
              </a:ext>
            </a:extLst>
          </p:cNvPr>
          <p:cNvSpPr>
            <a:spLocks xmlns:a="http://schemas.openxmlformats.org/drawingml/2006/main" noGrp="1"/>
          </p:cNvSpPr>
          <p:nvPr/>
        </p:nvSpPr>
        <p:spPr>
          <a:xfrm xmlns:a="http://schemas.openxmlformats.org/drawingml/2006/main">
            <a:off x="647700" y="1028700"/>
            <a:ext cx="647700" cy="38100"/>
          </a:xfrm>
          <a:prstGeom xmlns:a="http://schemas.openxmlformats.org/drawingml/2006/main" prst="rect">
            <a:avLst/>
          </a:prstGeom>
          <a:solidFill xmlns:a="http://schemas.openxmlformats.org/drawingml/2006/main">
            <a:srgbClr val="E7A94B"/>
          </a:solidFill>
          <a:ln xmlns:a="http://schemas.openxmlformats.org/drawingml/2006/main" w="0">
            <a:noFill/>
            <a:prstDash val="solid"/>
          </a:ln>
        </p:spPr>
      </p:sp>
      <p:sp>
        <p:nvSpPr>
          <p:cNvPr id="3" name="subtitle">
            <a:extLst xmlns:a="http://schemas.openxmlformats.org/drawingml/2006/main">
              <a:ext uri="{FF2B5EF4-FFF2-40B4-BE49-F238E27FC236}">
                <a16:creationId xmlns:a16="http://schemas.microsoft.com/office/drawing/2014/main" id="{239D3539-3604-4E5F-94C3-079831ED7C24}"/>
              </a:ext>
            </a:extLst>
          </p:cNvPr>
          <p:cNvSpPr>
            <a:spLocks xmlns:a="http://schemas.openxmlformats.org/drawingml/2006/main" noGrp="1"/>
          </p:cNvSpPr>
          <p:nvPr/>
        </p:nvSpPr>
        <p:spPr>
          <a:xfrm xmlns:a="http://schemas.openxmlformats.org/drawingml/2006/main">
            <a:off x="647700" y="117157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ABB2BC"/>
                </a:solidFill>
                <a:latin typeface="Arial"/>
                <a:ea typeface="Arial"/>
                <a:cs typeface="Arial"/>
              </a:defRPr>
            </a:defPPr>
          </a:lstStyle>
          <a:p xmlns:a="http://schemas.openxmlformats.org/drawingml/2006/main">
            <a:pPr algn="l">
              <a:defRPr sz="1275" b="0">
                <a:solidFill>
                  <a:srgbClr val="ABB2BC"/>
                </a:solidFill>
                <a:latin typeface="Arial"/>
                <a:ea typeface="Arial"/>
                <a:cs typeface="Arial"/>
              </a:defRPr>
            </a:pPr>
            <a:r>
              <a:rPr sz="1275" b="0">
                <a:solidFill>
                  <a:srgbClr val="ABB2BC"/>
                </a:solidFill>
                <a:latin typeface="Arial"/>
                <a:ea typeface="Arial"/>
                <a:cs typeface="Arial"/>
              </a:rPr>
              <a:t>Attack, block, move or cast: the next choice depends on stamina and positioning</a:t>
            </a:r>
          </a:p>
        </p:txBody>
      </p:sp>
      <p:sp>
        <p:nvSpPr>
          <p:cNvPr id="4" name="wordmark">
            <a:extLst xmlns:a="http://schemas.openxmlformats.org/drawingml/2006/main">
              <a:ext uri="{FF2B5EF4-FFF2-40B4-BE49-F238E27FC236}">
                <a16:creationId xmlns:a16="http://schemas.microsoft.com/office/drawing/2014/main" id="{9123A174-90C6-444E-83E6-587A622DC695}"/>
              </a:ext>
            </a:extLst>
          </p:cNvPr>
          <p:cNvSpPr>
            <a:spLocks xmlns:a="http://schemas.openxmlformats.org/drawingml/2006/main" noGrp="1"/>
          </p:cNvSpPr>
          <p:nvPr/>
        </p:nvSpPr>
        <p:spPr>
          <a:xfrm xmlns:a="http://schemas.openxmlformats.org/drawingml/2006/main">
            <a:off x="647700" y="64389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737D89"/>
                </a:solidFill>
                <a:latin typeface="Arial"/>
                <a:ea typeface="Arial"/>
                <a:cs typeface="Arial"/>
              </a:defRPr>
            </a:defPPr>
          </a:lstStyle>
          <a:p xmlns:a="http://schemas.openxmlformats.org/drawingml/2006/main">
            <a:pPr algn="l">
              <a:defRPr sz="900" b="1">
                <a:solidFill>
                  <a:srgbClr val="737D89"/>
                </a:solidFill>
                <a:latin typeface="Arial"/>
                <a:ea typeface="Arial"/>
                <a:cs typeface="Arial"/>
              </a:defRPr>
            </a:pPr>
            <a:r>
              <a:rPr sz="900" b="1">
                <a:solidFill>
                  <a:srgbClr val="737D89"/>
                </a:solidFill>
                <a:latin typeface="Arial"/>
                <a:ea typeface="Arial"/>
                <a:cs typeface="Arial"/>
              </a:rPr>
              <a:t>LOOMROOM</a:t>
            </a:r>
          </a:p>
        </p:txBody>
      </p:sp>
      <p:sp>
        <p:nvSpPr>
          <p:cNvPr id="5" name="page">
            <a:extLst xmlns:a="http://schemas.openxmlformats.org/drawingml/2006/main">
              <a:ext uri="{FF2B5EF4-FFF2-40B4-BE49-F238E27FC236}">
                <a16:creationId xmlns:a16="http://schemas.microsoft.com/office/drawing/2014/main" id="{BB1AA510-3749-4F30-81B4-018269EF6520}"/>
              </a:ext>
            </a:extLst>
          </p:cNvPr>
          <p:cNvSpPr>
            <a:spLocks xmlns:a="http://schemas.openxmlformats.org/drawingml/2006/main" noGrp="1"/>
          </p:cNvSpPr>
          <p:nvPr/>
        </p:nvSpPr>
        <p:spPr>
          <a:xfrm xmlns:a="http://schemas.openxmlformats.org/drawingml/2006/main">
            <a:off x="11201400" y="64389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00" b="0">
                <a:solidFill>
                  <a:srgbClr val="737D89"/>
                </a:solidFill>
                <a:latin typeface="Arial"/>
                <a:ea typeface="Arial"/>
                <a:cs typeface="Arial"/>
              </a:defRPr>
            </a:defPPr>
          </a:lstStyle>
          <a:p xmlns:a="http://schemas.openxmlformats.org/drawingml/2006/main">
            <a:pPr algn="r">
              <a:defRPr sz="900" b="0">
                <a:solidFill>
                  <a:srgbClr val="737D89"/>
                </a:solidFill>
                <a:latin typeface="Arial"/>
                <a:ea typeface="Arial"/>
                <a:cs typeface="Arial"/>
              </a:defRPr>
            </a:pPr>
            <a:r>
              <a:rPr sz="900" b="0">
                <a:solidFill>
                  <a:srgbClr val="737D89"/>
                </a:solidFill>
                <a:latin typeface="Arial"/>
                <a:ea typeface="Arial"/>
                <a:cs typeface="Arial"/>
              </a:rPr>
              <a:t>04</a:t>
            </a:r>
          </a:p>
        </p:txBody>
      </p:sp>
      <p:pic>
        <p:nvPicPr>
          <p:cNvPr id="6" name="">
            <a:extLst xmlns:a="http://schemas.openxmlformats.org/drawingml/2006/main">
              <a:ext uri="{FF2B5EF4-FFF2-40B4-BE49-F238E27FC236}">
                <a16:creationId xmlns:a16="http://schemas.microsoft.com/office/drawing/2014/main" id="{8DB57251-05E2-44A8-A3B3-F61D19AC9631}"/>
              </a:ext>
            </a:extLst>
          </p:cNvPr>
          <p:cNvPicPr>
            <a:picLocks xmlns:a="http://schemas.openxmlformats.org/drawingml/2006/main" noChangeAspect="1"/>
          </p:cNvPicPr>
          <p:nvPr/>
        </p:nvPicPr>
        <p:blipFill>
          <a:blip xmlns:r="http://schemas.openxmlformats.org/officeDocument/2006/relationships" xmlns:a="http://schemas.openxmlformats.org/drawingml/2006/main" r:embed="R5ae332a23f8041a1"/>
          <a:stretch xmlns:a="http://schemas.openxmlformats.org/drawingml/2006/main"/>
        </p:blipFill>
        <p:spPr>
          <a:xfrm xmlns:a="http://schemas.openxmlformats.org/drawingml/2006/main">
            <a:off x="1476375" y="1952625"/>
            <a:ext cx="952500" cy="28575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E7AB1E4E-0E84-4F14-AE50-42746BEE128B}"/>
              </a:ext>
            </a:extLst>
          </p:cNvPr>
          <p:cNvPicPr>
            <a:picLocks xmlns:a="http://schemas.openxmlformats.org/drawingml/2006/main" noChangeAspect="1"/>
          </p:cNvPicPr>
          <p:nvPr/>
        </p:nvPicPr>
        <p:blipFill>
          <a:blip xmlns:r="http://schemas.openxmlformats.org/officeDocument/2006/relationships" xmlns:a="http://schemas.openxmlformats.org/drawingml/2006/main" r:embed="Re51d8fb0ca3a4c4c"/>
          <a:stretch xmlns:a="http://schemas.openxmlformats.org/drawingml/2006/main"/>
        </p:blipFill>
        <p:spPr>
          <a:xfrm xmlns:a="http://schemas.openxmlformats.org/drawingml/2006/main">
            <a:off x="3352800" y="2262188"/>
            <a:ext cx="2238375" cy="2238375"/>
          </a:xfrm>
          <a:prstGeom xmlns:a="http://schemas.openxmlformats.org/drawingml/2006/main" prst="rect">
            <a:avLst/>
          </a:prstGeom>
        </p:spPr>
      </p:pic>
      <p:sp>
        <p:nvSpPr>
          <p:cNvPr id="8" name="spell glow">
            <a:extLst xmlns:a="http://schemas.openxmlformats.org/drawingml/2006/main">
              <a:ext uri="{FF2B5EF4-FFF2-40B4-BE49-F238E27FC236}">
                <a16:creationId xmlns:a16="http://schemas.microsoft.com/office/drawing/2014/main" id="{51ED0B5C-0D2B-47F0-AF3A-B46675551FED}"/>
              </a:ext>
            </a:extLst>
          </p:cNvPr>
          <p:cNvSpPr>
            <a:spLocks xmlns:a="http://schemas.openxmlformats.org/drawingml/2006/main" noGrp="1"/>
          </p:cNvSpPr>
          <p:nvPr/>
        </p:nvSpPr>
        <p:spPr>
          <a:xfrm xmlns:a="http://schemas.openxmlformats.org/drawingml/2006/main">
            <a:off x="8991600" y="2238375"/>
            <a:ext cx="1428750" cy="1428750"/>
          </a:xfrm>
          <a:prstGeom xmlns:a="http://schemas.openxmlformats.org/drawingml/2006/main" prst="ellipse">
            <a:avLst/>
          </a:prstGeom>
          <a:solidFill xmlns:a="http://schemas.openxmlformats.org/drawingml/2006/main">
            <a:srgbClr val="8E3E28"/>
          </a:solidFill>
          <a:ln xmlns:a="http://schemas.openxmlformats.org/drawingml/2006/main" w="0">
            <a:noFill/>
            <a:prstDash val="solid"/>
          </a:ln>
        </p:spPr>
      </p:sp>
      <p:sp>
        <p:nvSpPr>
          <p:cNvPr id="9" name="spell core">
            <a:extLst xmlns:a="http://schemas.openxmlformats.org/drawingml/2006/main">
              <a:ext uri="{FF2B5EF4-FFF2-40B4-BE49-F238E27FC236}">
                <a16:creationId xmlns:a16="http://schemas.microsoft.com/office/drawing/2014/main" id="{DE5A81EC-EF78-4343-904F-01A89F716FEA}"/>
              </a:ext>
            </a:extLst>
          </p:cNvPr>
          <p:cNvSpPr>
            <a:spLocks xmlns:a="http://schemas.openxmlformats.org/drawingml/2006/main" noGrp="1"/>
          </p:cNvSpPr>
          <p:nvPr/>
        </p:nvSpPr>
        <p:spPr>
          <a:xfrm xmlns:a="http://schemas.openxmlformats.org/drawingml/2006/main">
            <a:off x="9296400" y="2543175"/>
            <a:ext cx="819150" cy="819150"/>
          </a:xfrm>
          <a:prstGeom xmlns:a="http://schemas.openxmlformats.org/drawingml/2006/main" prst="ellipse">
            <a:avLst/>
          </a:prstGeom>
          <a:solidFill xmlns:a="http://schemas.openxmlformats.org/drawingml/2006/main">
            <a:srgbClr val="E7A94B"/>
          </a:solidFill>
          <a:ln xmlns:a="http://schemas.openxmlformats.org/drawingml/2006/main" w="0">
            <a:noFill/>
            <a:prstDash val="solid"/>
          </a:ln>
        </p:spPr>
      </p:sp>
      <p:sp>
        <p:nvSpPr>
          <p:cNvPr id="10" name="spell heart">
            <a:extLst xmlns:a="http://schemas.openxmlformats.org/drawingml/2006/main">
              <a:ext uri="{FF2B5EF4-FFF2-40B4-BE49-F238E27FC236}">
                <a16:creationId xmlns:a16="http://schemas.microsoft.com/office/drawing/2014/main" id="{C704FD27-0C09-4F04-8DD9-DAE1EE93C514}"/>
              </a:ext>
            </a:extLst>
          </p:cNvPr>
          <p:cNvSpPr>
            <a:spLocks xmlns:a="http://schemas.openxmlformats.org/drawingml/2006/main" noGrp="1"/>
          </p:cNvSpPr>
          <p:nvPr/>
        </p:nvSpPr>
        <p:spPr>
          <a:xfrm xmlns:a="http://schemas.openxmlformats.org/drawingml/2006/main">
            <a:off x="9525000" y="2771775"/>
            <a:ext cx="361950" cy="361950"/>
          </a:xfrm>
          <a:prstGeom xmlns:a="http://schemas.openxmlformats.org/drawingml/2006/main" prst="ellipse">
            <a:avLst/>
          </a:prstGeom>
          <a:solidFill xmlns:a="http://schemas.openxmlformats.org/drawingml/2006/main">
            <a:srgbClr val="FFF0B0"/>
          </a:solidFill>
          <a:ln xmlns:a="http://schemas.openxmlformats.org/drawingml/2006/main" w="0">
            <a:noFill/>
            <a:prstDash val="solid"/>
          </a:ln>
        </p:spPr>
      </p:sp>
      <p:sp>
        <p:nvSpPr>
          <p:cNvPr id="11" name="sword label">
            <a:extLst xmlns:a="http://schemas.openxmlformats.org/drawingml/2006/main">
              <a:ext uri="{FF2B5EF4-FFF2-40B4-BE49-F238E27FC236}">
                <a16:creationId xmlns:a16="http://schemas.microsoft.com/office/drawing/2014/main" id="{89EF782A-78A3-4F31-9C3E-8DB9E0CF8600}"/>
              </a:ext>
            </a:extLst>
          </p:cNvPr>
          <p:cNvSpPr>
            <a:spLocks xmlns:a="http://schemas.openxmlformats.org/drawingml/2006/main" noGrp="1"/>
          </p:cNvSpPr>
          <p:nvPr/>
        </p:nvSpPr>
        <p:spPr>
          <a:xfrm xmlns:a="http://schemas.openxmlformats.org/drawingml/2006/main">
            <a:off x="1047750" y="50101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F4F0E5"/>
                </a:solidFill>
                <a:latin typeface="Arial"/>
                <a:ea typeface="Arial"/>
                <a:cs typeface="Arial"/>
              </a:defRPr>
            </a:defPPr>
          </a:lstStyle>
          <a:p xmlns:a="http://schemas.openxmlformats.org/drawingml/2006/main">
            <a:pPr algn="ctr">
              <a:defRPr sz="1350" b="1">
                <a:solidFill>
                  <a:srgbClr val="F4F0E5"/>
                </a:solidFill>
                <a:latin typeface="Arial"/>
                <a:ea typeface="Arial"/>
                <a:cs typeface="Arial"/>
              </a:defRPr>
            </a:pPr>
            <a:r>
              <a:rPr sz="1350" b="1">
                <a:solidFill>
                  <a:srgbClr val="F4F0E5"/>
                </a:solidFill>
                <a:latin typeface="Arial"/>
                <a:ea typeface="Arial"/>
                <a:cs typeface="Arial"/>
              </a:rPr>
              <a:t>SWORD</a:t>
            </a:r>
          </a:p>
        </p:txBody>
      </p:sp>
      <p:sp>
        <p:nvSpPr>
          <p:cNvPr id="12" name="shield label">
            <a:extLst xmlns:a="http://schemas.openxmlformats.org/drawingml/2006/main">
              <a:ext uri="{FF2B5EF4-FFF2-40B4-BE49-F238E27FC236}">
                <a16:creationId xmlns:a16="http://schemas.microsoft.com/office/drawing/2014/main" id="{2063D9DE-CFAB-48D1-A609-98D8FF66BDFF}"/>
              </a:ext>
            </a:extLst>
          </p:cNvPr>
          <p:cNvSpPr>
            <a:spLocks xmlns:a="http://schemas.openxmlformats.org/drawingml/2006/main" noGrp="1"/>
          </p:cNvSpPr>
          <p:nvPr/>
        </p:nvSpPr>
        <p:spPr>
          <a:xfrm xmlns:a="http://schemas.openxmlformats.org/drawingml/2006/main">
            <a:off x="3524250" y="50101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F4F0E5"/>
                </a:solidFill>
                <a:latin typeface="Arial"/>
                <a:ea typeface="Arial"/>
                <a:cs typeface="Arial"/>
              </a:defRPr>
            </a:defPPr>
          </a:lstStyle>
          <a:p xmlns:a="http://schemas.openxmlformats.org/drawingml/2006/main">
            <a:pPr algn="ctr">
              <a:defRPr sz="1350" b="1">
                <a:solidFill>
                  <a:srgbClr val="F4F0E5"/>
                </a:solidFill>
                <a:latin typeface="Arial"/>
                <a:ea typeface="Arial"/>
                <a:cs typeface="Arial"/>
              </a:defRPr>
            </a:pPr>
            <a:r>
              <a:rPr sz="1350" b="1">
                <a:solidFill>
                  <a:srgbClr val="F4F0E5"/>
                </a:solidFill>
                <a:latin typeface="Arial"/>
                <a:ea typeface="Arial"/>
                <a:cs typeface="Arial"/>
              </a:rPr>
              <a:t>SHIELD</a:t>
            </a:r>
          </a:p>
        </p:txBody>
      </p:sp>
      <p:sp>
        <p:nvSpPr>
          <p:cNvPr id="13" name="magic label">
            <a:extLst xmlns:a="http://schemas.openxmlformats.org/drawingml/2006/main">
              <a:ext uri="{FF2B5EF4-FFF2-40B4-BE49-F238E27FC236}">
                <a16:creationId xmlns:a16="http://schemas.microsoft.com/office/drawing/2014/main" id="{2BEEEDA8-1F03-40BE-AFCE-A425064FC426}"/>
              </a:ext>
            </a:extLst>
          </p:cNvPr>
          <p:cNvSpPr>
            <a:spLocks xmlns:a="http://schemas.openxmlformats.org/drawingml/2006/main" noGrp="1"/>
          </p:cNvSpPr>
          <p:nvPr/>
        </p:nvSpPr>
        <p:spPr>
          <a:xfrm xmlns:a="http://schemas.openxmlformats.org/drawingml/2006/main">
            <a:off x="8839200" y="50101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350" b="1">
                <a:solidFill>
                  <a:srgbClr val="F4F0E5"/>
                </a:solidFill>
                <a:latin typeface="Arial"/>
                <a:ea typeface="Arial"/>
                <a:cs typeface="Arial"/>
              </a:defRPr>
            </a:defPPr>
          </a:lstStyle>
          <a:p xmlns:a="http://schemas.openxmlformats.org/drawingml/2006/main">
            <a:pPr algn="ctr">
              <a:defRPr sz="1350" b="1">
                <a:solidFill>
                  <a:srgbClr val="F4F0E5"/>
                </a:solidFill>
                <a:latin typeface="Arial"/>
                <a:ea typeface="Arial"/>
                <a:cs typeface="Arial"/>
              </a:defRPr>
            </a:pPr>
            <a:r>
              <a:rPr sz="1350" b="1">
                <a:solidFill>
                  <a:srgbClr val="F4F0E5"/>
                </a:solidFill>
                <a:latin typeface="Arial"/>
                <a:ea typeface="Arial"/>
                <a:cs typeface="Arial"/>
              </a:rPr>
              <a:t>FIREBALL</a:t>
            </a:r>
          </a:p>
        </p:txBody>
      </p:sp>
      <p:sp>
        <p:nvSpPr>
          <p:cNvPr id="14" name="tradeoff line">
            <a:extLst xmlns:a="http://schemas.openxmlformats.org/drawingml/2006/main">
              <a:ext uri="{FF2B5EF4-FFF2-40B4-BE49-F238E27FC236}">
                <a16:creationId xmlns:a16="http://schemas.microsoft.com/office/drawing/2014/main" id="{B5EC99AD-E877-41AA-9EEF-E73D51D2FD89}"/>
              </a:ext>
            </a:extLst>
          </p:cNvPr>
          <p:cNvSpPr>
            <a:spLocks xmlns:a="http://schemas.openxmlformats.org/drawingml/2006/main" noGrp="1"/>
          </p:cNvSpPr>
          <p:nvPr/>
        </p:nvSpPr>
        <p:spPr>
          <a:xfrm xmlns:a="http://schemas.openxmlformats.org/drawingml/2006/main">
            <a:off x="6134100" y="2762250"/>
            <a:ext cx="1485900" cy="19050"/>
          </a:xfrm>
          <a:prstGeom xmlns:a="http://schemas.openxmlformats.org/drawingml/2006/main" prst="rect">
            <a:avLst/>
          </a:prstGeom>
          <a:solidFill xmlns:a="http://schemas.openxmlformats.org/drawingml/2006/main">
            <a:srgbClr val="353D48"/>
          </a:solidFill>
          <a:ln xmlns:a="http://schemas.openxmlformats.org/drawingml/2006/main" w="0">
            <a:noFill/>
            <a:prstDash val="solid"/>
          </a:ln>
        </p:spPr>
      </p:sp>
      <p:sp>
        <p:nvSpPr>
          <p:cNvPr id="15" name="tradeoff">
            <a:extLst xmlns:a="http://schemas.openxmlformats.org/drawingml/2006/main">
              <a:ext uri="{FF2B5EF4-FFF2-40B4-BE49-F238E27FC236}">
                <a16:creationId xmlns:a16="http://schemas.microsoft.com/office/drawing/2014/main" id="{314A7776-8F9D-47D8-B6A2-34897856B973}"/>
              </a:ext>
            </a:extLst>
          </p:cNvPr>
          <p:cNvSpPr>
            <a:spLocks xmlns:a="http://schemas.openxmlformats.org/drawingml/2006/main" noGrp="1"/>
          </p:cNvSpPr>
          <p:nvPr/>
        </p:nvSpPr>
        <p:spPr>
          <a:xfrm xmlns:a="http://schemas.openxmlformats.org/drawingml/2006/main">
            <a:off x="6648450" y="2476500"/>
            <a:ext cx="533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75" b="1">
                <a:solidFill>
                  <a:srgbClr val="E7A94B"/>
                </a:solidFill>
                <a:latin typeface="Arial"/>
                <a:ea typeface="Arial"/>
                <a:cs typeface="Arial"/>
              </a:defRPr>
            </a:defPPr>
          </a:lstStyle>
          <a:p xmlns:a="http://schemas.openxmlformats.org/drawingml/2006/main">
            <a:pPr algn="ctr">
              <a:defRPr sz="1275" b="1">
                <a:solidFill>
                  <a:srgbClr val="E7A94B"/>
                </a:solidFill>
                <a:latin typeface="Arial"/>
                <a:ea typeface="Arial"/>
                <a:cs typeface="Arial"/>
              </a:defRPr>
            </a:pPr>
            <a:r>
              <a:rPr sz="1275" b="1">
                <a:solidFill>
                  <a:srgbClr val="E7A94B"/>
                </a:solidFill>
                <a:latin typeface="Arial"/>
                <a:ea typeface="Arial"/>
                <a:cs typeface="Arial"/>
              </a:rPr>
              <a:t>OR</a:t>
            </a:r>
          </a:p>
        </p:txBody>
      </p:sp>
      <p:sp>
        <p:nvSpPr>
          <p:cNvPr id="16" name="combat choice">
            <a:extLst xmlns:a="http://schemas.openxmlformats.org/drawingml/2006/main">
              <a:ext uri="{FF2B5EF4-FFF2-40B4-BE49-F238E27FC236}">
                <a16:creationId xmlns:a16="http://schemas.microsoft.com/office/drawing/2014/main" id="{98C72840-E8A8-4EA5-AAE8-3B268556F944}"/>
              </a:ext>
            </a:extLst>
          </p:cNvPr>
          <p:cNvSpPr>
            <a:spLocks xmlns:a="http://schemas.openxmlformats.org/drawingml/2006/main" noGrp="1"/>
          </p:cNvSpPr>
          <p:nvPr/>
        </p:nvSpPr>
        <p:spPr>
          <a:xfrm xmlns:a="http://schemas.openxmlformats.org/drawingml/2006/main">
            <a:off x="5562600" y="3714750"/>
            <a:ext cx="2571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725" b="1">
                <a:solidFill>
                  <a:srgbClr val="F4F0E5"/>
                </a:solidFill>
                <a:latin typeface="Arial"/>
                <a:ea typeface="Arial"/>
                <a:cs typeface="Arial"/>
              </a:defRPr>
            </a:defPPr>
          </a:lstStyle>
          <a:p xmlns:a="http://schemas.openxmlformats.org/drawingml/2006/main">
            <a:pPr algn="ctr">
              <a:defRPr sz="1725" b="1">
                <a:solidFill>
                  <a:srgbClr val="F4F0E5"/>
                </a:solidFill>
                <a:latin typeface="Arial"/>
                <a:ea typeface="Arial"/>
                <a:cs typeface="Arial"/>
              </a:defRPr>
            </a:pPr>
            <a:r>
              <a:rPr sz="1725" b="1">
                <a:solidFill>
                  <a:srgbClr val="F4F0E5"/>
                </a:solidFill>
                <a:latin typeface="Arial"/>
                <a:ea typeface="Arial"/>
                <a:cs typeface="Arial"/>
              </a:rPr>
              <a:t>Left hand: shield or spell</a:t>
            </a:r>
          </a:p>
        </p:txBody>
      </p:sp>
      <p:sp>
        <p:nvSpPr>
          <p:cNvPr id="17" name="weapon detail">
            <a:extLst xmlns:a="http://schemas.openxmlformats.org/drawingml/2006/main">
              <a:ext uri="{FF2B5EF4-FFF2-40B4-BE49-F238E27FC236}">
                <a16:creationId xmlns:a16="http://schemas.microsoft.com/office/drawing/2014/main" id="{5B70DADA-7C1A-43A9-9569-EE55D3E07D55}"/>
              </a:ext>
            </a:extLst>
          </p:cNvPr>
          <p:cNvSpPr>
            <a:spLocks xmlns:a="http://schemas.openxmlformats.org/drawingml/2006/main" noGrp="1"/>
          </p:cNvSpPr>
          <p:nvPr/>
        </p:nvSpPr>
        <p:spPr>
          <a:xfrm xmlns:a="http://schemas.openxmlformats.org/drawingml/2006/main">
            <a:off x="762000" y="5648325"/>
            <a:ext cx="533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ABB2BC"/>
                </a:solidFill>
                <a:latin typeface="Arial"/>
                <a:ea typeface="Arial"/>
                <a:cs typeface="Arial"/>
              </a:defRPr>
            </a:defPPr>
          </a:lstStyle>
          <a:p xmlns:a="http://schemas.openxmlformats.org/drawingml/2006/main">
            <a:pPr algn="l">
              <a:defRPr sz="1275" b="0">
                <a:solidFill>
                  <a:srgbClr val="ABB2BC"/>
                </a:solidFill>
                <a:latin typeface="Arial"/>
                <a:ea typeface="Arial"/>
                <a:cs typeface="Arial"/>
              </a:defRPr>
            </a:pPr>
            <a:r>
              <a:rPr sz="1275" b="0">
                <a:solidFill>
                  <a:srgbClr val="ABB2BC"/>
                </a:solidFill>
                <a:latin typeface="Arial"/>
                <a:ea typeface="Arial"/>
                <a:cs typeface="Arial"/>
              </a:rPr>
              <a:t>Swords favor reliable handling. Maces trade speed for stagger and guard pressure.</a:t>
            </a:r>
          </a:p>
        </p:txBody>
      </p:sp>
      <p:sp>
        <p:nvSpPr>
          <p:cNvPr id="18" name="magic detail">
            <a:extLst xmlns:a="http://schemas.openxmlformats.org/drawingml/2006/main">
              <a:ext uri="{FF2B5EF4-FFF2-40B4-BE49-F238E27FC236}">
                <a16:creationId xmlns:a16="http://schemas.microsoft.com/office/drawing/2014/main" id="{41FCF61A-975A-48F1-A130-3499A974A8E9}"/>
              </a:ext>
            </a:extLst>
          </p:cNvPr>
          <p:cNvSpPr>
            <a:spLocks xmlns:a="http://schemas.openxmlformats.org/drawingml/2006/main" noGrp="1"/>
          </p:cNvSpPr>
          <p:nvPr/>
        </p:nvSpPr>
        <p:spPr>
          <a:xfrm xmlns:a="http://schemas.openxmlformats.org/drawingml/2006/main">
            <a:off x="6191250" y="5648325"/>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ABB2BC"/>
                </a:solidFill>
                <a:latin typeface="Arial"/>
                <a:ea typeface="Arial"/>
                <a:cs typeface="Arial"/>
              </a:defRPr>
            </a:defPPr>
          </a:lstStyle>
          <a:p xmlns:a="http://schemas.openxmlformats.org/drawingml/2006/main">
            <a:pPr algn="l">
              <a:defRPr sz="1275" b="0">
                <a:solidFill>
                  <a:srgbClr val="ABB2BC"/>
                </a:solidFill>
                <a:latin typeface="Arial"/>
                <a:ea typeface="Arial"/>
                <a:cs typeface="Arial"/>
              </a:defRPr>
            </a:pPr>
            <a:r>
              <a:rPr sz="1275" b="0">
                <a:solidFill>
                  <a:srgbClr val="ABB2BC"/>
                </a:solidFill>
                <a:latin typeface="Arial"/>
                <a:ea typeface="Arial"/>
                <a:cs typeface="Arial"/>
              </a:rPr>
              <a:t>Fireball pressures enemies at range. Heal trades mana and time for recovery.</a:t>
            </a:r>
          </a:p>
        </p:txBody>
      </p:sp>
    </p:spTree>
    <p:extLst>
      <p:ext uri="{BB962C8B-B14F-4D97-AF65-F5344CB8AC3E}">
        <p14:creationId xmlns:p14="http://schemas.microsoft.com/office/powerpoint/2010/main" val="1714889427"/>
      </p:ext>
    </p:extLst>
  </p:cSld>
</p:sld>
</file>

<file path=ppt/slides/slide5.xml><?xml version="1.0" encoding="utf-8"?>
<p:sld xmlns:p="http://schemas.openxmlformats.org/presentationml/2006/main">
  <p:cSld>
    <p:bg>
      <p:bgPr>
        <a:solidFill xmlns:a="http://schemas.openxmlformats.org/drawingml/2006/main">
          <a:srgbClr val="10131A"/>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ECFAF988-C91B-4276-B50C-EB8EA9B10947}"/>
              </a:ext>
            </a:extLst>
          </p:cNvPr>
          <p:cNvSpPr>
            <a:spLocks xmlns:a="http://schemas.openxmlformats.org/drawingml/2006/main" noGrp="1"/>
          </p:cNvSpPr>
          <p:nvPr/>
        </p:nvSpPr>
        <p:spPr>
          <a:xfrm xmlns:a="http://schemas.openxmlformats.org/drawingml/2006/main">
            <a:off x="647700" y="3810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F4F0E5"/>
                </a:solidFill>
                <a:latin typeface="Arial"/>
                <a:ea typeface="Arial"/>
                <a:cs typeface="Arial"/>
              </a:defRPr>
            </a:defPPr>
          </a:lstStyle>
          <a:p xmlns:a="http://schemas.openxmlformats.org/drawingml/2006/main">
            <a:pPr algn="l">
              <a:defRPr sz="2850" b="1">
                <a:solidFill>
                  <a:srgbClr val="F4F0E5"/>
                </a:solidFill>
                <a:latin typeface="Arial"/>
                <a:ea typeface="Arial"/>
                <a:cs typeface="Arial"/>
              </a:defRPr>
            </a:pPr>
            <a:r>
              <a:rPr sz="2850" b="1">
                <a:solidFill>
                  <a:srgbClr val="F4F0E5"/>
                </a:solidFill>
                <a:latin typeface="Arial"/>
                <a:ea typeface="Arial"/>
                <a:cs typeface="Arial"/>
              </a:rPr>
              <a:t>Enemies ask the player to change tactics</a:t>
            </a:r>
          </a:p>
        </p:txBody>
      </p:sp>
      <p:sp>
        <p:nvSpPr>
          <p:cNvPr id="2" name="title rule">
            <a:extLst xmlns:a="http://schemas.openxmlformats.org/drawingml/2006/main">
              <a:ext uri="{FF2B5EF4-FFF2-40B4-BE49-F238E27FC236}">
                <a16:creationId xmlns:a16="http://schemas.microsoft.com/office/drawing/2014/main" id="{00C50BC0-406F-4D92-A259-3CA352FE9EB2}"/>
              </a:ext>
            </a:extLst>
          </p:cNvPr>
          <p:cNvSpPr>
            <a:spLocks xmlns:a="http://schemas.openxmlformats.org/drawingml/2006/main" noGrp="1"/>
          </p:cNvSpPr>
          <p:nvPr/>
        </p:nvSpPr>
        <p:spPr>
          <a:xfrm xmlns:a="http://schemas.openxmlformats.org/drawingml/2006/main">
            <a:off x="647700" y="1028700"/>
            <a:ext cx="647700" cy="38100"/>
          </a:xfrm>
          <a:prstGeom xmlns:a="http://schemas.openxmlformats.org/drawingml/2006/main" prst="rect">
            <a:avLst/>
          </a:prstGeom>
          <a:solidFill xmlns:a="http://schemas.openxmlformats.org/drawingml/2006/main">
            <a:srgbClr val="E7A94B"/>
          </a:solidFill>
          <a:ln xmlns:a="http://schemas.openxmlformats.org/drawingml/2006/main" w="0">
            <a:noFill/>
            <a:prstDash val="solid"/>
          </a:ln>
        </p:spPr>
      </p:sp>
      <p:sp>
        <p:nvSpPr>
          <p:cNvPr id="3" name="subtitle">
            <a:extLst xmlns:a="http://schemas.openxmlformats.org/drawingml/2006/main">
              <a:ext uri="{FF2B5EF4-FFF2-40B4-BE49-F238E27FC236}">
                <a16:creationId xmlns:a16="http://schemas.microsoft.com/office/drawing/2014/main" id="{9F33F59F-91C2-4149-97B1-DD393D23D5CF}"/>
              </a:ext>
            </a:extLst>
          </p:cNvPr>
          <p:cNvSpPr>
            <a:spLocks xmlns:a="http://schemas.openxmlformats.org/drawingml/2006/main" noGrp="1"/>
          </p:cNvSpPr>
          <p:nvPr/>
        </p:nvSpPr>
        <p:spPr>
          <a:xfrm xmlns:a="http://schemas.openxmlformats.org/drawingml/2006/main">
            <a:off x="647700" y="117157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ABB2BC"/>
                </a:solidFill>
                <a:latin typeface="Arial"/>
                <a:ea typeface="Arial"/>
                <a:cs typeface="Arial"/>
              </a:defRPr>
            </a:defPPr>
          </a:lstStyle>
          <a:p xmlns:a="http://schemas.openxmlformats.org/drawingml/2006/main">
            <a:pPr algn="l">
              <a:defRPr sz="1275" b="0">
                <a:solidFill>
                  <a:srgbClr val="ABB2BC"/>
                </a:solidFill>
                <a:latin typeface="Arial"/>
                <a:ea typeface="Arial"/>
                <a:cs typeface="Arial"/>
              </a:defRPr>
            </a:pPr>
            <a:r>
              <a:rPr sz="1275" b="0">
                <a:solidFill>
                  <a:srgbClr val="ABB2BC"/>
                </a:solidFill>
                <a:latin typeface="Arial"/>
                <a:ea typeface="Arial"/>
                <a:cs typeface="Arial"/>
              </a:rPr>
              <a:t>Readable wind-ups and recovery openings make each encounter a positioning problem</a:t>
            </a:r>
          </a:p>
        </p:txBody>
      </p:sp>
      <p:sp>
        <p:nvSpPr>
          <p:cNvPr id="4" name="wordmark">
            <a:extLst xmlns:a="http://schemas.openxmlformats.org/drawingml/2006/main">
              <a:ext uri="{FF2B5EF4-FFF2-40B4-BE49-F238E27FC236}">
                <a16:creationId xmlns:a16="http://schemas.microsoft.com/office/drawing/2014/main" id="{F974F82F-B63A-4828-932C-52AD6AD24C8F}"/>
              </a:ext>
            </a:extLst>
          </p:cNvPr>
          <p:cNvSpPr>
            <a:spLocks xmlns:a="http://schemas.openxmlformats.org/drawingml/2006/main" noGrp="1"/>
          </p:cNvSpPr>
          <p:nvPr/>
        </p:nvSpPr>
        <p:spPr>
          <a:xfrm xmlns:a="http://schemas.openxmlformats.org/drawingml/2006/main">
            <a:off x="647700" y="64389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737D89"/>
                </a:solidFill>
                <a:latin typeface="Arial"/>
                <a:ea typeface="Arial"/>
                <a:cs typeface="Arial"/>
              </a:defRPr>
            </a:defPPr>
          </a:lstStyle>
          <a:p xmlns:a="http://schemas.openxmlformats.org/drawingml/2006/main">
            <a:pPr algn="l">
              <a:defRPr sz="900" b="1">
                <a:solidFill>
                  <a:srgbClr val="737D89"/>
                </a:solidFill>
                <a:latin typeface="Arial"/>
                <a:ea typeface="Arial"/>
                <a:cs typeface="Arial"/>
              </a:defRPr>
            </a:pPr>
            <a:r>
              <a:rPr sz="900" b="1">
                <a:solidFill>
                  <a:srgbClr val="737D89"/>
                </a:solidFill>
                <a:latin typeface="Arial"/>
                <a:ea typeface="Arial"/>
                <a:cs typeface="Arial"/>
              </a:rPr>
              <a:t>LOOMROOM</a:t>
            </a:r>
          </a:p>
        </p:txBody>
      </p:sp>
      <p:sp>
        <p:nvSpPr>
          <p:cNvPr id="5" name="page">
            <a:extLst xmlns:a="http://schemas.openxmlformats.org/drawingml/2006/main">
              <a:ext uri="{FF2B5EF4-FFF2-40B4-BE49-F238E27FC236}">
                <a16:creationId xmlns:a16="http://schemas.microsoft.com/office/drawing/2014/main" id="{9DF13EF2-8020-4DD4-937E-5282612CC566}"/>
              </a:ext>
            </a:extLst>
          </p:cNvPr>
          <p:cNvSpPr>
            <a:spLocks xmlns:a="http://schemas.openxmlformats.org/drawingml/2006/main" noGrp="1"/>
          </p:cNvSpPr>
          <p:nvPr/>
        </p:nvSpPr>
        <p:spPr>
          <a:xfrm xmlns:a="http://schemas.openxmlformats.org/drawingml/2006/main">
            <a:off x="11201400" y="64389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00" b="0">
                <a:solidFill>
                  <a:srgbClr val="737D89"/>
                </a:solidFill>
                <a:latin typeface="Arial"/>
                <a:ea typeface="Arial"/>
                <a:cs typeface="Arial"/>
              </a:defRPr>
            </a:defPPr>
          </a:lstStyle>
          <a:p xmlns:a="http://schemas.openxmlformats.org/drawingml/2006/main">
            <a:pPr algn="r">
              <a:defRPr sz="900" b="0">
                <a:solidFill>
                  <a:srgbClr val="737D89"/>
                </a:solidFill>
                <a:latin typeface="Arial"/>
                <a:ea typeface="Arial"/>
                <a:cs typeface="Arial"/>
              </a:defRPr>
            </a:pPr>
            <a:r>
              <a:rPr sz="900" b="0">
                <a:solidFill>
                  <a:srgbClr val="737D89"/>
                </a:solidFill>
                <a:latin typeface="Arial"/>
                <a:ea typeface="Arial"/>
                <a:cs typeface="Arial"/>
              </a:rPr>
              <a:t>05</a:t>
            </a:r>
          </a:p>
        </p:txBody>
      </p:sp>
      <p:pic>
        <p:nvPicPr>
          <p:cNvPr id="6" name="">
            <a:extLst xmlns:a="http://schemas.openxmlformats.org/drawingml/2006/main">
              <a:ext uri="{FF2B5EF4-FFF2-40B4-BE49-F238E27FC236}">
                <a16:creationId xmlns:a16="http://schemas.microsoft.com/office/drawing/2014/main" id="{B63055E3-E851-4105-9251-22891021FC8F}"/>
              </a:ext>
            </a:extLst>
          </p:cNvPr>
          <p:cNvPicPr>
            <a:picLocks xmlns:a="http://schemas.openxmlformats.org/drawingml/2006/main" noChangeAspect="1"/>
          </p:cNvPicPr>
          <p:nvPr/>
        </p:nvPicPr>
        <p:blipFill>
          <a:blip xmlns:r="http://schemas.openxmlformats.org/officeDocument/2006/relationships" xmlns:a="http://schemas.openxmlformats.org/drawingml/2006/main" r:embed="Raf2c9f88d214484d"/>
          <a:stretch xmlns:a="http://schemas.openxmlformats.org/drawingml/2006/main"/>
        </p:blipFill>
        <p:spPr>
          <a:xfrm xmlns:a="http://schemas.openxmlformats.org/drawingml/2006/main">
            <a:off x="1057275" y="1762125"/>
            <a:ext cx="3333750" cy="3333750"/>
          </a:xfrm>
          <a:prstGeom xmlns:a="http://schemas.openxmlformats.org/drawingml/2006/main" prst="rect">
            <a:avLst/>
          </a:prstGeom>
        </p:spPr>
      </p:pic>
      <p:sp>
        <p:nvSpPr>
          <p:cNvPr id="7" name="enemy idea">
            <a:extLst xmlns:a="http://schemas.openxmlformats.org/drawingml/2006/main">
              <a:ext uri="{FF2B5EF4-FFF2-40B4-BE49-F238E27FC236}">
                <a16:creationId xmlns:a16="http://schemas.microsoft.com/office/drawing/2014/main" id="{CEFD45AE-D484-4E23-AA09-AF5CC93B1D4B}"/>
              </a:ext>
            </a:extLst>
          </p:cNvPr>
          <p:cNvSpPr>
            <a:spLocks xmlns:a="http://schemas.openxmlformats.org/drawingml/2006/main" noGrp="1"/>
          </p:cNvSpPr>
          <p:nvPr/>
        </p:nvSpPr>
        <p:spPr>
          <a:xfrm xmlns:a="http://schemas.openxmlformats.org/drawingml/2006/main">
            <a:off x="5381625" y="1866900"/>
            <a:ext cx="5572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4327"/>
          </a:bodyPr>
          <a:lstStyle xmlns:a="http://schemas.openxmlformats.org/drawingml/2006/main">
            <a:defPPr algn="l">
              <a:defRPr sz="2400" b="1">
                <a:solidFill>
                  <a:srgbClr val="F4F0E5"/>
                </a:solidFill>
                <a:latin typeface="Arial"/>
                <a:ea typeface="Arial"/>
                <a:cs typeface="Arial"/>
              </a:defRPr>
            </a:defPPr>
          </a:lstStyle>
          <a:p xmlns:a="http://schemas.openxmlformats.org/drawingml/2006/main">
            <a:pPr algn="l">
              <a:defRPr sz="2400" b="1">
                <a:solidFill>
                  <a:srgbClr val="F4F0E5"/>
                </a:solidFill>
                <a:latin typeface="Arial"/>
                <a:ea typeface="Arial"/>
                <a:cs typeface="Arial"/>
              </a:defRPr>
            </a:pPr>
            <a:r>
              <a:rPr sz="2400" b="1">
                <a:solidFill>
                  <a:srgbClr val="F4F0E5"/>
                </a:solidFill>
                <a:latin typeface="Arial"/>
                <a:ea typeface="Arial"/>
                <a:cs typeface="Arial"/>
              </a:rPr>
              <a:t>A guarded caster changes the approach.</a:t>
            </a:r>
          </a:p>
        </p:txBody>
      </p:sp>
      <p:sp>
        <p:nvSpPr>
          <p:cNvPr id="8" name="bullet dot 0">
            <a:extLst xmlns:a="http://schemas.openxmlformats.org/drawingml/2006/main">
              <a:ext uri="{FF2B5EF4-FFF2-40B4-BE49-F238E27FC236}">
                <a16:creationId xmlns:a16="http://schemas.microsoft.com/office/drawing/2014/main" id="{FDBD26E9-DDD6-4C4B-98FE-D57AB6E68FC7}"/>
              </a:ext>
            </a:extLst>
          </p:cNvPr>
          <p:cNvSpPr>
            <a:spLocks xmlns:a="http://schemas.openxmlformats.org/drawingml/2006/main" noGrp="1"/>
          </p:cNvSpPr>
          <p:nvPr/>
        </p:nvSpPr>
        <p:spPr>
          <a:xfrm xmlns:a="http://schemas.openxmlformats.org/drawingml/2006/main">
            <a:off x="5410200" y="283845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E7A94B"/>
                </a:solidFill>
                <a:latin typeface="Arial"/>
                <a:ea typeface="Arial"/>
                <a:cs typeface="Arial"/>
              </a:defRPr>
            </a:defPPr>
          </a:lstStyle>
          <a:p xmlns:a="http://schemas.openxmlformats.org/drawingml/2006/main">
            <a:pPr algn="l">
              <a:defRPr sz="1575" b="1">
                <a:solidFill>
                  <a:srgbClr val="E7A94B"/>
                </a:solidFill>
                <a:latin typeface="Arial"/>
                <a:ea typeface="Arial"/>
                <a:cs typeface="Arial"/>
              </a:defRPr>
            </a:pPr>
            <a:r>
              <a:rPr sz="1575" b="1">
                <a:solidFill>
                  <a:srgbClr val="E7A94B"/>
                </a:solidFill>
                <a:latin typeface="Arial"/>
                <a:ea typeface="Arial"/>
                <a:cs typeface="Arial"/>
              </a:rPr>
              <a:t>•</a:t>
            </a:r>
          </a:p>
        </p:txBody>
      </p:sp>
      <p:sp>
        <p:nvSpPr>
          <p:cNvPr id="9" name="bullet 0">
            <a:extLst xmlns:a="http://schemas.openxmlformats.org/drawingml/2006/main">
              <a:ext uri="{FF2B5EF4-FFF2-40B4-BE49-F238E27FC236}">
                <a16:creationId xmlns:a16="http://schemas.microsoft.com/office/drawing/2014/main" id="{791636CF-93BE-49BB-92E5-35248225FD55}"/>
              </a:ext>
            </a:extLst>
          </p:cNvPr>
          <p:cNvSpPr>
            <a:spLocks xmlns:a="http://schemas.openxmlformats.org/drawingml/2006/main" noGrp="1"/>
          </p:cNvSpPr>
          <p:nvPr/>
        </p:nvSpPr>
        <p:spPr>
          <a:xfrm xmlns:a="http://schemas.openxmlformats.org/drawingml/2006/main">
            <a:off x="5676900" y="2838450"/>
            <a:ext cx="535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ABB2BC"/>
                </a:solidFill>
                <a:latin typeface="Arial"/>
                <a:ea typeface="Arial"/>
                <a:cs typeface="Arial"/>
              </a:defRPr>
            </a:defPPr>
          </a:lstStyle>
          <a:p xmlns:a="http://schemas.openxmlformats.org/drawingml/2006/main">
            <a:pPr algn="l">
              <a:defRPr sz="1575" b="0">
                <a:solidFill>
                  <a:srgbClr val="ABB2BC"/>
                </a:solidFill>
                <a:latin typeface="Arial"/>
                <a:ea typeface="Arial"/>
                <a:cs typeface="Arial"/>
              </a:defRPr>
            </a:pPr>
            <a:r>
              <a:rPr sz="1575" b="0">
                <a:solidFill>
                  <a:srgbClr val="ABB2BC"/>
                </a:solidFill>
                <a:latin typeface="Arial"/>
                <a:ea typeface="Arial"/>
                <a:cs typeface="Arial"/>
              </a:rPr>
              <a:t>Circle the shielded enemy or wait for its recovery.</a:t>
            </a:r>
          </a:p>
        </p:txBody>
      </p:sp>
      <p:sp>
        <p:nvSpPr>
          <p:cNvPr id="10" name="bullet dot 1">
            <a:extLst xmlns:a="http://schemas.openxmlformats.org/drawingml/2006/main">
              <a:ext uri="{FF2B5EF4-FFF2-40B4-BE49-F238E27FC236}">
                <a16:creationId xmlns:a16="http://schemas.microsoft.com/office/drawing/2014/main" id="{3F97E852-0996-47DA-BE30-8DA154806CA3}"/>
              </a:ext>
            </a:extLst>
          </p:cNvPr>
          <p:cNvSpPr>
            <a:spLocks xmlns:a="http://schemas.openxmlformats.org/drawingml/2006/main" noGrp="1"/>
          </p:cNvSpPr>
          <p:nvPr/>
        </p:nvSpPr>
        <p:spPr>
          <a:xfrm xmlns:a="http://schemas.openxmlformats.org/drawingml/2006/main">
            <a:off x="5410200" y="356235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E7A94B"/>
                </a:solidFill>
                <a:latin typeface="Arial"/>
                <a:ea typeface="Arial"/>
                <a:cs typeface="Arial"/>
              </a:defRPr>
            </a:defPPr>
          </a:lstStyle>
          <a:p xmlns:a="http://schemas.openxmlformats.org/drawingml/2006/main">
            <a:pPr algn="l">
              <a:defRPr sz="1575" b="1">
                <a:solidFill>
                  <a:srgbClr val="E7A94B"/>
                </a:solidFill>
                <a:latin typeface="Arial"/>
                <a:ea typeface="Arial"/>
                <a:cs typeface="Arial"/>
              </a:defRPr>
            </a:pPr>
            <a:r>
              <a:rPr sz="1575" b="1">
                <a:solidFill>
                  <a:srgbClr val="E7A94B"/>
                </a:solidFill>
                <a:latin typeface="Arial"/>
                <a:ea typeface="Arial"/>
                <a:cs typeface="Arial"/>
              </a:rPr>
              <a:t>•</a:t>
            </a:r>
          </a:p>
        </p:txBody>
      </p:sp>
      <p:sp>
        <p:nvSpPr>
          <p:cNvPr id="11" name="bullet 1">
            <a:extLst xmlns:a="http://schemas.openxmlformats.org/drawingml/2006/main">
              <a:ext uri="{FF2B5EF4-FFF2-40B4-BE49-F238E27FC236}">
                <a16:creationId xmlns:a16="http://schemas.microsoft.com/office/drawing/2014/main" id="{D9628BE2-D589-4CFE-891F-C7D953DC58D5}"/>
              </a:ext>
            </a:extLst>
          </p:cNvPr>
          <p:cNvSpPr>
            <a:spLocks xmlns:a="http://schemas.openxmlformats.org/drawingml/2006/main" noGrp="1"/>
          </p:cNvSpPr>
          <p:nvPr/>
        </p:nvSpPr>
        <p:spPr>
          <a:xfrm xmlns:a="http://schemas.openxmlformats.org/drawingml/2006/main">
            <a:off x="5676900" y="3562350"/>
            <a:ext cx="535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ABB2BC"/>
                </a:solidFill>
                <a:latin typeface="Arial"/>
                <a:ea typeface="Arial"/>
                <a:cs typeface="Arial"/>
              </a:defRPr>
            </a:defPPr>
          </a:lstStyle>
          <a:p xmlns:a="http://schemas.openxmlformats.org/drawingml/2006/main">
            <a:pPr algn="l">
              <a:defRPr sz="1575" b="0">
                <a:solidFill>
                  <a:srgbClr val="ABB2BC"/>
                </a:solidFill>
                <a:latin typeface="Arial"/>
                <a:ea typeface="Arial"/>
                <a:cs typeface="Arial"/>
              </a:defRPr>
            </a:pPr>
            <a:r>
              <a:rPr sz="1575" b="0">
                <a:solidFill>
                  <a:srgbClr val="ABB2BC"/>
                </a:solidFill>
                <a:latin typeface="Arial"/>
                <a:ea typeface="Arial"/>
                <a:cs typeface="Arial"/>
              </a:rPr>
              <a:t>Use a doorway or pillar to control the approach.</a:t>
            </a:r>
          </a:p>
        </p:txBody>
      </p:sp>
      <p:sp>
        <p:nvSpPr>
          <p:cNvPr id="12" name="bullet dot 2">
            <a:extLst xmlns:a="http://schemas.openxmlformats.org/drawingml/2006/main">
              <a:ext uri="{FF2B5EF4-FFF2-40B4-BE49-F238E27FC236}">
                <a16:creationId xmlns:a16="http://schemas.microsoft.com/office/drawing/2014/main" id="{5CED3871-92D5-4E69-AD60-1DC0C78155CA}"/>
              </a:ext>
            </a:extLst>
          </p:cNvPr>
          <p:cNvSpPr>
            <a:spLocks xmlns:a="http://schemas.openxmlformats.org/drawingml/2006/main" noGrp="1"/>
          </p:cNvSpPr>
          <p:nvPr/>
        </p:nvSpPr>
        <p:spPr>
          <a:xfrm xmlns:a="http://schemas.openxmlformats.org/drawingml/2006/main">
            <a:off x="5410200" y="428625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E7A94B"/>
                </a:solidFill>
                <a:latin typeface="Arial"/>
                <a:ea typeface="Arial"/>
                <a:cs typeface="Arial"/>
              </a:defRPr>
            </a:defPPr>
          </a:lstStyle>
          <a:p xmlns:a="http://schemas.openxmlformats.org/drawingml/2006/main">
            <a:pPr algn="l">
              <a:defRPr sz="1575" b="1">
                <a:solidFill>
                  <a:srgbClr val="E7A94B"/>
                </a:solidFill>
                <a:latin typeface="Arial"/>
                <a:ea typeface="Arial"/>
                <a:cs typeface="Arial"/>
              </a:defRPr>
            </a:pPr>
            <a:r>
              <a:rPr sz="1575" b="1">
                <a:solidFill>
                  <a:srgbClr val="E7A94B"/>
                </a:solidFill>
                <a:latin typeface="Arial"/>
                <a:ea typeface="Arial"/>
                <a:cs typeface="Arial"/>
              </a:rPr>
              <a:t>•</a:t>
            </a:r>
          </a:p>
        </p:txBody>
      </p:sp>
      <p:sp>
        <p:nvSpPr>
          <p:cNvPr id="13" name="bullet 2">
            <a:extLst xmlns:a="http://schemas.openxmlformats.org/drawingml/2006/main">
              <a:ext uri="{FF2B5EF4-FFF2-40B4-BE49-F238E27FC236}">
                <a16:creationId xmlns:a16="http://schemas.microsoft.com/office/drawing/2014/main" id="{6B4C5A5D-0908-4DAC-A6F2-8450E63A86F8}"/>
              </a:ext>
            </a:extLst>
          </p:cNvPr>
          <p:cNvSpPr>
            <a:spLocks xmlns:a="http://schemas.openxmlformats.org/drawingml/2006/main" noGrp="1"/>
          </p:cNvSpPr>
          <p:nvPr/>
        </p:nvSpPr>
        <p:spPr>
          <a:xfrm xmlns:a="http://schemas.openxmlformats.org/drawingml/2006/main">
            <a:off x="5676900" y="4286250"/>
            <a:ext cx="5353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ABB2BC"/>
                </a:solidFill>
                <a:latin typeface="Arial"/>
                <a:ea typeface="Arial"/>
                <a:cs typeface="Arial"/>
              </a:defRPr>
            </a:defPPr>
          </a:lstStyle>
          <a:p xmlns:a="http://schemas.openxmlformats.org/drawingml/2006/main">
            <a:pPr algn="l">
              <a:defRPr sz="1575" b="0">
                <a:solidFill>
                  <a:srgbClr val="ABB2BC"/>
                </a:solidFill>
                <a:latin typeface="Arial"/>
                <a:ea typeface="Arial"/>
                <a:cs typeface="Arial"/>
              </a:defRPr>
            </a:pPr>
            <a:r>
              <a:rPr sz="1575" b="0">
                <a:solidFill>
                  <a:srgbClr val="ABB2BC"/>
                </a:solidFill>
                <a:latin typeface="Arial"/>
                <a:ea typeface="Arial"/>
                <a:cs typeface="Arial"/>
              </a:rPr>
              <a:t>Keep stamina for the next block.</a:t>
            </a:r>
          </a:p>
        </p:txBody>
      </p:sp>
      <p:sp>
        <p:nvSpPr>
          <p:cNvPr id="14" name="fairness rule">
            <a:extLst xmlns:a="http://schemas.openxmlformats.org/drawingml/2006/main">
              <a:ext uri="{FF2B5EF4-FFF2-40B4-BE49-F238E27FC236}">
                <a16:creationId xmlns:a16="http://schemas.microsoft.com/office/drawing/2014/main" id="{ED144E71-3B9F-41E2-9A56-0B8D85FE1099}"/>
              </a:ext>
            </a:extLst>
          </p:cNvPr>
          <p:cNvSpPr>
            <a:spLocks xmlns:a="http://schemas.openxmlformats.org/drawingml/2006/main" noGrp="1"/>
          </p:cNvSpPr>
          <p:nvPr/>
        </p:nvSpPr>
        <p:spPr>
          <a:xfrm xmlns:a="http://schemas.openxmlformats.org/drawingml/2006/main">
            <a:off x="5391150" y="5334000"/>
            <a:ext cx="5334000" cy="9525"/>
          </a:xfrm>
          <a:prstGeom xmlns:a="http://schemas.openxmlformats.org/drawingml/2006/main" prst="rect">
            <a:avLst/>
          </a:prstGeom>
          <a:solidFill xmlns:a="http://schemas.openxmlformats.org/drawingml/2006/main">
            <a:srgbClr val="353D48"/>
          </a:solidFill>
          <a:ln xmlns:a="http://schemas.openxmlformats.org/drawingml/2006/main" w="0">
            <a:noFill/>
            <a:prstDash val="solid"/>
          </a:ln>
        </p:spPr>
      </p:sp>
      <p:sp>
        <p:nvSpPr>
          <p:cNvPr id="15" name="fairness">
            <a:extLst xmlns:a="http://schemas.openxmlformats.org/drawingml/2006/main">
              <a:ext uri="{FF2B5EF4-FFF2-40B4-BE49-F238E27FC236}">
                <a16:creationId xmlns:a16="http://schemas.microsoft.com/office/drawing/2014/main" id="{F097B924-0AE8-4685-BB1A-9079A5485CF3}"/>
              </a:ext>
            </a:extLst>
          </p:cNvPr>
          <p:cNvSpPr>
            <a:spLocks xmlns:a="http://schemas.openxmlformats.org/drawingml/2006/main" noGrp="1"/>
          </p:cNvSpPr>
          <p:nvPr/>
        </p:nvSpPr>
        <p:spPr>
          <a:xfrm xmlns:a="http://schemas.openxmlformats.org/drawingml/2006/main">
            <a:off x="5391150" y="55245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E7A94B"/>
                </a:solidFill>
                <a:latin typeface="Arial"/>
                <a:ea typeface="Arial"/>
                <a:cs typeface="Arial"/>
              </a:defRPr>
            </a:defPPr>
          </a:lstStyle>
          <a:p xmlns:a="http://schemas.openxmlformats.org/drawingml/2006/main">
            <a:pPr algn="l">
              <a:defRPr sz="1350" b="1">
                <a:solidFill>
                  <a:srgbClr val="E7A94B"/>
                </a:solidFill>
                <a:latin typeface="Arial"/>
                <a:ea typeface="Arial"/>
                <a:cs typeface="Arial"/>
              </a:defRPr>
            </a:pPr>
            <a:r>
              <a:rPr sz="1350" b="1">
                <a:solidFill>
                  <a:srgbClr val="E7A94B"/>
                </a:solidFill>
                <a:latin typeface="Arial"/>
                <a:ea typeface="Arial"/>
                <a:cs typeface="Arial"/>
              </a:rPr>
              <a:t>Wind-up  /  reach  /  recovery</a:t>
            </a:r>
          </a:p>
        </p:txBody>
      </p:sp>
    </p:spTree>
    <p:extLst>
      <p:ext uri="{BB962C8B-B14F-4D97-AF65-F5344CB8AC3E}">
        <p14:creationId xmlns:p14="http://schemas.microsoft.com/office/powerpoint/2010/main" val="46297795"/>
      </p:ext>
    </p:extLst>
  </p:cSld>
</p:sld>
</file>

<file path=ppt/slides/slide6.xml><?xml version="1.0" encoding="utf-8"?>
<p:sld xmlns:p="http://schemas.openxmlformats.org/presentationml/2006/main">
  <p:cSld>
    <p:bg>
      <p:bgPr>
        <a:solidFill xmlns:a="http://schemas.openxmlformats.org/drawingml/2006/main">
          <a:srgbClr val="10131A"/>
        </a:solidFill>
      </p:bgPr>
    </p:bg>
    <p:spTree>
      <p:nvGrpSpPr>
        <p:cNvPr id="1" name=""/>
        <p:cNvGrpSpPr/>
        <p:nvPr/>
      </p:nvGrpSpPr>
      <p:grpSpPr>
        <a:xfrm xmlns:a="http://schemas.openxmlformats.org/drawingml/2006/main"/>
      </p:grpSpPr>
      <p:sp>
        <p:nvSpPr>
          <p:cNvPr id="15" name="title">
            <a:extLst xmlns:a="http://schemas.openxmlformats.org/drawingml/2006/main">
              <a:ext uri="{FF2B5EF4-FFF2-40B4-BE49-F238E27FC236}">
                <a16:creationId xmlns:a16="http://schemas.microsoft.com/office/drawing/2014/main" id="{1AF7CB79-656F-4876-A04E-9C00268CFFEE}"/>
              </a:ext>
            </a:extLst>
          </p:cNvPr>
          <p:cNvSpPr>
            <a:spLocks xmlns:a="http://schemas.openxmlformats.org/drawingml/2006/main" noGrp="1"/>
          </p:cNvSpPr>
          <p:nvPr/>
        </p:nvSpPr>
        <p:spPr>
          <a:xfrm xmlns:a="http://schemas.openxmlformats.org/drawingml/2006/main">
            <a:off x="647700" y="3810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F4F0E5"/>
                </a:solidFill>
                <a:latin typeface="Arial"/>
                <a:ea typeface="Arial"/>
                <a:cs typeface="Arial"/>
              </a:defRPr>
            </a:defPPr>
          </a:lstStyle>
          <a:p xmlns:a="http://schemas.openxmlformats.org/drawingml/2006/main">
            <a:pPr algn="l">
              <a:defRPr sz="2850" b="1">
                <a:solidFill>
                  <a:srgbClr val="F4F0E5"/>
                </a:solidFill>
                <a:latin typeface="Arial"/>
                <a:ea typeface="Arial"/>
                <a:cs typeface="Arial"/>
              </a:defRPr>
            </a:pPr>
            <a:r>
              <a:rPr sz="2850" b="1">
                <a:solidFill>
                  <a:srgbClr val="F4F0E5"/>
                </a:solidFill>
                <a:latin typeface="Arial"/>
                <a:ea typeface="Arial"/>
                <a:cs typeface="Arial"/>
              </a:rPr>
              <a:t>Loot and skill growth shape a run</a:t>
            </a:r>
          </a:p>
        </p:txBody>
      </p:sp>
      <p:sp>
        <p:nvSpPr>
          <p:cNvPr id="2" name="title rule">
            <a:extLst xmlns:a="http://schemas.openxmlformats.org/drawingml/2006/main">
              <a:ext uri="{FF2B5EF4-FFF2-40B4-BE49-F238E27FC236}">
                <a16:creationId xmlns:a16="http://schemas.microsoft.com/office/drawing/2014/main" id="{8EB668BE-1506-4C1F-BB12-14A32845C2FC}"/>
              </a:ext>
            </a:extLst>
          </p:cNvPr>
          <p:cNvSpPr>
            <a:spLocks xmlns:a="http://schemas.openxmlformats.org/drawingml/2006/main" noGrp="1"/>
          </p:cNvSpPr>
          <p:nvPr/>
        </p:nvSpPr>
        <p:spPr>
          <a:xfrm xmlns:a="http://schemas.openxmlformats.org/drawingml/2006/main">
            <a:off x="647700" y="1028700"/>
            <a:ext cx="647700" cy="38100"/>
          </a:xfrm>
          <a:prstGeom xmlns:a="http://schemas.openxmlformats.org/drawingml/2006/main" prst="rect">
            <a:avLst/>
          </a:prstGeom>
          <a:solidFill xmlns:a="http://schemas.openxmlformats.org/drawingml/2006/main">
            <a:srgbClr val="E7A94B"/>
          </a:solidFill>
          <a:ln xmlns:a="http://schemas.openxmlformats.org/drawingml/2006/main" w="0">
            <a:noFill/>
            <a:prstDash val="solid"/>
          </a:ln>
        </p:spPr>
      </p:sp>
      <p:sp>
        <p:nvSpPr>
          <p:cNvPr id="3" name="subtitle">
            <a:extLst xmlns:a="http://schemas.openxmlformats.org/drawingml/2006/main">
              <a:ext uri="{FF2B5EF4-FFF2-40B4-BE49-F238E27FC236}">
                <a16:creationId xmlns:a16="http://schemas.microsoft.com/office/drawing/2014/main" id="{B956B644-CB80-40FE-84BA-07CF8AAD8CD8}"/>
              </a:ext>
            </a:extLst>
          </p:cNvPr>
          <p:cNvSpPr>
            <a:spLocks xmlns:a="http://schemas.openxmlformats.org/drawingml/2006/main" noGrp="1"/>
          </p:cNvSpPr>
          <p:nvPr/>
        </p:nvSpPr>
        <p:spPr>
          <a:xfrm xmlns:a="http://schemas.openxmlformats.org/drawingml/2006/main">
            <a:off x="647700" y="117157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ABB2BC"/>
                </a:solidFill>
                <a:latin typeface="Arial"/>
                <a:ea typeface="Arial"/>
                <a:cs typeface="Arial"/>
              </a:defRPr>
            </a:defPPr>
          </a:lstStyle>
          <a:p xmlns:a="http://schemas.openxmlformats.org/drawingml/2006/main">
            <a:pPr algn="l">
              <a:defRPr sz="1275" b="0">
                <a:solidFill>
                  <a:srgbClr val="ABB2BC"/>
                </a:solidFill>
                <a:latin typeface="Arial"/>
                <a:ea typeface="Arial"/>
                <a:cs typeface="Arial"/>
              </a:defRPr>
            </a:pPr>
            <a:r>
              <a:rPr sz="1275" b="0">
                <a:solidFill>
                  <a:srgbClr val="ABB2BC"/>
                </a:solidFill>
                <a:latin typeface="Arial"/>
                <a:ea typeface="Arial"/>
                <a:cs typeface="Arial"/>
              </a:rPr>
              <a:t>A deliberately small combat roster supports meaningful equipment choices</a:t>
            </a:r>
          </a:p>
        </p:txBody>
      </p:sp>
      <p:sp>
        <p:nvSpPr>
          <p:cNvPr id="4" name="wordmark">
            <a:extLst xmlns:a="http://schemas.openxmlformats.org/drawingml/2006/main">
              <a:ext uri="{FF2B5EF4-FFF2-40B4-BE49-F238E27FC236}">
                <a16:creationId xmlns:a16="http://schemas.microsoft.com/office/drawing/2014/main" id="{EC41675A-5D10-404A-9FEE-DE85831A1A72}"/>
              </a:ext>
            </a:extLst>
          </p:cNvPr>
          <p:cNvSpPr>
            <a:spLocks xmlns:a="http://schemas.openxmlformats.org/drawingml/2006/main" noGrp="1"/>
          </p:cNvSpPr>
          <p:nvPr/>
        </p:nvSpPr>
        <p:spPr>
          <a:xfrm xmlns:a="http://schemas.openxmlformats.org/drawingml/2006/main">
            <a:off x="647700" y="64389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737D89"/>
                </a:solidFill>
                <a:latin typeface="Arial"/>
                <a:ea typeface="Arial"/>
                <a:cs typeface="Arial"/>
              </a:defRPr>
            </a:defPPr>
          </a:lstStyle>
          <a:p xmlns:a="http://schemas.openxmlformats.org/drawingml/2006/main">
            <a:pPr algn="l">
              <a:defRPr sz="900" b="1">
                <a:solidFill>
                  <a:srgbClr val="737D89"/>
                </a:solidFill>
                <a:latin typeface="Arial"/>
                <a:ea typeface="Arial"/>
                <a:cs typeface="Arial"/>
              </a:defRPr>
            </a:pPr>
            <a:r>
              <a:rPr sz="900" b="1">
                <a:solidFill>
                  <a:srgbClr val="737D89"/>
                </a:solidFill>
                <a:latin typeface="Arial"/>
                <a:ea typeface="Arial"/>
                <a:cs typeface="Arial"/>
              </a:rPr>
              <a:t>LOOMROOM</a:t>
            </a:r>
          </a:p>
        </p:txBody>
      </p:sp>
      <p:sp>
        <p:nvSpPr>
          <p:cNvPr id="5" name="page">
            <a:extLst xmlns:a="http://schemas.openxmlformats.org/drawingml/2006/main">
              <a:ext uri="{FF2B5EF4-FFF2-40B4-BE49-F238E27FC236}">
                <a16:creationId xmlns:a16="http://schemas.microsoft.com/office/drawing/2014/main" id="{B6D8C5EB-03AE-4C74-A69F-D9514E4E678F}"/>
              </a:ext>
            </a:extLst>
          </p:cNvPr>
          <p:cNvSpPr>
            <a:spLocks xmlns:a="http://schemas.openxmlformats.org/drawingml/2006/main" noGrp="1"/>
          </p:cNvSpPr>
          <p:nvPr/>
        </p:nvSpPr>
        <p:spPr>
          <a:xfrm xmlns:a="http://schemas.openxmlformats.org/drawingml/2006/main">
            <a:off x="11201400" y="64389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00" b="0">
                <a:solidFill>
                  <a:srgbClr val="737D89"/>
                </a:solidFill>
                <a:latin typeface="Arial"/>
                <a:ea typeface="Arial"/>
                <a:cs typeface="Arial"/>
              </a:defRPr>
            </a:defPPr>
          </a:lstStyle>
          <a:p xmlns:a="http://schemas.openxmlformats.org/drawingml/2006/main">
            <a:pPr algn="r">
              <a:defRPr sz="900" b="0">
                <a:solidFill>
                  <a:srgbClr val="737D89"/>
                </a:solidFill>
                <a:latin typeface="Arial"/>
                <a:ea typeface="Arial"/>
                <a:cs typeface="Arial"/>
              </a:defRPr>
            </a:pPr>
            <a:r>
              <a:rPr sz="900" b="0">
                <a:solidFill>
                  <a:srgbClr val="737D89"/>
                </a:solidFill>
                <a:latin typeface="Arial"/>
                <a:ea typeface="Arial"/>
                <a:cs typeface="Arial"/>
              </a:rPr>
              <a:t>06</a:t>
            </a:r>
          </a:p>
        </p:txBody>
      </p:sp>
      <p:sp>
        <p:nvSpPr>
          <p:cNvPr id="6" name="label CLASSES">
            <a:extLst xmlns:a="http://schemas.openxmlformats.org/drawingml/2006/main">
              <a:ext uri="{FF2B5EF4-FFF2-40B4-BE49-F238E27FC236}">
                <a16:creationId xmlns:a16="http://schemas.microsoft.com/office/drawing/2014/main" id="{E1BEAED5-0F98-4B66-8BAE-81661325287C}"/>
              </a:ext>
            </a:extLst>
          </p:cNvPr>
          <p:cNvSpPr>
            <a:spLocks xmlns:a="http://schemas.openxmlformats.org/drawingml/2006/main" noGrp="1"/>
          </p:cNvSpPr>
          <p:nvPr/>
        </p:nvSpPr>
        <p:spPr>
          <a:xfrm xmlns:a="http://schemas.openxmlformats.org/drawingml/2006/main">
            <a:off x="762000" y="1952625"/>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E7A94B"/>
                </a:solidFill>
                <a:latin typeface="Arial"/>
                <a:ea typeface="Arial"/>
                <a:cs typeface="Arial"/>
              </a:defRPr>
            </a:defPPr>
          </a:lstStyle>
          <a:p xmlns:a="http://schemas.openxmlformats.org/drawingml/2006/main">
            <a:pPr algn="l">
              <a:defRPr sz="900" b="1">
                <a:solidFill>
                  <a:srgbClr val="E7A94B"/>
                </a:solidFill>
                <a:latin typeface="Arial"/>
                <a:ea typeface="Arial"/>
                <a:cs typeface="Arial"/>
              </a:defRPr>
            </a:pPr>
            <a:r>
              <a:rPr sz="900" b="1">
                <a:solidFill>
                  <a:srgbClr val="E7A94B"/>
                </a:solidFill>
                <a:latin typeface="Arial"/>
                <a:ea typeface="Arial"/>
                <a:cs typeface="Arial"/>
              </a:rPr>
              <a:t>CLASSES</a:t>
            </a:r>
          </a:p>
        </p:txBody>
      </p:sp>
      <p:sp>
        <p:nvSpPr>
          <p:cNvPr id="7" name="class roster">
            <a:extLst xmlns:a="http://schemas.openxmlformats.org/drawingml/2006/main">
              <a:ext uri="{FF2B5EF4-FFF2-40B4-BE49-F238E27FC236}">
                <a16:creationId xmlns:a16="http://schemas.microsoft.com/office/drawing/2014/main" id="{D36E5BF2-2B91-4BA8-9168-E678B59B29DA}"/>
              </a:ext>
            </a:extLst>
          </p:cNvPr>
          <p:cNvSpPr>
            <a:spLocks xmlns:a="http://schemas.openxmlformats.org/drawingml/2006/main" noGrp="1"/>
          </p:cNvSpPr>
          <p:nvPr/>
        </p:nvSpPr>
        <p:spPr>
          <a:xfrm xmlns:a="http://schemas.openxmlformats.org/drawingml/2006/main">
            <a:off x="762000" y="2343150"/>
            <a:ext cx="2857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250" b="1">
                <a:solidFill>
                  <a:srgbClr val="F4F0E5"/>
                </a:solidFill>
                <a:latin typeface="Arial"/>
                <a:ea typeface="Arial"/>
                <a:cs typeface="Arial"/>
              </a:defRPr>
            </a:defPPr>
          </a:lstStyle>
          <a:p xmlns:a="http://schemas.openxmlformats.org/drawingml/2006/main">
            <a:pPr algn="l">
              <a:defRPr sz="2250" b="1">
                <a:solidFill>
                  <a:srgbClr val="F4F0E5"/>
                </a:solidFill>
                <a:latin typeface="Arial"/>
                <a:ea typeface="Arial"/>
                <a:cs typeface="Arial"/>
              </a:defRPr>
            </a:pPr>
            <a:r>
              <a:rPr sz="2250" b="1">
                <a:solidFill>
                  <a:srgbClr val="F4F0E5"/>
                </a:solidFill>
                <a:latin typeface="Arial"/>
                <a:ea typeface="Arial"/>
                <a:cs typeface="Arial"/>
              </a:rPr>
              <a:t>Warrior</a:t>
            </a:r>
          </a:p>
          <a:p xmlns:a="http://schemas.openxmlformats.org/drawingml/2006/main">
            <a:pPr algn="l">
              <a:defRPr sz="2250" b="1">
                <a:solidFill>
                  <a:srgbClr val="F4F0E5"/>
                </a:solidFill>
                <a:latin typeface="Arial"/>
                <a:ea typeface="Arial"/>
                <a:cs typeface="Arial"/>
              </a:defRPr>
            </a:pPr>
            <a:r>
              <a:rPr sz="2250" b="1">
                <a:solidFill>
                  <a:srgbClr val="F4F0E5"/>
                </a:solidFill>
                <a:latin typeface="Arial"/>
                <a:ea typeface="Arial"/>
                <a:cs typeface="Arial"/>
              </a:rPr>
              <a:t>Wizard</a:t>
            </a:r>
          </a:p>
          <a:p xmlns:a="http://schemas.openxmlformats.org/drawingml/2006/main">
            <a:pPr algn="l">
              <a:defRPr sz="2250" b="1">
                <a:solidFill>
                  <a:srgbClr val="F4F0E5"/>
                </a:solidFill>
                <a:latin typeface="Arial"/>
                <a:ea typeface="Arial"/>
                <a:cs typeface="Arial"/>
              </a:defRPr>
            </a:pPr>
            <a:r>
              <a:rPr sz="2250" b="1">
                <a:solidFill>
                  <a:srgbClr val="F4F0E5"/>
                </a:solidFill>
                <a:latin typeface="Arial"/>
                <a:ea typeface="Arial"/>
                <a:cs typeface="Arial"/>
              </a:rPr>
              <a:t>Cleric</a:t>
            </a:r>
          </a:p>
        </p:txBody>
      </p:sp>
      <p:sp>
        <p:nvSpPr>
          <p:cNvPr id="8" name="class note">
            <a:extLst xmlns:a="http://schemas.openxmlformats.org/drawingml/2006/main">
              <a:ext uri="{FF2B5EF4-FFF2-40B4-BE49-F238E27FC236}">
                <a16:creationId xmlns:a16="http://schemas.microsoft.com/office/drawing/2014/main" id="{FFB3221A-A960-40CD-A840-534FE2D47D5D}"/>
              </a:ext>
            </a:extLst>
          </p:cNvPr>
          <p:cNvSpPr>
            <a:spLocks xmlns:a="http://schemas.openxmlformats.org/drawingml/2006/main" noGrp="1"/>
          </p:cNvSpPr>
          <p:nvPr/>
        </p:nvSpPr>
        <p:spPr>
          <a:xfrm xmlns:a="http://schemas.openxmlformats.org/drawingml/2006/main">
            <a:off x="762000" y="4314825"/>
            <a:ext cx="276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ABB2BC"/>
                </a:solidFill>
                <a:latin typeface="Arial"/>
                <a:ea typeface="Arial"/>
                <a:cs typeface="Arial"/>
              </a:defRPr>
            </a:defPPr>
          </a:lstStyle>
          <a:p xmlns:a="http://schemas.openxmlformats.org/drawingml/2006/main">
            <a:pPr algn="l">
              <a:defRPr sz="1350" b="0">
                <a:solidFill>
                  <a:srgbClr val="ABB2BC"/>
                </a:solidFill>
                <a:latin typeface="Arial"/>
                <a:ea typeface="Arial"/>
                <a:cs typeface="Arial"/>
              </a:defRPr>
            </a:pPr>
            <a:r>
              <a:rPr sz="1350" b="0">
                <a:solidFill>
                  <a:srgbClr val="ABB2BC"/>
                </a:solidFill>
                <a:latin typeface="Arial"/>
                <a:ea typeface="Arial"/>
                <a:cs typeface="Arial"/>
              </a:rPr>
              <a:t>Different starting gear, resources and proficiencies.</a:t>
            </a:r>
          </a:p>
        </p:txBody>
      </p:sp>
      <p:sp>
        <p:nvSpPr>
          <p:cNvPr id="9" name="label EQUIPMENT">
            <a:extLst xmlns:a="http://schemas.openxmlformats.org/drawingml/2006/main">
              <a:ext uri="{FF2B5EF4-FFF2-40B4-BE49-F238E27FC236}">
                <a16:creationId xmlns:a16="http://schemas.microsoft.com/office/drawing/2014/main" id="{491D1394-D5BE-4A2E-9E1B-79C2F46234E6}"/>
              </a:ext>
            </a:extLst>
          </p:cNvPr>
          <p:cNvSpPr>
            <a:spLocks xmlns:a="http://schemas.openxmlformats.org/drawingml/2006/main" noGrp="1"/>
          </p:cNvSpPr>
          <p:nvPr/>
        </p:nvSpPr>
        <p:spPr>
          <a:xfrm xmlns:a="http://schemas.openxmlformats.org/drawingml/2006/main">
            <a:off x="4476750" y="1952625"/>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70B6A7"/>
                </a:solidFill>
                <a:latin typeface="Arial"/>
                <a:ea typeface="Arial"/>
                <a:cs typeface="Arial"/>
              </a:defRPr>
            </a:defPPr>
          </a:lstStyle>
          <a:p xmlns:a="http://schemas.openxmlformats.org/drawingml/2006/main">
            <a:pPr algn="l">
              <a:defRPr sz="900" b="1">
                <a:solidFill>
                  <a:srgbClr val="70B6A7"/>
                </a:solidFill>
                <a:latin typeface="Arial"/>
                <a:ea typeface="Arial"/>
                <a:cs typeface="Arial"/>
              </a:defRPr>
            </a:pPr>
            <a:r>
              <a:rPr sz="900" b="1">
                <a:solidFill>
                  <a:srgbClr val="70B6A7"/>
                </a:solidFill>
                <a:latin typeface="Arial"/>
                <a:ea typeface="Arial"/>
                <a:cs typeface="Arial"/>
              </a:rPr>
              <a:t>EQUIPMENT</a:t>
            </a:r>
          </a:p>
        </p:txBody>
      </p:sp>
      <p:sp>
        <p:nvSpPr>
          <p:cNvPr id="10" name="item roster">
            <a:extLst xmlns:a="http://schemas.openxmlformats.org/drawingml/2006/main">
              <a:ext uri="{FF2B5EF4-FFF2-40B4-BE49-F238E27FC236}">
                <a16:creationId xmlns:a16="http://schemas.microsoft.com/office/drawing/2014/main" id="{F0BBC7A1-BF5E-4ADE-A543-EB8043D4526D}"/>
              </a:ext>
            </a:extLst>
          </p:cNvPr>
          <p:cNvSpPr>
            <a:spLocks xmlns:a="http://schemas.openxmlformats.org/drawingml/2006/main" noGrp="1"/>
          </p:cNvSpPr>
          <p:nvPr/>
        </p:nvSpPr>
        <p:spPr>
          <a:xfrm xmlns:a="http://schemas.openxmlformats.org/drawingml/2006/main">
            <a:off x="4476750" y="2343150"/>
            <a:ext cx="3286125"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950" b="1">
                <a:solidFill>
                  <a:srgbClr val="F4F0E5"/>
                </a:solidFill>
                <a:latin typeface="Arial"/>
                <a:ea typeface="Arial"/>
                <a:cs typeface="Arial"/>
              </a:defRPr>
            </a:defPPr>
          </a:lstStyle>
          <a:p xmlns:a="http://schemas.openxmlformats.org/drawingml/2006/main">
            <a:pPr algn="l">
              <a:defRPr sz="1950" b="1">
                <a:solidFill>
                  <a:srgbClr val="F4F0E5"/>
                </a:solidFill>
                <a:latin typeface="Arial"/>
                <a:ea typeface="Arial"/>
                <a:cs typeface="Arial"/>
              </a:defRPr>
            </a:pPr>
            <a:r>
              <a:rPr sz="1950" b="1">
                <a:solidFill>
                  <a:srgbClr val="F4F0E5"/>
                </a:solidFill>
                <a:latin typeface="Arial"/>
                <a:ea typeface="Arial"/>
                <a:cs typeface="Arial"/>
              </a:rPr>
              <a:t>Weapons</a:t>
            </a:r>
          </a:p>
          <a:p xmlns:a="http://schemas.openxmlformats.org/drawingml/2006/main">
            <a:pPr algn="l">
              <a:defRPr sz="1950" b="1">
                <a:solidFill>
                  <a:srgbClr val="F4F0E5"/>
                </a:solidFill>
                <a:latin typeface="Arial"/>
                <a:ea typeface="Arial"/>
                <a:cs typeface="Arial"/>
              </a:defRPr>
            </a:pPr>
            <a:r>
              <a:rPr sz="1950" b="1">
                <a:solidFill>
                  <a:srgbClr val="F4F0E5"/>
                </a:solidFill>
                <a:latin typeface="Arial"/>
                <a:ea typeface="Arial"/>
                <a:cs typeface="Arial"/>
              </a:rPr>
              <a:t>Shields and armor</a:t>
            </a:r>
          </a:p>
          <a:p xmlns:a="http://schemas.openxmlformats.org/drawingml/2006/main">
            <a:pPr algn="l">
              <a:defRPr sz="1950" b="1">
                <a:solidFill>
                  <a:srgbClr val="F4F0E5"/>
                </a:solidFill>
                <a:latin typeface="Arial"/>
                <a:ea typeface="Arial"/>
                <a:cs typeface="Arial"/>
              </a:defRPr>
            </a:pPr>
            <a:r>
              <a:rPr sz="1950" b="1">
                <a:solidFill>
                  <a:srgbClr val="F4F0E5"/>
                </a:solidFill>
                <a:latin typeface="Arial"/>
                <a:ea typeface="Arial"/>
                <a:cs typeface="Arial"/>
              </a:rPr>
              <a:t>Rings and amulets</a:t>
            </a:r>
          </a:p>
          <a:p xmlns:a="http://schemas.openxmlformats.org/drawingml/2006/main">
            <a:pPr algn="l">
              <a:defRPr sz="1950" b="1">
                <a:solidFill>
                  <a:srgbClr val="F4F0E5"/>
                </a:solidFill>
                <a:latin typeface="Arial"/>
                <a:ea typeface="Arial"/>
                <a:cs typeface="Arial"/>
              </a:defRPr>
            </a:pPr>
            <a:r>
              <a:rPr sz="1950" b="1">
                <a:solidFill>
                  <a:srgbClr val="F4F0E5"/>
                </a:solidFill>
                <a:latin typeface="Arial"/>
                <a:ea typeface="Arial"/>
                <a:cs typeface="Arial"/>
              </a:rPr>
              <a:t>Food and potions</a:t>
            </a:r>
          </a:p>
        </p:txBody>
      </p:sp>
      <p:sp>
        <p:nvSpPr>
          <p:cNvPr id="11" name="item note">
            <a:extLst xmlns:a="http://schemas.openxmlformats.org/drawingml/2006/main">
              <a:ext uri="{FF2B5EF4-FFF2-40B4-BE49-F238E27FC236}">
                <a16:creationId xmlns:a16="http://schemas.microsoft.com/office/drawing/2014/main" id="{2C36F4C4-D16C-4332-9C8E-8DE8611E7A71}"/>
              </a:ext>
            </a:extLst>
          </p:cNvPr>
          <p:cNvSpPr>
            <a:spLocks xmlns:a="http://schemas.openxmlformats.org/drawingml/2006/main" noGrp="1"/>
          </p:cNvSpPr>
          <p:nvPr/>
        </p:nvSpPr>
        <p:spPr>
          <a:xfrm xmlns:a="http://schemas.openxmlformats.org/drawingml/2006/main">
            <a:off x="4476750" y="443865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ABB2BC"/>
                </a:solidFill>
                <a:latin typeface="Arial"/>
                <a:ea typeface="Arial"/>
                <a:cs typeface="Arial"/>
              </a:defRPr>
            </a:defPPr>
          </a:lstStyle>
          <a:p xmlns:a="http://schemas.openxmlformats.org/drawingml/2006/main">
            <a:pPr algn="l">
              <a:defRPr sz="1350" b="0">
                <a:solidFill>
                  <a:srgbClr val="ABB2BC"/>
                </a:solidFill>
                <a:latin typeface="Arial"/>
                <a:ea typeface="Arial"/>
                <a:cs typeface="Arial"/>
              </a:defRPr>
            </a:pPr>
            <a:r>
              <a:rPr sz="1350" b="0">
                <a:solidFill>
                  <a:srgbClr val="ABB2BC"/>
                </a:solidFill>
                <a:latin typeface="Arial"/>
                <a:ea typeface="Arial"/>
                <a:cs typeface="Arial"/>
              </a:rPr>
              <a:t>Clear improvements to Attack, Armor Class and attributes.</a:t>
            </a:r>
          </a:p>
        </p:txBody>
      </p:sp>
      <p:sp>
        <p:nvSpPr>
          <p:cNvPr id="12" name="label SKILLS">
            <a:extLst xmlns:a="http://schemas.openxmlformats.org/drawingml/2006/main">
              <a:ext uri="{FF2B5EF4-FFF2-40B4-BE49-F238E27FC236}">
                <a16:creationId xmlns:a16="http://schemas.microsoft.com/office/drawing/2014/main" id="{5ED324DE-5CDC-47D8-A1DE-F089DD0608CA}"/>
              </a:ext>
            </a:extLst>
          </p:cNvPr>
          <p:cNvSpPr>
            <a:spLocks xmlns:a="http://schemas.openxmlformats.org/drawingml/2006/main" noGrp="1"/>
          </p:cNvSpPr>
          <p:nvPr/>
        </p:nvSpPr>
        <p:spPr>
          <a:xfrm xmlns:a="http://schemas.openxmlformats.org/drawingml/2006/main">
            <a:off x="8191500" y="1952625"/>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B75A3C"/>
                </a:solidFill>
                <a:latin typeface="Arial"/>
                <a:ea typeface="Arial"/>
                <a:cs typeface="Arial"/>
              </a:defRPr>
            </a:defPPr>
          </a:lstStyle>
          <a:p xmlns:a="http://schemas.openxmlformats.org/drawingml/2006/main">
            <a:pPr algn="l">
              <a:defRPr sz="900" b="1">
                <a:solidFill>
                  <a:srgbClr val="B75A3C"/>
                </a:solidFill>
                <a:latin typeface="Arial"/>
                <a:ea typeface="Arial"/>
                <a:cs typeface="Arial"/>
              </a:defRPr>
            </a:pPr>
            <a:r>
              <a:rPr sz="900" b="1">
                <a:solidFill>
                  <a:srgbClr val="B75A3C"/>
                </a:solidFill>
                <a:latin typeface="Arial"/>
                <a:ea typeface="Arial"/>
                <a:cs typeface="Arial"/>
              </a:rPr>
              <a:t>SKILLS</a:t>
            </a:r>
          </a:p>
        </p:txBody>
      </p:sp>
      <p:sp>
        <p:nvSpPr>
          <p:cNvPr id="13" name="skill roster">
            <a:extLst xmlns:a="http://schemas.openxmlformats.org/drawingml/2006/main">
              <a:ext uri="{FF2B5EF4-FFF2-40B4-BE49-F238E27FC236}">
                <a16:creationId xmlns:a16="http://schemas.microsoft.com/office/drawing/2014/main" id="{512E9230-17BF-485E-9D89-266EEC03BD78}"/>
              </a:ext>
            </a:extLst>
          </p:cNvPr>
          <p:cNvSpPr>
            <a:spLocks xmlns:a="http://schemas.openxmlformats.org/drawingml/2006/main" noGrp="1"/>
          </p:cNvSpPr>
          <p:nvPr/>
        </p:nvSpPr>
        <p:spPr>
          <a:xfrm xmlns:a="http://schemas.openxmlformats.org/drawingml/2006/main">
            <a:off x="8191500" y="2343150"/>
            <a:ext cx="3524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F4F0E5"/>
                </a:solidFill>
                <a:latin typeface="Arial"/>
                <a:ea typeface="Arial"/>
                <a:cs typeface="Arial"/>
              </a:defRPr>
            </a:defPPr>
          </a:lstStyle>
          <a:p xmlns:a="http://schemas.openxmlformats.org/drawingml/2006/main">
            <a:pPr algn="l">
              <a:defRPr sz="1725" b="1">
                <a:solidFill>
                  <a:srgbClr val="F4F0E5"/>
                </a:solidFill>
                <a:latin typeface="Arial"/>
                <a:ea typeface="Arial"/>
                <a:cs typeface="Arial"/>
              </a:defRPr>
            </a:pPr>
            <a:r>
              <a:rPr sz="1725" b="1">
                <a:solidFill>
                  <a:srgbClr val="F4F0E5"/>
                </a:solidFill>
                <a:latin typeface="Arial"/>
                <a:ea typeface="Arial"/>
                <a:cs typeface="Arial"/>
              </a:rPr>
              <a:t>Swords  /  Maces  /  Blocking</a:t>
            </a:r>
          </a:p>
          <a:p xmlns:a="http://schemas.openxmlformats.org/drawingml/2006/main">
            <a:pPr algn="l">
              <a:defRPr sz="1725" b="1">
                <a:solidFill>
                  <a:srgbClr val="F4F0E5"/>
                </a:solidFill>
                <a:latin typeface="Arial"/>
                <a:ea typeface="Arial"/>
                <a:cs typeface="Arial"/>
              </a:defRPr>
            </a:pPr>
            <a:r>
              <a:rPr sz="1725" b="1">
                <a:solidFill>
                  <a:srgbClr val="F4F0E5"/>
                </a:solidFill>
                <a:latin typeface="Arial"/>
                <a:ea typeface="Arial"/>
                <a:cs typeface="Arial"/>
              </a:rPr>
              <a:t>Sorcery  /  Thaumaturgy</a:t>
            </a:r>
          </a:p>
          <a:p xmlns:a="http://schemas.openxmlformats.org/drawingml/2006/main">
            <a:pPr algn="l">
              <a:defRPr sz="1725" b="1">
                <a:solidFill>
                  <a:srgbClr val="F4F0E5"/>
                </a:solidFill>
                <a:latin typeface="Arial"/>
                <a:ea typeface="Arial"/>
                <a:cs typeface="Arial"/>
              </a:defRPr>
            </a:pPr>
            <a:r>
              <a:rPr sz="1725" b="1">
                <a:solidFill>
                  <a:srgbClr val="F4F0E5"/>
                </a:solidFill>
                <a:latin typeface="Arial"/>
                <a:ea typeface="Arial"/>
                <a:cs typeface="Arial"/>
              </a:rPr>
              <a:t>Athletics  /  Trading</a:t>
            </a:r>
          </a:p>
        </p:txBody>
      </p:sp>
      <p:sp>
        <p:nvSpPr>
          <p:cNvPr id="14" name="skill note">
            <a:extLst xmlns:a="http://schemas.openxmlformats.org/drawingml/2006/main">
              <a:ext uri="{FF2B5EF4-FFF2-40B4-BE49-F238E27FC236}">
                <a16:creationId xmlns:a16="http://schemas.microsoft.com/office/drawing/2014/main" id="{EC4AAB55-5C5F-4FE4-A714-C0022DE651A9}"/>
              </a:ext>
            </a:extLst>
          </p:cNvPr>
          <p:cNvSpPr>
            <a:spLocks xmlns:a="http://schemas.openxmlformats.org/drawingml/2006/main" noGrp="1"/>
          </p:cNvSpPr>
          <p:nvPr/>
        </p:nvSpPr>
        <p:spPr>
          <a:xfrm xmlns:a="http://schemas.openxmlformats.org/drawingml/2006/main">
            <a:off x="8191500" y="4333875"/>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ABB2BC"/>
                </a:solidFill>
                <a:latin typeface="Arial"/>
                <a:ea typeface="Arial"/>
                <a:cs typeface="Arial"/>
              </a:defRPr>
            </a:defPPr>
          </a:lstStyle>
          <a:p xmlns:a="http://schemas.openxmlformats.org/drawingml/2006/main">
            <a:pPr algn="l">
              <a:defRPr sz="1350" b="0">
                <a:solidFill>
                  <a:srgbClr val="ABB2BC"/>
                </a:solidFill>
                <a:latin typeface="Arial"/>
                <a:ea typeface="Arial"/>
                <a:cs typeface="Arial"/>
              </a:defRPr>
            </a:pPr>
            <a:r>
              <a:rPr sz="1350" b="0">
                <a:solidFill>
                  <a:srgbClr val="ABB2BC"/>
                </a:solidFill>
                <a:latin typeface="Arial"/>
                <a:ea typeface="Arial"/>
                <a:cs typeface="Arial"/>
              </a:rPr>
              <a:t>Skills rise through successful use. No spendable skill points.</a:t>
            </a:r>
          </a:p>
        </p:txBody>
      </p:sp>
    </p:spTree>
    <p:extLst>
      <p:ext uri="{BB962C8B-B14F-4D97-AF65-F5344CB8AC3E}">
        <p14:creationId xmlns:p14="http://schemas.microsoft.com/office/powerpoint/2010/main" val="1501948282"/>
      </p:ext>
    </p:extLst>
  </p:cSld>
</p:sld>
</file>

<file path=ppt/slides/slide7.xml><?xml version="1.0" encoding="utf-8"?>
<p:sld xmlns:p="http://schemas.openxmlformats.org/presentationml/2006/main">
  <p:cSld>
    <p:bg>
      <p:bgPr>
        <a:solidFill xmlns:a="http://schemas.openxmlformats.org/drawingml/2006/main">
          <a:srgbClr val="10131A"/>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54148CCA-CC67-4F35-A748-5CC4D1DF9B05}"/>
              </a:ext>
            </a:extLst>
          </p:cNvPr>
          <p:cNvSpPr>
            <a:spLocks xmlns:a="http://schemas.openxmlformats.org/drawingml/2006/main" noGrp="1"/>
          </p:cNvSpPr>
          <p:nvPr/>
        </p:nvSpPr>
        <p:spPr>
          <a:xfrm xmlns:a="http://schemas.openxmlformats.org/drawingml/2006/main">
            <a:off x="647700" y="3810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F4F0E5"/>
                </a:solidFill>
                <a:latin typeface="Arial"/>
                <a:ea typeface="Arial"/>
                <a:cs typeface="Arial"/>
              </a:defRPr>
            </a:defPPr>
          </a:lstStyle>
          <a:p xmlns:a="http://schemas.openxmlformats.org/drawingml/2006/main">
            <a:pPr algn="l">
              <a:defRPr sz="2850" b="1">
                <a:solidFill>
                  <a:srgbClr val="F4F0E5"/>
                </a:solidFill>
                <a:latin typeface="Arial"/>
                <a:ea typeface="Arial"/>
                <a:cs typeface="Arial"/>
              </a:defRPr>
            </a:pPr>
            <a:r>
              <a:rPr sz="2850" b="1">
                <a:solidFill>
                  <a:srgbClr val="F4F0E5"/>
                </a:solidFill>
                <a:latin typeface="Arial"/>
                <a:ea typeface="Arial"/>
                <a:cs typeface="Arial"/>
              </a:rPr>
              <a:t>The table makes the world feel watched</a:t>
            </a:r>
          </a:p>
        </p:txBody>
      </p:sp>
      <p:sp>
        <p:nvSpPr>
          <p:cNvPr id="2" name="title rule">
            <a:extLst xmlns:a="http://schemas.openxmlformats.org/drawingml/2006/main">
              <a:ext uri="{FF2B5EF4-FFF2-40B4-BE49-F238E27FC236}">
                <a16:creationId xmlns:a16="http://schemas.microsoft.com/office/drawing/2014/main" id="{FEC9B8D4-362D-450D-A5C9-2380A2E36DEE}"/>
              </a:ext>
            </a:extLst>
          </p:cNvPr>
          <p:cNvSpPr>
            <a:spLocks xmlns:a="http://schemas.openxmlformats.org/drawingml/2006/main" noGrp="1"/>
          </p:cNvSpPr>
          <p:nvPr/>
        </p:nvSpPr>
        <p:spPr>
          <a:xfrm xmlns:a="http://schemas.openxmlformats.org/drawingml/2006/main">
            <a:off x="647700" y="1028700"/>
            <a:ext cx="647700" cy="38100"/>
          </a:xfrm>
          <a:prstGeom xmlns:a="http://schemas.openxmlformats.org/drawingml/2006/main" prst="rect">
            <a:avLst/>
          </a:prstGeom>
          <a:solidFill xmlns:a="http://schemas.openxmlformats.org/drawingml/2006/main">
            <a:srgbClr val="E7A94B"/>
          </a:solidFill>
          <a:ln xmlns:a="http://schemas.openxmlformats.org/drawingml/2006/main" w="0">
            <a:noFill/>
            <a:prstDash val="solid"/>
          </a:ln>
        </p:spPr>
      </p:sp>
      <p:sp>
        <p:nvSpPr>
          <p:cNvPr id="3" name="subtitle">
            <a:extLst xmlns:a="http://schemas.openxmlformats.org/drawingml/2006/main">
              <a:ext uri="{FF2B5EF4-FFF2-40B4-BE49-F238E27FC236}">
                <a16:creationId xmlns:a16="http://schemas.microsoft.com/office/drawing/2014/main" id="{148FD0A4-29B7-43D1-92D7-C272065DF561}"/>
              </a:ext>
            </a:extLst>
          </p:cNvPr>
          <p:cNvSpPr>
            <a:spLocks xmlns:a="http://schemas.openxmlformats.org/drawingml/2006/main" noGrp="1"/>
          </p:cNvSpPr>
          <p:nvPr/>
        </p:nvSpPr>
        <p:spPr>
          <a:xfrm xmlns:a="http://schemas.openxmlformats.org/drawingml/2006/main">
            <a:off x="647700" y="117157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ABB2BC"/>
                </a:solidFill>
                <a:latin typeface="Arial"/>
                <a:ea typeface="Arial"/>
                <a:cs typeface="Arial"/>
              </a:defRPr>
            </a:defPPr>
          </a:lstStyle>
          <a:p xmlns:a="http://schemas.openxmlformats.org/drawingml/2006/main">
            <a:pPr algn="l">
              <a:defRPr sz="1275" b="0">
                <a:solidFill>
                  <a:srgbClr val="ABB2BC"/>
                </a:solidFill>
                <a:latin typeface="Arial"/>
                <a:ea typeface="Arial"/>
                <a:cs typeface="Arial"/>
              </a:defRPr>
            </a:pPr>
            <a:r>
              <a:rPr sz="1275" b="0">
                <a:solidFill>
                  <a:srgbClr val="ABB2BC"/>
                </a:solidFill>
                <a:latin typeface="Arial"/>
                <a:ea typeface="Arial"/>
                <a:cs typeface="Arial"/>
              </a:rPr>
              <a:t>A bedroom-scale frame gives the dungeon a memorable place in the world</a:t>
            </a:r>
          </a:p>
        </p:txBody>
      </p:sp>
      <p:sp>
        <p:nvSpPr>
          <p:cNvPr id="4" name="wordmark">
            <a:extLst xmlns:a="http://schemas.openxmlformats.org/drawingml/2006/main">
              <a:ext uri="{FF2B5EF4-FFF2-40B4-BE49-F238E27FC236}">
                <a16:creationId xmlns:a16="http://schemas.microsoft.com/office/drawing/2014/main" id="{AD7C6FCE-5028-4A28-B501-7A6CC8B6CC01}"/>
              </a:ext>
            </a:extLst>
          </p:cNvPr>
          <p:cNvSpPr>
            <a:spLocks xmlns:a="http://schemas.openxmlformats.org/drawingml/2006/main" noGrp="1"/>
          </p:cNvSpPr>
          <p:nvPr/>
        </p:nvSpPr>
        <p:spPr>
          <a:xfrm xmlns:a="http://schemas.openxmlformats.org/drawingml/2006/main">
            <a:off x="647700" y="64389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737D89"/>
                </a:solidFill>
                <a:latin typeface="Arial"/>
                <a:ea typeface="Arial"/>
                <a:cs typeface="Arial"/>
              </a:defRPr>
            </a:defPPr>
          </a:lstStyle>
          <a:p xmlns:a="http://schemas.openxmlformats.org/drawingml/2006/main">
            <a:pPr algn="l">
              <a:defRPr sz="900" b="1">
                <a:solidFill>
                  <a:srgbClr val="737D89"/>
                </a:solidFill>
                <a:latin typeface="Arial"/>
                <a:ea typeface="Arial"/>
                <a:cs typeface="Arial"/>
              </a:defRPr>
            </a:pPr>
            <a:r>
              <a:rPr sz="900" b="1">
                <a:solidFill>
                  <a:srgbClr val="737D89"/>
                </a:solidFill>
                <a:latin typeface="Arial"/>
                <a:ea typeface="Arial"/>
                <a:cs typeface="Arial"/>
              </a:rPr>
              <a:t>LOOMROOM</a:t>
            </a:r>
          </a:p>
        </p:txBody>
      </p:sp>
      <p:sp>
        <p:nvSpPr>
          <p:cNvPr id="5" name="page">
            <a:extLst xmlns:a="http://schemas.openxmlformats.org/drawingml/2006/main">
              <a:ext uri="{FF2B5EF4-FFF2-40B4-BE49-F238E27FC236}">
                <a16:creationId xmlns:a16="http://schemas.microsoft.com/office/drawing/2014/main" id="{191055A1-E853-4B72-83B5-D3EA7D5BB93F}"/>
              </a:ext>
            </a:extLst>
          </p:cNvPr>
          <p:cNvSpPr>
            <a:spLocks xmlns:a="http://schemas.openxmlformats.org/drawingml/2006/main" noGrp="1"/>
          </p:cNvSpPr>
          <p:nvPr/>
        </p:nvSpPr>
        <p:spPr>
          <a:xfrm xmlns:a="http://schemas.openxmlformats.org/drawingml/2006/main">
            <a:off x="11201400" y="64389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00" b="0">
                <a:solidFill>
                  <a:srgbClr val="737D89"/>
                </a:solidFill>
                <a:latin typeface="Arial"/>
                <a:ea typeface="Arial"/>
                <a:cs typeface="Arial"/>
              </a:defRPr>
            </a:defPPr>
          </a:lstStyle>
          <a:p xmlns:a="http://schemas.openxmlformats.org/drawingml/2006/main">
            <a:pPr algn="r">
              <a:defRPr sz="900" b="0">
                <a:solidFill>
                  <a:srgbClr val="737D89"/>
                </a:solidFill>
                <a:latin typeface="Arial"/>
                <a:ea typeface="Arial"/>
                <a:cs typeface="Arial"/>
              </a:defRPr>
            </a:pPr>
            <a:r>
              <a:rPr sz="900" b="0">
                <a:solidFill>
                  <a:srgbClr val="737D89"/>
                </a:solidFill>
                <a:latin typeface="Arial"/>
                <a:ea typeface="Arial"/>
                <a:cs typeface="Arial"/>
              </a:rPr>
              <a:t>07</a:t>
            </a:r>
          </a:p>
        </p:txBody>
      </p:sp>
      <p:pic>
        <p:nvPicPr>
          <p:cNvPr id="6" name="">
            <a:extLst xmlns:a="http://schemas.openxmlformats.org/drawingml/2006/main">
              <a:ext uri="{FF2B5EF4-FFF2-40B4-BE49-F238E27FC236}">
                <a16:creationId xmlns:a16="http://schemas.microsoft.com/office/drawing/2014/main" id="{906BF3A7-2D5C-483D-8E64-5F75760E764D}"/>
              </a:ext>
            </a:extLst>
          </p:cNvPr>
          <p:cNvPicPr>
            <a:picLocks xmlns:a="http://schemas.openxmlformats.org/drawingml/2006/main" noChangeAspect="1"/>
          </p:cNvPicPr>
          <p:nvPr/>
        </p:nvPicPr>
        <p:blipFill>
          <a:blip xmlns:r="http://schemas.openxmlformats.org/officeDocument/2006/relationships" xmlns:a="http://schemas.openxmlformats.org/drawingml/2006/main" r:embed="R6fd3a71704dc4091"/>
          <a:stretch xmlns:a="http://schemas.openxmlformats.org/drawingml/2006/main"/>
        </p:blipFill>
        <p:spPr>
          <a:xfrm xmlns:a="http://schemas.openxmlformats.org/drawingml/2006/main">
            <a:off x="923032" y="1762125"/>
            <a:ext cx="2459236" cy="32385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BB95D18E-2980-45E4-BE5D-5F4097F938B2}"/>
              </a:ext>
            </a:extLst>
          </p:cNvPr>
          <p:cNvPicPr>
            <a:picLocks xmlns:a="http://schemas.openxmlformats.org/drawingml/2006/main" noChangeAspect="1"/>
          </p:cNvPicPr>
          <p:nvPr/>
        </p:nvPicPr>
        <p:blipFill>
          <a:blip xmlns:r="http://schemas.openxmlformats.org/officeDocument/2006/relationships" xmlns:a="http://schemas.openxmlformats.org/drawingml/2006/main" r:embed="R7c78fe89c799444e"/>
          <a:stretch xmlns:a="http://schemas.openxmlformats.org/drawingml/2006/main"/>
        </p:blipFill>
        <p:spPr>
          <a:xfrm xmlns:a="http://schemas.openxmlformats.org/drawingml/2006/main">
            <a:off x="4095750" y="1952625"/>
            <a:ext cx="2857500" cy="28575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7CA690B-5877-4504-9934-D1EA2FFCD9C6}"/>
              </a:ext>
            </a:extLst>
          </p:cNvPr>
          <p:cNvPicPr>
            <a:picLocks xmlns:a="http://schemas.openxmlformats.org/drawingml/2006/main" noChangeAspect="1"/>
          </p:cNvPicPr>
          <p:nvPr/>
        </p:nvPicPr>
        <p:blipFill>
          <a:blip xmlns:r="http://schemas.openxmlformats.org/officeDocument/2006/relationships" xmlns:a="http://schemas.openxmlformats.org/drawingml/2006/main" r:embed="Rc4b5b9a62b7142b0"/>
          <a:stretch xmlns:a="http://schemas.openxmlformats.org/drawingml/2006/main"/>
        </p:blipFill>
        <p:spPr>
          <a:xfrm xmlns:a="http://schemas.openxmlformats.org/drawingml/2006/main">
            <a:off x="7715250" y="1952625"/>
            <a:ext cx="2857500" cy="2857500"/>
          </a:xfrm>
          <a:prstGeom xmlns:a="http://schemas.openxmlformats.org/drawingml/2006/main" prst="rect">
            <a:avLst/>
          </a:prstGeom>
        </p:spPr>
      </p:pic>
      <p:sp>
        <p:nvSpPr>
          <p:cNvPr id="9" name="table caption">
            <a:extLst xmlns:a="http://schemas.openxmlformats.org/drawingml/2006/main">
              <a:ext uri="{FF2B5EF4-FFF2-40B4-BE49-F238E27FC236}">
                <a16:creationId xmlns:a16="http://schemas.microsoft.com/office/drawing/2014/main" id="{DDDB6398-0B5E-4B31-A32F-623E9E957C48}"/>
              </a:ext>
            </a:extLst>
          </p:cNvPr>
          <p:cNvSpPr>
            <a:spLocks xmlns:a="http://schemas.openxmlformats.org/drawingml/2006/main" noGrp="1"/>
          </p:cNvSpPr>
          <p:nvPr/>
        </p:nvSpPr>
        <p:spPr>
          <a:xfrm xmlns:a="http://schemas.openxmlformats.org/drawingml/2006/main">
            <a:off x="742950" y="5238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E7A94B"/>
                </a:solidFill>
                <a:latin typeface="Arial"/>
                <a:ea typeface="Arial"/>
                <a:cs typeface="Arial"/>
              </a:defRPr>
            </a:defPPr>
          </a:lstStyle>
          <a:p xmlns:a="http://schemas.openxmlformats.org/drawingml/2006/main">
            <a:pPr algn="l">
              <a:defRPr sz="975" b="1">
                <a:solidFill>
                  <a:srgbClr val="E7A94B"/>
                </a:solidFill>
                <a:latin typeface="Arial"/>
                <a:ea typeface="Arial"/>
                <a:cs typeface="Arial"/>
              </a:defRPr>
            </a:pPr>
            <a:r>
              <a:rPr sz="975" b="1">
                <a:solidFill>
                  <a:srgbClr val="E7A94B"/>
                </a:solidFill>
                <a:latin typeface="Arial"/>
                <a:ea typeface="Arial"/>
                <a:cs typeface="Arial"/>
              </a:rPr>
              <a:t>THE ADVENTURE HAS A PLACE</a:t>
            </a:r>
          </a:p>
        </p:txBody>
      </p:sp>
      <p:sp>
        <p:nvSpPr>
          <p:cNvPr id="10" name="room caption">
            <a:extLst xmlns:a="http://schemas.openxmlformats.org/drawingml/2006/main">
              <a:ext uri="{FF2B5EF4-FFF2-40B4-BE49-F238E27FC236}">
                <a16:creationId xmlns:a16="http://schemas.microsoft.com/office/drawing/2014/main" id="{17A09D9C-BD48-41D4-B54B-F1126B898BEA}"/>
              </a:ext>
            </a:extLst>
          </p:cNvPr>
          <p:cNvSpPr>
            <a:spLocks xmlns:a="http://schemas.openxmlformats.org/drawingml/2006/main" noGrp="1"/>
          </p:cNvSpPr>
          <p:nvPr/>
        </p:nvSpPr>
        <p:spPr>
          <a:xfrm xmlns:a="http://schemas.openxmlformats.org/drawingml/2006/main">
            <a:off x="4124325" y="52387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E7A94B"/>
                </a:solidFill>
                <a:latin typeface="Arial"/>
                <a:ea typeface="Arial"/>
                <a:cs typeface="Arial"/>
              </a:defRPr>
            </a:defPPr>
          </a:lstStyle>
          <a:p xmlns:a="http://schemas.openxmlformats.org/drawingml/2006/main">
            <a:pPr algn="l">
              <a:defRPr sz="975" b="1">
                <a:solidFill>
                  <a:srgbClr val="E7A94B"/>
                </a:solidFill>
                <a:latin typeface="Arial"/>
                <a:ea typeface="Arial"/>
                <a:cs typeface="Arial"/>
              </a:defRPr>
            </a:pPr>
            <a:r>
              <a:rPr sz="975" b="1">
                <a:solidFill>
                  <a:srgbClr val="E7A94B"/>
                </a:solidFill>
                <a:latin typeface="Arial"/>
                <a:ea typeface="Arial"/>
                <a:cs typeface="Arial"/>
              </a:rPr>
              <a:t>THE DUNGEON MASTER WATCHES</a:t>
            </a:r>
          </a:p>
        </p:txBody>
      </p:sp>
      <p:sp>
        <p:nvSpPr>
          <p:cNvPr id="11" name="framing copy">
            <a:extLst xmlns:a="http://schemas.openxmlformats.org/drawingml/2006/main">
              <a:ext uri="{FF2B5EF4-FFF2-40B4-BE49-F238E27FC236}">
                <a16:creationId xmlns:a16="http://schemas.microsoft.com/office/drawing/2014/main" id="{3895B855-9C04-413F-9461-AD33A617FE27}"/>
              </a:ext>
            </a:extLst>
          </p:cNvPr>
          <p:cNvSpPr>
            <a:spLocks xmlns:a="http://schemas.openxmlformats.org/drawingml/2006/main" noGrp="1"/>
          </p:cNvSpPr>
          <p:nvPr/>
        </p:nvSpPr>
        <p:spPr>
          <a:xfrm xmlns:a="http://schemas.openxmlformats.org/drawingml/2006/main">
            <a:off x="752475" y="5648325"/>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F4F0E5"/>
                </a:solidFill>
                <a:latin typeface="Arial"/>
                <a:ea typeface="Arial"/>
                <a:cs typeface="Arial"/>
              </a:defRPr>
            </a:defPPr>
          </a:lstStyle>
          <a:p xmlns:a="http://schemas.openxmlformats.org/drawingml/2006/main">
            <a:pPr algn="l">
              <a:defRPr sz="1650" b="0">
                <a:solidFill>
                  <a:srgbClr val="F4F0E5"/>
                </a:solidFill>
                <a:latin typeface="Arial"/>
                <a:ea typeface="Arial"/>
                <a:cs typeface="Arial"/>
              </a:defRPr>
            </a:pPr>
            <a:r>
              <a:rPr sz="1650" b="0">
                <a:solidFill>
                  <a:srgbClr val="F4F0E5"/>
                </a:solidFill>
                <a:latin typeface="Arial"/>
                <a:ea typeface="Arial"/>
                <a:cs typeface="Arial"/>
              </a:rPr>
              <a:t>A rat gnaws through the crypt while the Dungeon Master watches the board.</a:t>
            </a:r>
          </a:p>
        </p:txBody>
      </p:sp>
    </p:spTree>
    <p:extLst>
      <p:ext uri="{BB962C8B-B14F-4D97-AF65-F5344CB8AC3E}">
        <p14:creationId xmlns:p14="http://schemas.microsoft.com/office/powerpoint/2010/main" val="1049064907"/>
      </p:ext>
    </p:extLst>
  </p:cSld>
</p:sld>
</file>

<file path=ppt/slides/slide8.xml><?xml version="1.0" encoding="utf-8"?>
<p:sld xmlns:p="http://schemas.openxmlformats.org/presentationml/2006/main">
  <p:cSld>
    <p:bg>
      <p:bgPr>
        <a:solidFill xmlns:a="http://schemas.openxmlformats.org/drawingml/2006/main">
          <a:srgbClr val="10131A"/>
        </a:solidFill>
      </p:bgPr>
    </p:bg>
    <p:spTree>
      <p:nvGrpSpPr>
        <p:cNvPr id="1" name=""/>
        <p:cNvGrpSpPr/>
        <p:nvPr/>
      </p:nvGrpSpPr>
      <p:grpSpPr>
        <a:xfrm xmlns:a="http://schemas.openxmlformats.org/drawingml/2006/main"/>
      </p:grpSpPr>
      <p:sp>
        <p:nvSpPr>
          <p:cNvPr id="30" name="title">
            <a:extLst xmlns:a="http://schemas.openxmlformats.org/drawingml/2006/main">
              <a:ext uri="{FF2B5EF4-FFF2-40B4-BE49-F238E27FC236}">
                <a16:creationId xmlns:a16="http://schemas.microsoft.com/office/drawing/2014/main" id="{854C56F0-68FE-4611-ADF4-8133B501BC03}"/>
              </a:ext>
            </a:extLst>
          </p:cNvPr>
          <p:cNvSpPr>
            <a:spLocks xmlns:a="http://schemas.openxmlformats.org/drawingml/2006/main" noGrp="1"/>
          </p:cNvSpPr>
          <p:nvPr/>
        </p:nvSpPr>
        <p:spPr>
          <a:xfrm xmlns:a="http://schemas.openxmlformats.org/drawingml/2006/main">
            <a:off x="647700" y="3810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F4F0E5"/>
                </a:solidFill>
                <a:latin typeface="Arial"/>
                <a:ea typeface="Arial"/>
                <a:cs typeface="Arial"/>
              </a:defRPr>
            </a:defPPr>
          </a:lstStyle>
          <a:p xmlns:a="http://schemas.openxmlformats.org/drawingml/2006/main">
            <a:pPr algn="l">
              <a:defRPr sz="2850" b="1">
                <a:solidFill>
                  <a:srgbClr val="F4F0E5"/>
                </a:solidFill>
                <a:latin typeface="Arial"/>
                <a:ea typeface="Arial"/>
                <a:cs typeface="Arial"/>
              </a:defRPr>
            </a:pPr>
            <a:r>
              <a:rPr sz="2850" b="1">
                <a:solidFill>
                  <a:srgbClr val="F4F0E5"/>
                </a:solidFill>
                <a:latin typeface="Arial"/>
                <a:ea typeface="Arial"/>
                <a:cs typeface="Arial"/>
              </a:rPr>
              <a:t>The full descent is a production target</a:t>
            </a:r>
          </a:p>
        </p:txBody>
      </p:sp>
      <p:sp>
        <p:nvSpPr>
          <p:cNvPr id="2" name="title rule">
            <a:extLst xmlns:a="http://schemas.openxmlformats.org/drawingml/2006/main">
              <a:ext uri="{FF2B5EF4-FFF2-40B4-BE49-F238E27FC236}">
                <a16:creationId xmlns:a16="http://schemas.microsoft.com/office/drawing/2014/main" id="{C8A39557-7155-4E95-B30B-1D9D6AF5F116}"/>
              </a:ext>
            </a:extLst>
          </p:cNvPr>
          <p:cNvSpPr>
            <a:spLocks xmlns:a="http://schemas.openxmlformats.org/drawingml/2006/main" noGrp="1"/>
          </p:cNvSpPr>
          <p:nvPr/>
        </p:nvSpPr>
        <p:spPr>
          <a:xfrm xmlns:a="http://schemas.openxmlformats.org/drawingml/2006/main">
            <a:off x="647700" y="1028700"/>
            <a:ext cx="647700" cy="38100"/>
          </a:xfrm>
          <a:prstGeom xmlns:a="http://schemas.openxmlformats.org/drawingml/2006/main" prst="rect">
            <a:avLst/>
          </a:prstGeom>
          <a:solidFill xmlns:a="http://schemas.openxmlformats.org/drawingml/2006/main">
            <a:srgbClr val="E7A94B"/>
          </a:solidFill>
          <a:ln xmlns:a="http://schemas.openxmlformats.org/drawingml/2006/main" w="0">
            <a:noFill/>
            <a:prstDash val="solid"/>
          </a:ln>
        </p:spPr>
      </p:sp>
      <p:sp>
        <p:nvSpPr>
          <p:cNvPr id="3" name="subtitle">
            <a:extLst xmlns:a="http://schemas.openxmlformats.org/drawingml/2006/main">
              <a:ext uri="{FF2B5EF4-FFF2-40B4-BE49-F238E27FC236}">
                <a16:creationId xmlns:a16="http://schemas.microsoft.com/office/drawing/2014/main" id="{F1BDB379-AE35-44BB-A410-14B9A7A814F2}"/>
              </a:ext>
            </a:extLst>
          </p:cNvPr>
          <p:cNvSpPr>
            <a:spLocks xmlns:a="http://schemas.openxmlformats.org/drawingml/2006/main" noGrp="1"/>
          </p:cNvSpPr>
          <p:nvPr/>
        </p:nvSpPr>
        <p:spPr>
          <a:xfrm xmlns:a="http://schemas.openxmlformats.org/drawingml/2006/main">
            <a:off x="647700" y="117157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ABB2BC"/>
                </a:solidFill>
                <a:latin typeface="Arial"/>
                <a:ea typeface="Arial"/>
                <a:cs typeface="Arial"/>
              </a:defRPr>
            </a:defPPr>
          </a:lstStyle>
          <a:p xmlns:a="http://schemas.openxmlformats.org/drawingml/2006/main">
            <a:pPr algn="l">
              <a:defRPr sz="1275" b="0">
                <a:solidFill>
                  <a:srgbClr val="ABB2BC"/>
                </a:solidFill>
                <a:latin typeface="Arial"/>
                <a:ea typeface="Arial"/>
                <a:cs typeface="Arial"/>
              </a:defRPr>
            </a:pPr>
            <a:r>
              <a:rPr sz="1275" b="0">
                <a:solidFill>
                  <a:srgbClr val="ABB2BC"/>
                </a:solidFill>
                <a:latin typeface="Arial"/>
                <a:ea typeface="Arial"/>
                <a:cs typeface="Arial"/>
              </a:rPr>
              <a:t>The current design document outlines 20 floors across six biome blocks and a finale</a:t>
            </a:r>
          </a:p>
        </p:txBody>
      </p:sp>
      <p:sp>
        <p:nvSpPr>
          <p:cNvPr id="4" name="wordmark">
            <a:extLst xmlns:a="http://schemas.openxmlformats.org/drawingml/2006/main">
              <a:ext uri="{FF2B5EF4-FFF2-40B4-BE49-F238E27FC236}">
                <a16:creationId xmlns:a16="http://schemas.microsoft.com/office/drawing/2014/main" id="{9FC10E4C-78DE-4E0E-B9E7-1B0C349AD94D}"/>
              </a:ext>
            </a:extLst>
          </p:cNvPr>
          <p:cNvSpPr>
            <a:spLocks xmlns:a="http://schemas.openxmlformats.org/drawingml/2006/main" noGrp="1"/>
          </p:cNvSpPr>
          <p:nvPr/>
        </p:nvSpPr>
        <p:spPr>
          <a:xfrm xmlns:a="http://schemas.openxmlformats.org/drawingml/2006/main">
            <a:off x="647700" y="64389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737D89"/>
                </a:solidFill>
                <a:latin typeface="Arial"/>
                <a:ea typeface="Arial"/>
                <a:cs typeface="Arial"/>
              </a:defRPr>
            </a:defPPr>
          </a:lstStyle>
          <a:p xmlns:a="http://schemas.openxmlformats.org/drawingml/2006/main">
            <a:pPr algn="l">
              <a:defRPr sz="900" b="1">
                <a:solidFill>
                  <a:srgbClr val="737D89"/>
                </a:solidFill>
                <a:latin typeface="Arial"/>
                <a:ea typeface="Arial"/>
                <a:cs typeface="Arial"/>
              </a:defRPr>
            </a:pPr>
            <a:r>
              <a:rPr sz="900" b="1">
                <a:solidFill>
                  <a:srgbClr val="737D89"/>
                </a:solidFill>
                <a:latin typeface="Arial"/>
                <a:ea typeface="Arial"/>
                <a:cs typeface="Arial"/>
              </a:rPr>
              <a:t>LOOMROOM</a:t>
            </a:r>
          </a:p>
        </p:txBody>
      </p:sp>
      <p:sp>
        <p:nvSpPr>
          <p:cNvPr id="5" name="page">
            <a:extLst xmlns:a="http://schemas.openxmlformats.org/drawingml/2006/main">
              <a:ext uri="{FF2B5EF4-FFF2-40B4-BE49-F238E27FC236}">
                <a16:creationId xmlns:a16="http://schemas.microsoft.com/office/drawing/2014/main" id="{81FA0089-C39F-4262-9419-3E26A466FBEE}"/>
              </a:ext>
            </a:extLst>
          </p:cNvPr>
          <p:cNvSpPr>
            <a:spLocks xmlns:a="http://schemas.openxmlformats.org/drawingml/2006/main" noGrp="1"/>
          </p:cNvSpPr>
          <p:nvPr/>
        </p:nvSpPr>
        <p:spPr>
          <a:xfrm xmlns:a="http://schemas.openxmlformats.org/drawingml/2006/main">
            <a:off x="11201400" y="64389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00" b="0">
                <a:solidFill>
                  <a:srgbClr val="737D89"/>
                </a:solidFill>
                <a:latin typeface="Arial"/>
                <a:ea typeface="Arial"/>
                <a:cs typeface="Arial"/>
              </a:defRPr>
            </a:defPPr>
          </a:lstStyle>
          <a:p xmlns:a="http://schemas.openxmlformats.org/drawingml/2006/main">
            <a:pPr algn="r">
              <a:defRPr sz="900" b="0">
                <a:solidFill>
                  <a:srgbClr val="737D89"/>
                </a:solidFill>
                <a:latin typeface="Arial"/>
                <a:ea typeface="Arial"/>
                <a:cs typeface="Arial"/>
              </a:defRPr>
            </a:pPr>
            <a:r>
              <a:rPr sz="900" b="0">
                <a:solidFill>
                  <a:srgbClr val="737D89"/>
                </a:solidFill>
                <a:latin typeface="Arial"/>
                <a:ea typeface="Arial"/>
                <a:cs typeface="Arial"/>
              </a:rPr>
              <a:t>08</a:t>
            </a:r>
          </a:p>
        </p:txBody>
      </p:sp>
      <p:sp>
        <p:nvSpPr>
          <p:cNvPr id="6" name="biome mark 0">
            <a:extLst xmlns:a="http://schemas.openxmlformats.org/drawingml/2006/main">
              <a:ext uri="{FF2B5EF4-FFF2-40B4-BE49-F238E27FC236}">
                <a16:creationId xmlns:a16="http://schemas.microsoft.com/office/drawing/2014/main" id="{41AFCB42-8F5E-464B-AE44-3904F1D961FF}"/>
              </a:ext>
            </a:extLst>
          </p:cNvPr>
          <p:cNvSpPr>
            <a:spLocks xmlns:a="http://schemas.openxmlformats.org/drawingml/2006/main" noGrp="1"/>
          </p:cNvSpPr>
          <p:nvPr/>
        </p:nvSpPr>
        <p:spPr>
          <a:xfrm xmlns:a="http://schemas.openxmlformats.org/drawingml/2006/main">
            <a:off x="742950" y="2419350"/>
            <a:ext cx="1162050" cy="133350"/>
          </a:xfrm>
          <a:prstGeom xmlns:a="http://schemas.openxmlformats.org/drawingml/2006/main" prst="rect">
            <a:avLst/>
          </a:prstGeom>
          <a:solidFill xmlns:a="http://schemas.openxmlformats.org/drawingml/2006/main">
            <a:srgbClr val="E7A94B"/>
          </a:solidFill>
          <a:ln xmlns:a="http://schemas.openxmlformats.org/drawingml/2006/main" w="0">
            <a:noFill/>
            <a:prstDash val="solid"/>
          </a:ln>
        </p:spPr>
      </p:sp>
      <p:sp>
        <p:nvSpPr>
          <p:cNvPr id="7" name="floor range 0">
            <a:extLst xmlns:a="http://schemas.openxmlformats.org/drawingml/2006/main">
              <a:ext uri="{FF2B5EF4-FFF2-40B4-BE49-F238E27FC236}">
                <a16:creationId xmlns:a16="http://schemas.microsoft.com/office/drawing/2014/main" id="{03FE8017-EDA0-427A-889B-1E6FA5578311}"/>
              </a:ext>
            </a:extLst>
          </p:cNvPr>
          <p:cNvSpPr>
            <a:spLocks xmlns:a="http://schemas.openxmlformats.org/drawingml/2006/main" noGrp="1"/>
          </p:cNvSpPr>
          <p:nvPr/>
        </p:nvSpPr>
        <p:spPr>
          <a:xfrm xmlns:a="http://schemas.openxmlformats.org/drawingml/2006/main">
            <a:off x="742950" y="2695575"/>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4F0E5"/>
                </a:solidFill>
                <a:latin typeface="Arial"/>
                <a:ea typeface="Arial"/>
                <a:cs typeface="Arial"/>
              </a:defRPr>
            </a:defPPr>
          </a:lstStyle>
          <a:p xmlns:a="http://schemas.openxmlformats.org/drawingml/2006/main">
            <a:pPr algn="l">
              <a:defRPr sz="1500" b="1">
                <a:solidFill>
                  <a:srgbClr val="F4F0E5"/>
                </a:solidFill>
                <a:latin typeface="Arial"/>
                <a:ea typeface="Arial"/>
                <a:cs typeface="Arial"/>
              </a:defRPr>
            </a:pPr>
            <a:r>
              <a:rPr sz="1500" b="1">
                <a:solidFill>
                  <a:srgbClr val="F4F0E5"/>
                </a:solidFill>
                <a:latin typeface="Arial"/>
                <a:ea typeface="Arial"/>
                <a:cs typeface="Arial"/>
              </a:rPr>
              <a:t>01–03</a:t>
            </a:r>
          </a:p>
        </p:txBody>
      </p:sp>
      <p:sp>
        <p:nvSpPr>
          <p:cNvPr id="8" name="biome 0">
            <a:extLst xmlns:a="http://schemas.openxmlformats.org/drawingml/2006/main">
              <a:ext uri="{FF2B5EF4-FFF2-40B4-BE49-F238E27FC236}">
                <a16:creationId xmlns:a16="http://schemas.microsoft.com/office/drawing/2014/main" id="{20993F98-A73A-472D-82C7-3EF45D846690}"/>
              </a:ext>
            </a:extLst>
          </p:cNvPr>
          <p:cNvSpPr>
            <a:spLocks xmlns:a="http://schemas.openxmlformats.org/drawingml/2006/main" noGrp="1"/>
          </p:cNvSpPr>
          <p:nvPr/>
        </p:nvSpPr>
        <p:spPr>
          <a:xfrm xmlns:a="http://schemas.openxmlformats.org/drawingml/2006/main">
            <a:off x="742950" y="3048000"/>
            <a:ext cx="131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ABB2BC"/>
                </a:solidFill>
                <a:latin typeface="Arial"/>
                <a:ea typeface="Arial"/>
                <a:cs typeface="Arial"/>
              </a:defRPr>
            </a:defPPr>
          </a:lstStyle>
          <a:p xmlns:a="http://schemas.openxmlformats.org/drawingml/2006/main">
            <a:pPr algn="l">
              <a:defRPr sz="1275" b="0">
                <a:solidFill>
                  <a:srgbClr val="ABB2BC"/>
                </a:solidFill>
                <a:latin typeface="Arial"/>
                <a:ea typeface="Arial"/>
                <a:cs typeface="Arial"/>
              </a:defRPr>
            </a:pPr>
            <a:r>
              <a:rPr sz="1275" b="0">
                <a:solidFill>
                  <a:srgbClr val="ABB2BC"/>
                </a:solidFill>
                <a:latin typeface="Arial"/>
                <a:ea typeface="Arial"/>
                <a:cs typeface="Arial"/>
              </a:rPr>
              <a:t>Cellars</a:t>
            </a:r>
          </a:p>
        </p:txBody>
      </p:sp>
      <p:sp>
        <p:nvSpPr>
          <p:cNvPr id="9" name="biome mark 1">
            <a:extLst xmlns:a="http://schemas.openxmlformats.org/drawingml/2006/main">
              <a:ext uri="{FF2B5EF4-FFF2-40B4-BE49-F238E27FC236}">
                <a16:creationId xmlns:a16="http://schemas.microsoft.com/office/drawing/2014/main" id="{E88BCA80-D46B-40C0-88B8-6CCC10BEFCFE}"/>
              </a:ext>
            </a:extLst>
          </p:cNvPr>
          <p:cNvSpPr>
            <a:spLocks xmlns:a="http://schemas.openxmlformats.org/drawingml/2006/main" noGrp="1"/>
          </p:cNvSpPr>
          <p:nvPr/>
        </p:nvSpPr>
        <p:spPr>
          <a:xfrm xmlns:a="http://schemas.openxmlformats.org/drawingml/2006/main">
            <a:off x="2266950" y="2419350"/>
            <a:ext cx="1162050" cy="133350"/>
          </a:xfrm>
          <a:prstGeom xmlns:a="http://schemas.openxmlformats.org/drawingml/2006/main" prst="rect">
            <a:avLst/>
          </a:prstGeom>
          <a:solidFill xmlns:a="http://schemas.openxmlformats.org/drawingml/2006/main">
            <a:srgbClr val="E7A94B"/>
          </a:solidFill>
          <a:ln xmlns:a="http://schemas.openxmlformats.org/drawingml/2006/main" w="0">
            <a:noFill/>
            <a:prstDash val="solid"/>
          </a:ln>
        </p:spPr>
      </p:sp>
      <p:sp>
        <p:nvSpPr>
          <p:cNvPr id="10" name="floor range 1">
            <a:extLst xmlns:a="http://schemas.openxmlformats.org/drawingml/2006/main">
              <a:ext uri="{FF2B5EF4-FFF2-40B4-BE49-F238E27FC236}">
                <a16:creationId xmlns:a16="http://schemas.microsoft.com/office/drawing/2014/main" id="{EDF53852-5A7E-42FB-90DA-C4454D0C699F}"/>
              </a:ext>
            </a:extLst>
          </p:cNvPr>
          <p:cNvSpPr>
            <a:spLocks xmlns:a="http://schemas.openxmlformats.org/drawingml/2006/main" noGrp="1"/>
          </p:cNvSpPr>
          <p:nvPr/>
        </p:nvSpPr>
        <p:spPr>
          <a:xfrm xmlns:a="http://schemas.openxmlformats.org/drawingml/2006/main">
            <a:off x="2266950" y="2695575"/>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4F0E5"/>
                </a:solidFill>
                <a:latin typeface="Arial"/>
                <a:ea typeface="Arial"/>
                <a:cs typeface="Arial"/>
              </a:defRPr>
            </a:defPPr>
          </a:lstStyle>
          <a:p xmlns:a="http://schemas.openxmlformats.org/drawingml/2006/main">
            <a:pPr algn="l">
              <a:defRPr sz="1500" b="1">
                <a:solidFill>
                  <a:srgbClr val="F4F0E5"/>
                </a:solidFill>
                <a:latin typeface="Arial"/>
                <a:ea typeface="Arial"/>
                <a:cs typeface="Arial"/>
              </a:defRPr>
            </a:pPr>
            <a:r>
              <a:rPr sz="1500" b="1">
                <a:solidFill>
                  <a:srgbClr val="F4F0E5"/>
                </a:solidFill>
                <a:latin typeface="Arial"/>
                <a:ea typeface="Arial"/>
                <a:cs typeface="Arial"/>
              </a:rPr>
              <a:t>04–06</a:t>
            </a:r>
          </a:p>
        </p:txBody>
      </p:sp>
      <p:sp>
        <p:nvSpPr>
          <p:cNvPr id="11" name="biome 1">
            <a:extLst xmlns:a="http://schemas.openxmlformats.org/drawingml/2006/main">
              <a:ext uri="{FF2B5EF4-FFF2-40B4-BE49-F238E27FC236}">
                <a16:creationId xmlns:a16="http://schemas.microsoft.com/office/drawing/2014/main" id="{29AFF385-0292-41FC-8DB9-5777A09FB7ED}"/>
              </a:ext>
            </a:extLst>
          </p:cNvPr>
          <p:cNvSpPr>
            <a:spLocks xmlns:a="http://schemas.openxmlformats.org/drawingml/2006/main" noGrp="1"/>
          </p:cNvSpPr>
          <p:nvPr/>
        </p:nvSpPr>
        <p:spPr>
          <a:xfrm xmlns:a="http://schemas.openxmlformats.org/drawingml/2006/main">
            <a:off x="2266950" y="3048000"/>
            <a:ext cx="131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ABB2BC"/>
                </a:solidFill>
                <a:latin typeface="Arial"/>
                <a:ea typeface="Arial"/>
                <a:cs typeface="Arial"/>
              </a:defRPr>
            </a:defPPr>
          </a:lstStyle>
          <a:p xmlns:a="http://schemas.openxmlformats.org/drawingml/2006/main">
            <a:pPr algn="l">
              <a:defRPr sz="1275" b="0">
                <a:solidFill>
                  <a:srgbClr val="ABB2BC"/>
                </a:solidFill>
                <a:latin typeface="Arial"/>
                <a:ea typeface="Arial"/>
                <a:cs typeface="Arial"/>
              </a:defRPr>
            </a:pPr>
            <a:r>
              <a:rPr sz="1275" b="0">
                <a:solidFill>
                  <a:srgbClr val="ABB2BC"/>
                </a:solidFill>
                <a:latin typeface="Arial"/>
                <a:ea typeface="Arial"/>
                <a:cs typeface="Arial"/>
              </a:rPr>
              <a:t>Crypt</a:t>
            </a:r>
          </a:p>
        </p:txBody>
      </p:sp>
      <p:sp>
        <p:nvSpPr>
          <p:cNvPr id="12" name="biome mark 2">
            <a:extLst xmlns:a="http://schemas.openxmlformats.org/drawingml/2006/main">
              <a:ext uri="{FF2B5EF4-FFF2-40B4-BE49-F238E27FC236}">
                <a16:creationId xmlns:a16="http://schemas.microsoft.com/office/drawing/2014/main" id="{74D5284C-8CA5-4218-8993-6B355AB11265}"/>
              </a:ext>
            </a:extLst>
          </p:cNvPr>
          <p:cNvSpPr>
            <a:spLocks xmlns:a="http://schemas.openxmlformats.org/drawingml/2006/main" noGrp="1"/>
          </p:cNvSpPr>
          <p:nvPr/>
        </p:nvSpPr>
        <p:spPr>
          <a:xfrm xmlns:a="http://schemas.openxmlformats.org/drawingml/2006/main">
            <a:off x="3790950" y="2419350"/>
            <a:ext cx="1162050" cy="133350"/>
          </a:xfrm>
          <a:prstGeom xmlns:a="http://schemas.openxmlformats.org/drawingml/2006/main" prst="rect">
            <a:avLst/>
          </a:prstGeom>
          <a:solidFill xmlns:a="http://schemas.openxmlformats.org/drawingml/2006/main">
            <a:srgbClr val="4C515B"/>
          </a:solidFill>
          <a:ln xmlns:a="http://schemas.openxmlformats.org/drawingml/2006/main" w="0">
            <a:noFill/>
            <a:prstDash val="solid"/>
          </a:ln>
        </p:spPr>
      </p:sp>
      <p:sp>
        <p:nvSpPr>
          <p:cNvPr id="13" name="floor range 2">
            <a:extLst xmlns:a="http://schemas.openxmlformats.org/drawingml/2006/main">
              <a:ext uri="{FF2B5EF4-FFF2-40B4-BE49-F238E27FC236}">
                <a16:creationId xmlns:a16="http://schemas.microsoft.com/office/drawing/2014/main" id="{3446F283-5098-4E3F-BB2F-CA17298F63BB}"/>
              </a:ext>
            </a:extLst>
          </p:cNvPr>
          <p:cNvSpPr>
            <a:spLocks xmlns:a="http://schemas.openxmlformats.org/drawingml/2006/main" noGrp="1"/>
          </p:cNvSpPr>
          <p:nvPr/>
        </p:nvSpPr>
        <p:spPr>
          <a:xfrm xmlns:a="http://schemas.openxmlformats.org/drawingml/2006/main">
            <a:off x="3790950" y="2695575"/>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4F0E5"/>
                </a:solidFill>
                <a:latin typeface="Arial"/>
                <a:ea typeface="Arial"/>
                <a:cs typeface="Arial"/>
              </a:defRPr>
            </a:defPPr>
          </a:lstStyle>
          <a:p xmlns:a="http://schemas.openxmlformats.org/drawingml/2006/main">
            <a:pPr algn="l">
              <a:defRPr sz="1500" b="1">
                <a:solidFill>
                  <a:srgbClr val="F4F0E5"/>
                </a:solidFill>
                <a:latin typeface="Arial"/>
                <a:ea typeface="Arial"/>
                <a:cs typeface="Arial"/>
              </a:defRPr>
            </a:pPr>
            <a:r>
              <a:rPr sz="1500" b="1">
                <a:solidFill>
                  <a:srgbClr val="F4F0E5"/>
                </a:solidFill>
                <a:latin typeface="Arial"/>
                <a:ea typeface="Arial"/>
                <a:cs typeface="Arial"/>
              </a:rPr>
              <a:t>07–09</a:t>
            </a:r>
          </a:p>
        </p:txBody>
      </p:sp>
      <p:sp>
        <p:nvSpPr>
          <p:cNvPr id="14" name="biome 2">
            <a:extLst xmlns:a="http://schemas.openxmlformats.org/drawingml/2006/main">
              <a:ext uri="{FF2B5EF4-FFF2-40B4-BE49-F238E27FC236}">
                <a16:creationId xmlns:a16="http://schemas.microsoft.com/office/drawing/2014/main" id="{74640100-3B5A-4BBE-BF35-964709BCF926}"/>
              </a:ext>
            </a:extLst>
          </p:cNvPr>
          <p:cNvSpPr>
            <a:spLocks xmlns:a="http://schemas.openxmlformats.org/drawingml/2006/main" noGrp="1"/>
          </p:cNvSpPr>
          <p:nvPr/>
        </p:nvSpPr>
        <p:spPr>
          <a:xfrm xmlns:a="http://schemas.openxmlformats.org/drawingml/2006/main">
            <a:off x="3790950" y="3048000"/>
            <a:ext cx="131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ABB2BC"/>
                </a:solidFill>
                <a:latin typeface="Arial"/>
                <a:ea typeface="Arial"/>
                <a:cs typeface="Arial"/>
              </a:defRPr>
            </a:defPPr>
          </a:lstStyle>
          <a:p xmlns:a="http://schemas.openxmlformats.org/drawingml/2006/main">
            <a:pPr algn="l">
              <a:defRPr sz="1275" b="0">
                <a:solidFill>
                  <a:srgbClr val="ABB2BC"/>
                </a:solidFill>
                <a:latin typeface="Arial"/>
                <a:ea typeface="Arial"/>
                <a:cs typeface="Arial"/>
              </a:defRPr>
            </a:pPr>
            <a:r>
              <a:rPr sz="1275" b="0">
                <a:solidFill>
                  <a:srgbClr val="ABB2BC"/>
                </a:solidFill>
                <a:latin typeface="Arial"/>
                <a:ea typeface="Arial"/>
                <a:cs typeface="Arial"/>
              </a:rPr>
              <a:t>Caves</a:t>
            </a:r>
          </a:p>
        </p:txBody>
      </p:sp>
      <p:sp>
        <p:nvSpPr>
          <p:cNvPr id="15" name="biome mark 3">
            <a:extLst xmlns:a="http://schemas.openxmlformats.org/drawingml/2006/main">
              <a:ext uri="{FF2B5EF4-FFF2-40B4-BE49-F238E27FC236}">
                <a16:creationId xmlns:a16="http://schemas.microsoft.com/office/drawing/2014/main" id="{D9EBE2AF-3E7E-4F59-A725-97DFB6B68B7D}"/>
              </a:ext>
            </a:extLst>
          </p:cNvPr>
          <p:cNvSpPr>
            <a:spLocks xmlns:a="http://schemas.openxmlformats.org/drawingml/2006/main" noGrp="1"/>
          </p:cNvSpPr>
          <p:nvPr/>
        </p:nvSpPr>
        <p:spPr>
          <a:xfrm xmlns:a="http://schemas.openxmlformats.org/drawingml/2006/main">
            <a:off x="5314950" y="2419350"/>
            <a:ext cx="1162050" cy="133350"/>
          </a:xfrm>
          <a:prstGeom xmlns:a="http://schemas.openxmlformats.org/drawingml/2006/main" prst="rect">
            <a:avLst/>
          </a:prstGeom>
          <a:solidFill xmlns:a="http://schemas.openxmlformats.org/drawingml/2006/main">
            <a:srgbClr val="4C515B"/>
          </a:solidFill>
          <a:ln xmlns:a="http://schemas.openxmlformats.org/drawingml/2006/main" w="0">
            <a:noFill/>
            <a:prstDash val="solid"/>
          </a:ln>
        </p:spPr>
      </p:sp>
      <p:sp>
        <p:nvSpPr>
          <p:cNvPr id="16" name="floor range 3">
            <a:extLst xmlns:a="http://schemas.openxmlformats.org/drawingml/2006/main">
              <a:ext uri="{FF2B5EF4-FFF2-40B4-BE49-F238E27FC236}">
                <a16:creationId xmlns:a16="http://schemas.microsoft.com/office/drawing/2014/main" id="{9E36F2C6-8D4C-4B36-87F3-C56D80C264FC}"/>
              </a:ext>
            </a:extLst>
          </p:cNvPr>
          <p:cNvSpPr>
            <a:spLocks xmlns:a="http://schemas.openxmlformats.org/drawingml/2006/main" noGrp="1"/>
          </p:cNvSpPr>
          <p:nvPr/>
        </p:nvSpPr>
        <p:spPr>
          <a:xfrm xmlns:a="http://schemas.openxmlformats.org/drawingml/2006/main">
            <a:off x="5314950" y="2695575"/>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4F0E5"/>
                </a:solidFill>
                <a:latin typeface="Arial"/>
                <a:ea typeface="Arial"/>
                <a:cs typeface="Arial"/>
              </a:defRPr>
            </a:defPPr>
          </a:lstStyle>
          <a:p xmlns:a="http://schemas.openxmlformats.org/drawingml/2006/main">
            <a:pPr algn="l">
              <a:defRPr sz="1500" b="1">
                <a:solidFill>
                  <a:srgbClr val="F4F0E5"/>
                </a:solidFill>
                <a:latin typeface="Arial"/>
                <a:ea typeface="Arial"/>
                <a:cs typeface="Arial"/>
              </a:defRPr>
            </a:pPr>
            <a:r>
              <a:rPr sz="1500" b="1">
                <a:solidFill>
                  <a:srgbClr val="F4F0E5"/>
                </a:solidFill>
                <a:latin typeface="Arial"/>
                <a:ea typeface="Arial"/>
                <a:cs typeface="Arial"/>
              </a:rPr>
              <a:t>10–12</a:t>
            </a:r>
          </a:p>
        </p:txBody>
      </p:sp>
      <p:sp>
        <p:nvSpPr>
          <p:cNvPr id="17" name="biome 3">
            <a:extLst xmlns:a="http://schemas.openxmlformats.org/drawingml/2006/main">
              <a:ext uri="{FF2B5EF4-FFF2-40B4-BE49-F238E27FC236}">
                <a16:creationId xmlns:a16="http://schemas.microsoft.com/office/drawing/2014/main" id="{D9AB5C66-423E-4240-96C1-DB86A132B23E}"/>
              </a:ext>
            </a:extLst>
          </p:cNvPr>
          <p:cNvSpPr>
            <a:spLocks xmlns:a="http://schemas.openxmlformats.org/drawingml/2006/main" noGrp="1"/>
          </p:cNvSpPr>
          <p:nvPr/>
        </p:nvSpPr>
        <p:spPr>
          <a:xfrm xmlns:a="http://schemas.openxmlformats.org/drawingml/2006/main">
            <a:off x="5314950" y="3048000"/>
            <a:ext cx="131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ABB2BC"/>
                </a:solidFill>
                <a:latin typeface="Arial"/>
                <a:ea typeface="Arial"/>
                <a:cs typeface="Arial"/>
              </a:defRPr>
            </a:defPPr>
          </a:lstStyle>
          <a:p xmlns:a="http://schemas.openxmlformats.org/drawingml/2006/main">
            <a:pPr algn="l">
              <a:defRPr sz="1275" b="0">
                <a:solidFill>
                  <a:srgbClr val="ABB2BC"/>
                </a:solidFill>
                <a:latin typeface="Arial"/>
                <a:ea typeface="Arial"/>
                <a:cs typeface="Arial"/>
              </a:defRPr>
            </a:pPr>
            <a:r>
              <a:rPr sz="1275" b="0">
                <a:solidFill>
                  <a:srgbClr val="ABB2BC"/>
                </a:solidFill>
                <a:latin typeface="Arial"/>
                <a:ea typeface="Arial"/>
                <a:cs typeface="Arial"/>
              </a:rPr>
              <a:t>Ruins</a:t>
            </a:r>
          </a:p>
        </p:txBody>
      </p:sp>
      <p:sp>
        <p:nvSpPr>
          <p:cNvPr id="18" name="biome mark 4">
            <a:extLst xmlns:a="http://schemas.openxmlformats.org/drawingml/2006/main">
              <a:ext uri="{FF2B5EF4-FFF2-40B4-BE49-F238E27FC236}">
                <a16:creationId xmlns:a16="http://schemas.microsoft.com/office/drawing/2014/main" id="{46E5166E-BAFF-449C-900A-1FF4D740D5C4}"/>
              </a:ext>
            </a:extLst>
          </p:cNvPr>
          <p:cNvSpPr>
            <a:spLocks xmlns:a="http://schemas.openxmlformats.org/drawingml/2006/main" noGrp="1"/>
          </p:cNvSpPr>
          <p:nvPr/>
        </p:nvSpPr>
        <p:spPr>
          <a:xfrm xmlns:a="http://schemas.openxmlformats.org/drawingml/2006/main">
            <a:off x="6838950" y="2419350"/>
            <a:ext cx="1162050" cy="133350"/>
          </a:xfrm>
          <a:prstGeom xmlns:a="http://schemas.openxmlformats.org/drawingml/2006/main" prst="rect">
            <a:avLst/>
          </a:prstGeom>
          <a:solidFill xmlns:a="http://schemas.openxmlformats.org/drawingml/2006/main">
            <a:srgbClr val="4C515B"/>
          </a:solidFill>
          <a:ln xmlns:a="http://schemas.openxmlformats.org/drawingml/2006/main" w="0">
            <a:noFill/>
            <a:prstDash val="solid"/>
          </a:ln>
        </p:spPr>
      </p:sp>
      <p:sp>
        <p:nvSpPr>
          <p:cNvPr id="19" name="floor range 4">
            <a:extLst xmlns:a="http://schemas.openxmlformats.org/drawingml/2006/main">
              <a:ext uri="{FF2B5EF4-FFF2-40B4-BE49-F238E27FC236}">
                <a16:creationId xmlns:a16="http://schemas.microsoft.com/office/drawing/2014/main" id="{3225C3AD-3568-4EB6-A1F9-B83BB43CEF1E}"/>
              </a:ext>
            </a:extLst>
          </p:cNvPr>
          <p:cNvSpPr>
            <a:spLocks xmlns:a="http://schemas.openxmlformats.org/drawingml/2006/main" noGrp="1"/>
          </p:cNvSpPr>
          <p:nvPr/>
        </p:nvSpPr>
        <p:spPr>
          <a:xfrm xmlns:a="http://schemas.openxmlformats.org/drawingml/2006/main">
            <a:off x="6838950" y="2695575"/>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4F0E5"/>
                </a:solidFill>
                <a:latin typeface="Arial"/>
                <a:ea typeface="Arial"/>
                <a:cs typeface="Arial"/>
              </a:defRPr>
            </a:defPPr>
          </a:lstStyle>
          <a:p xmlns:a="http://schemas.openxmlformats.org/drawingml/2006/main">
            <a:pPr algn="l">
              <a:defRPr sz="1500" b="1">
                <a:solidFill>
                  <a:srgbClr val="F4F0E5"/>
                </a:solidFill>
                <a:latin typeface="Arial"/>
                <a:ea typeface="Arial"/>
                <a:cs typeface="Arial"/>
              </a:defRPr>
            </a:pPr>
            <a:r>
              <a:rPr sz="1500" b="1">
                <a:solidFill>
                  <a:srgbClr val="F4F0E5"/>
                </a:solidFill>
                <a:latin typeface="Arial"/>
                <a:ea typeface="Arial"/>
                <a:cs typeface="Arial"/>
              </a:rPr>
              <a:t>13–15</a:t>
            </a:r>
          </a:p>
        </p:txBody>
      </p:sp>
      <p:sp>
        <p:nvSpPr>
          <p:cNvPr id="20" name="biome 4">
            <a:extLst xmlns:a="http://schemas.openxmlformats.org/drawingml/2006/main">
              <a:ext uri="{FF2B5EF4-FFF2-40B4-BE49-F238E27FC236}">
                <a16:creationId xmlns:a16="http://schemas.microsoft.com/office/drawing/2014/main" id="{EE393D71-4F92-4EC7-A266-987DD51E2ADB}"/>
              </a:ext>
            </a:extLst>
          </p:cNvPr>
          <p:cNvSpPr>
            <a:spLocks xmlns:a="http://schemas.openxmlformats.org/drawingml/2006/main" noGrp="1"/>
          </p:cNvSpPr>
          <p:nvPr/>
        </p:nvSpPr>
        <p:spPr>
          <a:xfrm xmlns:a="http://schemas.openxmlformats.org/drawingml/2006/main">
            <a:off x="6838950" y="3048000"/>
            <a:ext cx="131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ABB2BC"/>
                </a:solidFill>
                <a:latin typeface="Arial"/>
                <a:ea typeface="Arial"/>
                <a:cs typeface="Arial"/>
              </a:defRPr>
            </a:defPPr>
          </a:lstStyle>
          <a:p xmlns:a="http://schemas.openxmlformats.org/drawingml/2006/main">
            <a:pPr algn="l">
              <a:defRPr sz="1275" b="0">
                <a:solidFill>
                  <a:srgbClr val="ABB2BC"/>
                </a:solidFill>
                <a:latin typeface="Arial"/>
                <a:ea typeface="Arial"/>
                <a:cs typeface="Arial"/>
              </a:defRPr>
            </a:pPr>
            <a:r>
              <a:rPr sz="1275" b="0">
                <a:solidFill>
                  <a:srgbClr val="ABB2BC"/>
                </a:solidFill>
                <a:latin typeface="Arial"/>
                <a:ea typeface="Arial"/>
                <a:cs typeface="Arial"/>
              </a:rPr>
              <a:t>Fortress</a:t>
            </a:r>
          </a:p>
        </p:txBody>
      </p:sp>
      <p:sp>
        <p:nvSpPr>
          <p:cNvPr id="21" name="biome mark 5">
            <a:extLst xmlns:a="http://schemas.openxmlformats.org/drawingml/2006/main">
              <a:ext uri="{FF2B5EF4-FFF2-40B4-BE49-F238E27FC236}">
                <a16:creationId xmlns:a16="http://schemas.microsoft.com/office/drawing/2014/main" id="{D50DC654-D5DE-404A-B1A2-00D940A48A53}"/>
              </a:ext>
            </a:extLst>
          </p:cNvPr>
          <p:cNvSpPr>
            <a:spLocks xmlns:a="http://schemas.openxmlformats.org/drawingml/2006/main" noGrp="1"/>
          </p:cNvSpPr>
          <p:nvPr/>
        </p:nvSpPr>
        <p:spPr>
          <a:xfrm xmlns:a="http://schemas.openxmlformats.org/drawingml/2006/main">
            <a:off x="8362950" y="2419350"/>
            <a:ext cx="1162050" cy="133350"/>
          </a:xfrm>
          <a:prstGeom xmlns:a="http://schemas.openxmlformats.org/drawingml/2006/main" prst="rect">
            <a:avLst/>
          </a:prstGeom>
          <a:solidFill xmlns:a="http://schemas.openxmlformats.org/drawingml/2006/main">
            <a:srgbClr val="4C515B"/>
          </a:solidFill>
          <a:ln xmlns:a="http://schemas.openxmlformats.org/drawingml/2006/main" w="0">
            <a:noFill/>
            <a:prstDash val="solid"/>
          </a:ln>
        </p:spPr>
      </p:sp>
      <p:sp>
        <p:nvSpPr>
          <p:cNvPr id="22" name="floor range 5">
            <a:extLst xmlns:a="http://schemas.openxmlformats.org/drawingml/2006/main">
              <a:ext uri="{FF2B5EF4-FFF2-40B4-BE49-F238E27FC236}">
                <a16:creationId xmlns:a16="http://schemas.microsoft.com/office/drawing/2014/main" id="{1106109B-2D36-465E-8281-78CDB39FA6A4}"/>
              </a:ext>
            </a:extLst>
          </p:cNvPr>
          <p:cNvSpPr>
            <a:spLocks xmlns:a="http://schemas.openxmlformats.org/drawingml/2006/main" noGrp="1"/>
          </p:cNvSpPr>
          <p:nvPr/>
        </p:nvSpPr>
        <p:spPr>
          <a:xfrm xmlns:a="http://schemas.openxmlformats.org/drawingml/2006/main">
            <a:off x="8362950" y="2695575"/>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4F0E5"/>
                </a:solidFill>
                <a:latin typeface="Arial"/>
                <a:ea typeface="Arial"/>
                <a:cs typeface="Arial"/>
              </a:defRPr>
            </a:defPPr>
          </a:lstStyle>
          <a:p xmlns:a="http://schemas.openxmlformats.org/drawingml/2006/main">
            <a:pPr algn="l">
              <a:defRPr sz="1500" b="1">
                <a:solidFill>
                  <a:srgbClr val="F4F0E5"/>
                </a:solidFill>
                <a:latin typeface="Arial"/>
                <a:ea typeface="Arial"/>
                <a:cs typeface="Arial"/>
              </a:defRPr>
            </a:pPr>
            <a:r>
              <a:rPr sz="1500" b="1">
                <a:solidFill>
                  <a:srgbClr val="F4F0E5"/>
                </a:solidFill>
                <a:latin typeface="Arial"/>
                <a:ea typeface="Arial"/>
                <a:cs typeface="Arial"/>
              </a:rPr>
              <a:t>16–18</a:t>
            </a:r>
          </a:p>
        </p:txBody>
      </p:sp>
      <p:sp>
        <p:nvSpPr>
          <p:cNvPr id="23" name="biome 5">
            <a:extLst xmlns:a="http://schemas.openxmlformats.org/drawingml/2006/main">
              <a:ext uri="{FF2B5EF4-FFF2-40B4-BE49-F238E27FC236}">
                <a16:creationId xmlns:a16="http://schemas.microsoft.com/office/drawing/2014/main" id="{FC3635FD-B0E2-4BA5-BBC5-1EF92FC291D8}"/>
              </a:ext>
            </a:extLst>
          </p:cNvPr>
          <p:cNvSpPr>
            <a:spLocks xmlns:a="http://schemas.openxmlformats.org/drawingml/2006/main" noGrp="1"/>
          </p:cNvSpPr>
          <p:nvPr/>
        </p:nvSpPr>
        <p:spPr>
          <a:xfrm xmlns:a="http://schemas.openxmlformats.org/drawingml/2006/main">
            <a:off x="8362950" y="3048000"/>
            <a:ext cx="131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ABB2BC"/>
                </a:solidFill>
                <a:latin typeface="Arial"/>
                <a:ea typeface="Arial"/>
                <a:cs typeface="Arial"/>
              </a:defRPr>
            </a:defPPr>
          </a:lstStyle>
          <a:p xmlns:a="http://schemas.openxmlformats.org/drawingml/2006/main">
            <a:pPr algn="l">
              <a:defRPr sz="1275" b="0">
                <a:solidFill>
                  <a:srgbClr val="ABB2BC"/>
                </a:solidFill>
                <a:latin typeface="Arial"/>
                <a:ea typeface="Arial"/>
                <a:cs typeface="Arial"/>
              </a:defRPr>
            </a:pPr>
            <a:r>
              <a:rPr sz="1275" b="0">
                <a:solidFill>
                  <a:srgbClr val="ABB2BC"/>
                </a:solidFill>
                <a:latin typeface="Arial"/>
                <a:ea typeface="Arial"/>
                <a:cs typeface="Arial"/>
              </a:rPr>
              <a:t>Depths</a:t>
            </a:r>
          </a:p>
        </p:txBody>
      </p:sp>
      <p:sp>
        <p:nvSpPr>
          <p:cNvPr id="24" name="biome mark 6">
            <a:extLst xmlns:a="http://schemas.openxmlformats.org/drawingml/2006/main">
              <a:ext uri="{FF2B5EF4-FFF2-40B4-BE49-F238E27FC236}">
                <a16:creationId xmlns:a16="http://schemas.microsoft.com/office/drawing/2014/main" id="{3BB03682-B4A6-4982-8BB7-914D1D11F6AD}"/>
              </a:ext>
            </a:extLst>
          </p:cNvPr>
          <p:cNvSpPr>
            <a:spLocks xmlns:a="http://schemas.openxmlformats.org/drawingml/2006/main" noGrp="1"/>
          </p:cNvSpPr>
          <p:nvPr/>
        </p:nvSpPr>
        <p:spPr>
          <a:xfrm xmlns:a="http://schemas.openxmlformats.org/drawingml/2006/main">
            <a:off x="9886950" y="2419350"/>
            <a:ext cx="1162050" cy="133350"/>
          </a:xfrm>
          <a:prstGeom xmlns:a="http://schemas.openxmlformats.org/drawingml/2006/main" prst="rect">
            <a:avLst/>
          </a:prstGeom>
          <a:solidFill xmlns:a="http://schemas.openxmlformats.org/drawingml/2006/main">
            <a:srgbClr val="B75A3C"/>
          </a:solidFill>
          <a:ln xmlns:a="http://schemas.openxmlformats.org/drawingml/2006/main" w="0">
            <a:noFill/>
            <a:prstDash val="solid"/>
          </a:ln>
        </p:spPr>
      </p:sp>
      <p:sp>
        <p:nvSpPr>
          <p:cNvPr id="25" name="floor range 6">
            <a:extLst xmlns:a="http://schemas.openxmlformats.org/drawingml/2006/main">
              <a:ext uri="{FF2B5EF4-FFF2-40B4-BE49-F238E27FC236}">
                <a16:creationId xmlns:a16="http://schemas.microsoft.com/office/drawing/2014/main" id="{EBA9F202-AD71-4497-A022-1116D5AE727C}"/>
              </a:ext>
            </a:extLst>
          </p:cNvPr>
          <p:cNvSpPr>
            <a:spLocks xmlns:a="http://schemas.openxmlformats.org/drawingml/2006/main" noGrp="1"/>
          </p:cNvSpPr>
          <p:nvPr/>
        </p:nvSpPr>
        <p:spPr>
          <a:xfrm xmlns:a="http://schemas.openxmlformats.org/drawingml/2006/main">
            <a:off x="9886950" y="2695575"/>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4F0E5"/>
                </a:solidFill>
                <a:latin typeface="Arial"/>
                <a:ea typeface="Arial"/>
                <a:cs typeface="Arial"/>
              </a:defRPr>
            </a:defPPr>
          </a:lstStyle>
          <a:p xmlns:a="http://schemas.openxmlformats.org/drawingml/2006/main">
            <a:pPr algn="l">
              <a:defRPr sz="1500" b="1">
                <a:solidFill>
                  <a:srgbClr val="F4F0E5"/>
                </a:solidFill>
                <a:latin typeface="Arial"/>
                <a:ea typeface="Arial"/>
                <a:cs typeface="Arial"/>
              </a:defRPr>
            </a:pPr>
            <a:r>
              <a:rPr sz="1500" b="1">
                <a:solidFill>
                  <a:srgbClr val="F4F0E5"/>
                </a:solidFill>
                <a:latin typeface="Arial"/>
                <a:ea typeface="Arial"/>
                <a:cs typeface="Arial"/>
              </a:rPr>
              <a:t>19–20</a:t>
            </a:r>
          </a:p>
        </p:txBody>
      </p:sp>
      <p:sp>
        <p:nvSpPr>
          <p:cNvPr id="26" name="biome 6">
            <a:extLst xmlns:a="http://schemas.openxmlformats.org/drawingml/2006/main">
              <a:ext uri="{FF2B5EF4-FFF2-40B4-BE49-F238E27FC236}">
                <a16:creationId xmlns:a16="http://schemas.microsoft.com/office/drawing/2014/main" id="{5431C55D-6FAC-446E-A8A3-47F96C13E110}"/>
              </a:ext>
            </a:extLst>
          </p:cNvPr>
          <p:cNvSpPr>
            <a:spLocks xmlns:a="http://schemas.openxmlformats.org/drawingml/2006/main" noGrp="1"/>
          </p:cNvSpPr>
          <p:nvPr/>
        </p:nvSpPr>
        <p:spPr>
          <a:xfrm xmlns:a="http://schemas.openxmlformats.org/drawingml/2006/main">
            <a:off x="9886950" y="3048000"/>
            <a:ext cx="131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ABB2BC"/>
                </a:solidFill>
                <a:latin typeface="Arial"/>
                <a:ea typeface="Arial"/>
                <a:cs typeface="Arial"/>
              </a:defRPr>
            </a:defPPr>
          </a:lstStyle>
          <a:p xmlns:a="http://schemas.openxmlformats.org/drawingml/2006/main">
            <a:pPr algn="l">
              <a:defRPr sz="1275" b="0">
                <a:solidFill>
                  <a:srgbClr val="ABB2BC"/>
                </a:solidFill>
                <a:latin typeface="Arial"/>
                <a:ea typeface="Arial"/>
                <a:cs typeface="Arial"/>
              </a:defRPr>
            </a:pPr>
            <a:r>
              <a:rPr sz="1275" b="0">
                <a:solidFill>
                  <a:srgbClr val="ABB2BC"/>
                </a:solidFill>
                <a:latin typeface="Arial"/>
                <a:ea typeface="Arial"/>
                <a:cs typeface="Arial"/>
              </a:rPr>
              <a:t>Finale</a:t>
            </a:r>
          </a:p>
        </p:txBody>
      </p:sp>
      <p:sp>
        <p:nvSpPr>
          <p:cNvPr id="27" name="scope tag">
            <a:extLst xmlns:a="http://schemas.openxmlformats.org/drawingml/2006/main">
              <a:ext uri="{FF2B5EF4-FFF2-40B4-BE49-F238E27FC236}">
                <a16:creationId xmlns:a16="http://schemas.microsoft.com/office/drawing/2014/main" id="{DBC45095-7940-482D-8819-F0DF6B3EDA3A}"/>
              </a:ext>
            </a:extLst>
          </p:cNvPr>
          <p:cNvSpPr>
            <a:spLocks xmlns:a="http://schemas.openxmlformats.org/drawingml/2006/main" noGrp="1"/>
          </p:cNvSpPr>
          <p:nvPr/>
        </p:nvSpPr>
        <p:spPr>
          <a:xfrm xmlns:a="http://schemas.openxmlformats.org/drawingml/2006/main">
            <a:off x="742950" y="395287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E7A94B"/>
                </a:solidFill>
                <a:latin typeface="Arial"/>
                <a:ea typeface="Arial"/>
                <a:cs typeface="Arial"/>
              </a:defRPr>
            </a:defPPr>
          </a:lstStyle>
          <a:p xmlns:a="http://schemas.openxmlformats.org/drawingml/2006/main">
            <a:pPr algn="l">
              <a:defRPr sz="1050" b="1">
                <a:solidFill>
                  <a:srgbClr val="E7A94B"/>
                </a:solidFill>
                <a:latin typeface="Arial"/>
                <a:ea typeface="Arial"/>
                <a:cs typeface="Arial"/>
              </a:defRPr>
            </a:pPr>
            <a:r>
              <a:rPr sz="1050" b="1">
                <a:solidFill>
                  <a:srgbClr val="E7A94B"/>
                </a:solidFill>
                <a:latin typeface="Arial"/>
                <a:ea typeface="Arial"/>
                <a:cs typeface="Arial"/>
              </a:rPr>
              <a:t>DESIGN TARGET</a:t>
            </a:r>
          </a:p>
        </p:txBody>
      </p:sp>
      <p:sp>
        <p:nvSpPr>
          <p:cNvPr id="28" name="scope caveat">
            <a:extLst xmlns:a="http://schemas.openxmlformats.org/drawingml/2006/main">
              <a:ext uri="{FF2B5EF4-FFF2-40B4-BE49-F238E27FC236}">
                <a16:creationId xmlns:a16="http://schemas.microsoft.com/office/drawing/2014/main" id="{4ED6F907-8B36-4AAD-BAC8-75BEDA1A1354}"/>
              </a:ext>
            </a:extLst>
          </p:cNvPr>
          <p:cNvSpPr>
            <a:spLocks xmlns:a="http://schemas.openxmlformats.org/drawingml/2006/main" noGrp="1"/>
          </p:cNvSpPr>
          <p:nvPr/>
        </p:nvSpPr>
        <p:spPr>
          <a:xfrm xmlns:a="http://schemas.openxmlformats.org/drawingml/2006/main">
            <a:off x="742950" y="4333875"/>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0">
                <a:solidFill>
                  <a:srgbClr val="F4F0E5"/>
                </a:solidFill>
                <a:latin typeface="Arial"/>
                <a:ea typeface="Arial"/>
                <a:cs typeface="Arial"/>
              </a:defRPr>
            </a:defPPr>
          </a:lstStyle>
          <a:p xmlns:a="http://schemas.openxmlformats.org/drawingml/2006/main">
            <a:pPr algn="l">
              <a:defRPr sz="1725" b="0">
                <a:solidFill>
                  <a:srgbClr val="F4F0E5"/>
                </a:solidFill>
                <a:latin typeface="Arial"/>
                <a:ea typeface="Arial"/>
                <a:cs typeface="Arial"/>
              </a:defRPr>
            </a:pPr>
            <a:r>
              <a:rPr sz="1725" b="0">
                <a:solidFill>
                  <a:srgbClr val="F4F0E5"/>
                </a:solidFill>
                <a:latin typeface="Arial"/>
                <a:ea typeface="Arial"/>
                <a:cs typeface="Arial"/>
              </a:rPr>
              <a:t>Docs describe the full run. The current Dungeon1 asset is configured for four floors across two stages, so the 20-floor plan still requires production.</a:t>
            </a:r>
          </a:p>
        </p:txBody>
      </p:sp>
      <p:sp>
        <p:nvSpPr>
          <p:cNvPr id="29" name="progression detail">
            <a:extLst xmlns:a="http://schemas.openxmlformats.org/drawingml/2006/main">
              <a:ext uri="{FF2B5EF4-FFF2-40B4-BE49-F238E27FC236}">
                <a16:creationId xmlns:a16="http://schemas.microsoft.com/office/drawing/2014/main" id="{97DF80EC-7CE2-40B1-9A17-587CAB1184FB}"/>
              </a:ext>
            </a:extLst>
          </p:cNvPr>
          <p:cNvSpPr>
            <a:spLocks xmlns:a="http://schemas.openxmlformats.org/drawingml/2006/main" noGrp="1"/>
          </p:cNvSpPr>
          <p:nvPr/>
        </p:nvSpPr>
        <p:spPr>
          <a:xfrm xmlns:a="http://schemas.openxmlformats.org/drawingml/2006/main">
            <a:off x="742950" y="5534025"/>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ABB2BC"/>
                </a:solidFill>
                <a:latin typeface="Arial"/>
                <a:ea typeface="Arial"/>
                <a:cs typeface="Arial"/>
              </a:defRPr>
            </a:defPPr>
          </a:lstStyle>
          <a:p xmlns:a="http://schemas.openxmlformats.org/drawingml/2006/main">
            <a:pPr algn="l">
              <a:defRPr sz="1350" b="0">
                <a:solidFill>
                  <a:srgbClr val="ABB2BC"/>
                </a:solidFill>
                <a:latin typeface="Arial"/>
                <a:ea typeface="Arial"/>
                <a:cs typeface="Arial"/>
              </a:defRPr>
            </a:pPr>
            <a:r>
              <a:rPr sz="1350" b="0">
                <a:solidFill>
                  <a:srgbClr val="ABB2BC"/>
                </a:solidFill>
                <a:latin typeface="Arial"/>
                <a:ea typeface="Arial"/>
                <a:cs typeface="Arial"/>
              </a:rPr>
              <a:t>Biome changes enemy families, room themes and loot bands. Depth sets the available equipment band.</a:t>
            </a:r>
          </a:p>
        </p:txBody>
      </p:sp>
    </p:spTree>
    <p:extLst>
      <p:ext uri="{BB962C8B-B14F-4D97-AF65-F5344CB8AC3E}">
        <p14:creationId xmlns:p14="http://schemas.microsoft.com/office/powerpoint/2010/main" val="1050486450"/>
      </p:ext>
    </p:extLst>
  </p:cSld>
</p:sld>
</file>

<file path=ppt/slides/slide9.xml><?xml version="1.0" encoding="utf-8"?>
<p:sld xmlns:p="http://schemas.openxmlformats.org/presentationml/2006/main">
  <p:cSld>
    <p:bg>
      <p:bgPr>
        <a:solidFill xmlns:a="http://schemas.openxmlformats.org/drawingml/2006/main">
          <a:srgbClr val="10131A"/>
        </a:solidFill>
      </p:bgPr>
    </p:bg>
    <p:spTree>
      <p:nvGrpSpPr>
        <p:cNvPr id="1" name=""/>
        <p:cNvGrpSpPr/>
        <p:nvPr/>
      </p:nvGrpSpPr>
      <p:grpSpPr>
        <a:xfrm xmlns:a="http://schemas.openxmlformats.org/drawingml/2006/main"/>
      </p:grpSpPr>
      <p:sp>
        <p:nvSpPr>
          <p:cNvPr id="18" name="title">
            <a:extLst xmlns:a="http://schemas.openxmlformats.org/drawingml/2006/main">
              <a:ext uri="{FF2B5EF4-FFF2-40B4-BE49-F238E27FC236}">
                <a16:creationId xmlns:a16="http://schemas.microsoft.com/office/drawing/2014/main" id="{A4057026-84B6-47CD-A151-0B6A988259C9}"/>
              </a:ext>
            </a:extLst>
          </p:cNvPr>
          <p:cNvSpPr>
            <a:spLocks xmlns:a="http://schemas.openxmlformats.org/drawingml/2006/main" noGrp="1"/>
          </p:cNvSpPr>
          <p:nvPr/>
        </p:nvSpPr>
        <p:spPr>
          <a:xfrm xmlns:a="http://schemas.openxmlformats.org/drawingml/2006/main">
            <a:off x="647700" y="3810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F4F0E5"/>
                </a:solidFill>
                <a:latin typeface="Arial"/>
                <a:ea typeface="Arial"/>
                <a:cs typeface="Arial"/>
              </a:defRPr>
            </a:defPPr>
          </a:lstStyle>
          <a:p xmlns:a="http://schemas.openxmlformats.org/drawingml/2006/main">
            <a:pPr algn="l">
              <a:defRPr sz="2850" b="1">
                <a:solidFill>
                  <a:srgbClr val="F4F0E5"/>
                </a:solidFill>
                <a:latin typeface="Arial"/>
                <a:ea typeface="Arial"/>
                <a:cs typeface="Arial"/>
              </a:defRPr>
            </a:pPr>
            <a:r>
              <a:rPr sz="2850" b="1">
                <a:solidFill>
                  <a:srgbClr val="F4F0E5"/>
                </a:solidFill>
                <a:latin typeface="Arial"/>
                <a:ea typeface="Arial"/>
                <a:cs typeface="Arial"/>
              </a:rPr>
              <a:t>A familiar dungeon loop gets a distinctive frame</a:t>
            </a:r>
          </a:p>
        </p:txBody>
      </p:sp>
      <p:sp>
        <p:nvSpPr>
          <p:cNvPr id="2" name="title rule">
            <a:extLst xmlns:a="http://schemas.openxmlformats.org/drawingml/2006/main">
              <a:ext uri="{FF2B5EF4-FFF2-40B4-BE49-F238E27FC236}">
                <a16:creationId xmlns:a16="http://schemas.microsoft.com/office/drawing/2014/main" id="{B695F3BE-19B4-48EF-984C-520C18B49E2E}"/>
              </a:ext>
            </a:extLst>
          </p:cNvPr>
          <p:cNvSpPr>
            <a:spLocks xmlns:a="http://schemas.openxmlformats.org/drawingml/2006/main" noGrp="1"/>
          </p:cNvSpPr>
          <p:nvPr/>
        </p:nvSpPr>
        <p:spPr>
          <a:xfrm xmlns:a="http://schemas.openxmlformats.org/drawingml/2006/main">
            <a:off x="647700" y="1028700"/>
            <a:ext cx="647700" cy="38100"/>
          </a:xfrm>
          <a:prstGeom xmlns:a="http://schemas.openxmlformats.org/drawingml/2006/main" prst="rect">
            <a:avLst/>
          </a:prstGeom>
          <a:solidFill xmlns:a="http://schemas.openxmlformats.org/drawingml/2006/main">
            <a:srgbClr val="E7A94B"/>
          </a:solidFill>
          <a:ln xmlns:a="http://schemas.openxmlformats.org/drawingml/2006/main" w="0">
            <a:noFill/>
            <a:prstDash val="solid"/>
          </a:ln>
        </p:spPr>
      </p:sp>
      <p:sp>
        <p:nvSpPr>
          <p:cNvPr id="3" name="subtitle">
            <a:extLst xmlns:a="http://schemas.openxmlformats.org/drawingml/2006/main">
              <a:ext uri="{FF2B5EF4-FFF2-40B4-BE49-F238E27FC236}">
                <a16:creationId xmlns:a16="http://schemas.microsoft.com/office/drawing/2014/main" id="{78A2634D-D703-482C-829A-564F2C61CC2D}"/>
              </a:ext>
            </a:extLst>
          </p:cNvPr>
          <p:cNvSpPr>
            <a:spLocks xmlns:a="http://schemas.openxmlformats.org/drawingml/2006/main" noGrp="1"/>
          </p:cNvSpPr>
          <p:nvPr/>
        </p:nvSpPr>
        <p:spPr>
          <a:xfrm xmlns:a="http://schemas.openxmlformats.org/drawingml/2006/main">
            <a:off x="647700" y="117157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ABB2BC"/>
                </a:solidFill>
                <a:latin typeface="Arial"/>
                <a:ea typeface="Arial"/>
                <a:cs typeface="Arial"/>
              </a:defRPr>
            </a:defPPr>
          </a:lstStyle>
          <a:p xmlns:a="http://schemas.openxmlformats.org/drawingml/2006/main">
            <a:pPr algn="l">
              <a:defRPr sz="1275" b="0">
                <a:solidFill>
                  <a:srgbClr val="ABB2BC"/>
                </a:solidFill>
                <a:latin typeface="Arial"/>
                <a:ea typeface="Arial"/>
                <a:cs typeface="Arial"/>
              </a:defRPr>
            </a:pPr>
            <a:r>
              <a:rPr sz="1275" b="0">
                <a:solidFill>
                  <a:srgbClr val="ABB2BC"/>
                </a:solidFill>
                <a:latin typeface="Arial"/>
                <a:ea typeface="Arial"/>
                <a:cs typeface="Arial"/>
              </a:rPr>
              <a:t>Comparable games help explain the design space; they do not predict LoomRoom’s sales</a:t>
            </a:r>
          </a:p>
        </p:txBody>
      </p:sp>
      <p:sp>
        <p:nvSpPr>
          <p:cNvPr id="4" name="wordmark">
            <a:extLst xmlns:a="http://schemas.openxmlformats.org/drawingml/2006/main">
              <a:ext uri="{FF2B5EF4-FFF2-40B4-BE49-F238E27FC236}">
                <a16:creationId xmlns:a16="http://schemas.microsoft.com/office/drawing/2014/main" id="{4F0DADCC-B076-4215-85F9-15F4F789E9A4}"/>
              </a:ext>
            </a:extLst>
          </p:cNvPr>
          <p:cNvSpPr>
            <a:spLocks xmlns:a="http://schemas.openxmlformats.org/drawingml/2006/main" noGrp="1"/>
          </p:cNvSpPr>
          <p:nvPr/>
        </p:nvSpPr>
        <p:spPr>
          <a:xfrm xmlns:a="http://schemas.openxmlformats.org/drawingml/2006/main">
            <a:off x="647700" y="64389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737D89"/>
                </a:solidFill>
                <a:latin typeface="Arial"/>
                <a:ea typeface="Arial"/>
                <a:cs typeface="Arial"/>
              </a:defRPr>
            </a:defPPr>
          </a:lstStyle>
          <a:p xmlns:a="http://schemas.openxmlformats.org/drawingml/2006/main">
            <a:pPr algn="l">
              <a:defRPr sz="900" b="1">
                <a:solidFill>
                  <a:srgbClr val="737D89"/>
                </a:solidFill>
                <a:latin typeface="Arial"/>
                <a:ea typeface="Arial"/>
                <a:cs typeface="Arial"/>
              </a:defRPr>
            </a:pPr>
            <a:r>
              <a:rPr sz="900" b="1">
                <a:solidFill>
                  <a:srgbClr val="737D89"/>
                </a:solidFill>
                <a:latin typeface="Arial"/>
                <a:ea typeface="Arial"/>
                <a:cs typeface="Arial"/>
              </a:rPr>
              <a:t>LOOMROOM</a:t>
            </a:r>
          </a:p>
        </p:txBody>
      </p:sp>
      <p:sp>
        <p:nvSpPr>
          <p:cNvPr id="5" name="page">
            <a:extLst xmlns:a="http://schemas.openxmlformats.org/drawingml/2006/main">
              <a:ext uri="{FF2B5EF4-FFF2-40B4-BE49-F238E27FC236}">
                <a16:creationId xmlns:a16="http://schemas.microsoft.com/office/drawing/2014/main" id="{D8AA4DFF-5610-481A-9263-22B209D58445}"/>
              </a:ext>
            </a:extLst>
          </p:cNvPr>
          <p:cNvSpPr>
            <a:spLocks xmlns:a="http://schemas.openxmlformats.org/drawingml/2006/main" noGrp="1"/>
          </p:cNvSpPr>
          <p:nvPr/>
        </p:nvSpPr>
        <p:spPr>
          <a:xfrm xmlns:a="http://schemas.openxmlformats.org/drawingml/2006/main">
            <a:off x="11201400" y="64389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00" b="0">
                <a:solidFill>
                  <a:srgbClr val="737D89"/>
                </a:solidFill>
                <a:latin typeface="Arial"/>
                <a:ea typeface="Arial"/>
                <a:cs typeface="Arial"/>
              </a:defRPr>
            </a:defPPr>
          </a:lstStyle>
          <a:p xmlns:a="http://schemas.openxmlformats.org/drawingml/2006/main">
            <a:pPr algn="r">
              <a:defRPr sz="900" b="0">
                <a:solidFill>
                  <a:srgbClr val="737D89"/>
                </a:solidFill>
                <a:latin typeface="Arial"/>
                <a:ea typeface="Arial"/>
                <a:cs typeface="Arial"/>
              </a:defRPr>
            </a:pPr>
            <a:r>
              <a:rPr sz="900" b="0">
                <a:solidFill>
                  <a:srgbClr val="737D89"/>
                </a:solidFill>
                <a:latin typeface="Arial"/>
                <a:ea typeface="Arial"/>
                <a:cs typeface="Arial"/>
              </a:rPr>
              <a:t>09</a:t>
            </a:r>
          </a:p>
        </p:txBody>
      </p:sp>
      <p:sp>
        <p:nvSpPr>
          <p:cNvPr id="6" name="label BARONY">
            <a:extLst xmlns:a="http://schemas.openxmlformats.org/drawingml/2006/main">
              <a:ext uri="{FF2B5EF4-FFF2-40B4-BE49-F238E27FC236}">
                <a16:creationId xmlns:a16="http://schemas.microsoft.com/office/drawing/2014/main" id="{CE6CEF7E-A5BD-48C6-ABA5-97D0EDAF1D5A}"/>
              </a:ext>
            </a:extLst>
          </p:cNvPr>
          <p:cNvSpPr>
            <a:spLocks xmlns:a="http://schemas.openxmlformats.org/drawingml/2006/main" noGrp="1"/>
          </p:cNvSpPr>
          <p:nvPr/>
        </p:nvSpPr>
        <p:spPr>
          <a:xfrm xmlns:a="http://schemas.openxmlformats.org/drawingml/2006/main">
            <a:off x="781050" y="204787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70B6A7"/>
                </a:solidFill>
                <a:latin typeface="Arial"/>
                <a:ea typeface="Arial"/>
                <a:cs typeface="Arial"/>
              </a:defRPr>
            </a:defPPr>
          </a:lstStyle>
          <a:p xmlns:a="http://schemas.openxmlformats.org/drawingml/2006/main">
            <a:pPr algn="l">
              <a:defRPr sz="900" b="1">
                <a:solidFill>
                  <a:srgbClr val="70B6A7"/>
                </a:solidFill>
                <a:latin typeface="Arial"/>
                <a:ea typeface="Arial"/>
                <a:cs typeface="Arial"/>
              </a:defRPr>
            </a:pPr>
            <a:r>
              <a:rPr sz="900" b="1">
                <a:solidFill>
                  <a:srgbClr val="70B6A7"/>
                </a:solidFill>
                <a:latin typeface="Arial"/>
                <a:ea typeface="Arial"/>
                <a:cs typeface="Arial"/>
              </a:rPr>
              <a:t>BARONY</a:t>
            </a:r>
          </a:p>
        </p:txBody>
      </p:sp>
      <p:sp>
        <p:nvSpPr>
          <p:cNvPr id="7" name="comp desc 0">
            <a:extLst xmlns:a="http://schemas.openxmlformats.org/drawingml/2006/main">
              <a:ext uri="{FF2B5EF4-FFF2-40B4-BE49-F238E27FC236}">
                <a16:creationId xmlns:a16="http://schemas.microsoft.com/office/drawing/2014/main" id="{40C63C97-DE58-4089-A694-07C035A838FF}"/>
              </a:ext>
            </a:extLst>
          </p:cNvPr>
          <p:cNvSpPr>
            <a:spLocks xmlns:a="http://schemas.openxmlformats.org/drawingml/2006/main" noGrp="1"/>
          </p:cNvSpPr>
          <p:nvPr/>
        </p:nvSpPr>
        <p:spPr>
          <a:xfrm xmlns:a="http://schemas.openxmlformats.org/drawingml/2006/main">
            <a:off x="2857500" y="2038350"/>
            <a:ext cx="581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ABB2BC"/>
                </a:solidFill>
                <a:latin typeface="Arial"/>
                <a:ea typeface="Arial"/>
                <a:cs typeface="Arial"/>
              </a:defRPr>
            </a:defPPr>
          </a:lstStyle>
          <a:p xmlns:a="http://schemas.openxmlformats.org/drawingml/2006/main">
            <a:pPr algn="l">
              <a:defRPr sz="1650" b="0">
                <a:solidFill>
                  <a:srgbClr val="ABB2BC"/>
                </a:solidFill>
                <a:latin typeface="Arial"/>
                <a:ea typeface="Arial"/>
                <a:cs typeface="Arial"/>
              </a:defRPr>
            </a:pPr>
            <a:r>
              <a:rPr sz="1650" b="0">
                <a:solidFill>
                  <a:srgbClr val="ABB2BC"/>
                </a:solidFill>
                <a:latin typeface="Arial"/>
                <a:ea typeface="Arial"/>
                <a:cs typeface="Arial"/>
              </a:rPr>
              <a:t>First-person dungeon survival and class-driven runs.</a:t>
            </a:r>
          </a:p>
        </p:txBody>
      </p:sp>
      <p:sp>
        <p:nvSpPr>
          <p:cNvPr id="8" name="comp role 0">
            <a:extLst xmlns:a="http://schemas.openxmlformats.org/drawingml/2006/main">
              <a:ext uri="{FF2B5EF4-FFF2-40B4-BE49-F238E27FC236}">
                <a16:creationId xmlns:a16="http://schemas.microsoft.com/office/drawing/2014/main" id="{99D73F21-CA19-4B4F-AE94-996D8467661E}"/>
              </a:ext>
            </a:extLst>
          </p:cNvPr>
          <p:cNvSpPr>
            <a:spLocks xmlns:a="http://schemas.openxmlformats.org/drawingml/2006/main" noGrp="1"/>
          </p:cNvSpPr>
          <p:nvPr/>
        </p:nvSpPr>
        <p:spPr>
          <a:xfrm xmlns:a="http://schemas.openxmlformats.org/drawingml/2006/main">
            <a:off x="8991600" y="2047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00" b="0">
                <a:solidFill>
                  <a:srgbClr val="737D89"/>
                </a:solidFill>
                <a:latin typeface="Arial"/>
                <a:ea typeface="Arial"/>
                <a:cs typeface="Arial"/>
              </a:defRPr>
            </a:defPPr>
          </a:lstStyle>
          <a:p xmlns:a="http://schemas.openxmlformats.org/drawingml/2006/main">
            <a:pPr algn="r">
              <a:defRPr sz="1200" b="0">
                <a:solidFill>
                  <a:srgbClr val="737D89"/>
                </a:solidFill>
                <a:latin typeface="Arial"/>
                <a:ea typeface="Arial"/>
                <a:cs typeface="Arial"/>
              </a:defRPr>
            </a:pPr>
            <a:r>
              <a:rPr sz="1200" b="0">
                <a:solidFill>
                  <a:srgbClr val="737D89"/>
                </a:solidFill>
                <a:latin typeface="Arial"/>
                <a:ea typeface="Arial"/>
                <a:cs typeface="Arial"/>
              </a:rPr>
              <a:t>Design reference</a:t>
            </a:r>
          </a:p>
        </p:txBody>
      </p:sp>
      <p:sp>
        <p:nvSpPr>
          <p:cNvPr id="9" name="comp rule 0">
            <a:extLst xmlns:a="http://schemas.openxmlformats.org/drawingml/2006/main">
              <a:ext uri="{FF2B5EF4-FFF2-40B4-BE49-F238E27FC236}">
                <a16:creationId xmlns:a16="http://schemas.microsoft.com/office/drawing/2014/main" id="{0D8E274E-526D-4BE2-BAAD-9C35E570588C}"/>
              </a:ext>
            </a:extLst>
          </p:cNvPr>
          <p:cNvSpPr>
            <a:spLocks xmlns:a="http://schemas.openxmlformats.org/drawingml/2006/main" noGrp="1"/>
          </p:cNvSpPr>
          <p:nvPr/>
        </p:nvSpPr>
        <p:spPr>
          <a:xfrm xmlns:a="http://schemas.openxmlformats.org/drawingml/2006/main">
            <a:off x="762000" y="2838450"/>
            <a:ext cx="10572750" cy="9525"/>
          </a:xfrm>
          <a:prstGeom xmlns:a="http://schemas.openxmlformats.org/drawingml/2006/main" prst="rect">
            <a:avLst/>
          </a:prstGeom>
          <a:solidFill xmlns:a="http://schemas.openxmlformats.org/drawingml/2006/main">
            <a:srgbClr val="353D48"/>
          </a:solidFill>
          <a:ln xmlns:a="http://schemas.openxmlformats.org/drawingml/2006/main" w="0">
            <a:noFill/>
            <a:prstDash val="solid"/>
          </a:ln>
        </p:spPr>
      </p:sp>
      <p:sp>
        <p:nvSpPr>
          <p:cNvPr id="10" name="label INSCRYPTION">
            <a:extLst xmlns:a="http://schemas.openxmlformats.org/drawingml/2006/main">
              <a:ext uri="{FF2B5EF4-FFF2-40B4-BE49-F238E27FC236}">
                <a16:creationId xmlns:a16="http://schemas.microsoft.com/office/drawing/2014/main" id="{6E33BB62-B655-4EB2-AFE4-C9DA5147EF89}"/>
              </a:ext>
            </a:extLst>
          </p:cNvPr>
          <p:cNvSpPr>
            <a:spLocks xmlns:a="http://schemas.openxmlformats.org/drawingml/2006/main" noGrp="1"/>
          </p:cNvSpPr>
          <p:nvPr/>
        </p:nvSpPr>
        <p:spPr>
          <a:xfrm xmlns:a="http://schemas.openxmlformats.org/drawingml/2006/main">
            <a:off x="781050" y="3200400"/>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70B6A7"/>
                </a:solidFill>
                <a:latin typeface="Arial"/>
                <a:ea typeface="Arial"/>
                <a:cs typeface="Arial"/>
              </a:defRPr>
            </a:defPPr>
          </a:lstStyle>
          <a:p xmlns:a="http://schemas.openxmlformats.org/drawingml/2006/main">
            <a:pPr algn="l">
              <a:defRPr sz="900" b="1">
                <a:solidFill>
                  <a:srgbClr val="70B6A7"/>
                </a:solidFill>
                <a:latin typeface="Arial"/>
                <a:ea typeface="Arial"/>
                <a:cs typeface="Arial"/>
              </a:defRPr>
            </a:pPr>
            <a:r>
              <a:rPr sz="900" b="1">
                <a:solidFill>
                  <a:srgbClr val="70B6A7"/>
                </a:solidFill>
                <a:latin typeface="Arial"/>
                <a:ea typeface="Arial"/>
                <a:cs typeface="Arial"/>
              </a:rPr>
              <a:t>INSCRYPTION</a:t>
            </a:r>
          </a:p>
        </p:txBody>
      </p:sp>
      <p:sp>
        <p:nvSpPr>
          <p:cNvPr id="11" name="comp desc 1">
            <a:extLst xmlns:a="http://schemas.openxmlformats.org/drawingml/2006/main">
              <a:ext uri="{FF2B5EF4-FFF2-40B4-BE49-F238E27FC236}">
                <a16:creationId xmlns:a16="http://schemas.microsoft.com/office/drawing/2014/main" id="{FAEBB2CA-E659-41FB-8CA3-9C14377A2962}"/>
              </a:ext>
            </a:extLst>
          </p:cNvPr>
          <p:cNvSpPr>
            <a:spLocks xmlns:a="http://schemas.openxmlformats.org/drawingml/2006/main" noGrp="1"/>
          </p:cNvSpPr>
          <p:nvPr/>
        </p:nvSpPr>
        <p:spPr>
          <a:xfrm xmlns:a="http://schemas.openxmlformats.org/drawingml/2006/main">
            <a:off x="2857500" y="3190875"/>
            <a:ext cx="581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ABB2BC"/>
                </a:solidFill>
                <a:latin typeface="Arial"/>
                <a:ea typeface="Arial"/>
                <a:cs typeface="Arial"/>
              </a:defRPr>
            </a:defPPr>
          </a:lstStyle>
          <a:p xmlns:a="http://schemas.openxmlformats.org/drawingml/2006/main">
            <a:pPr algn="l">
              <a:defRPr sz="1650" b="0">
                <a:solidFill>
                  <a:srgbClr val="ABB2BC"/>
                </a:solidFill>
                <a:latin typeface="Arial"/>
                <a:ea typeface="Arial"/>
                <a:cs typeface="Arial"/>
              </a:defRPr>
            </a:pPr>
            <a:r>
              <a:rPr sz="1650" b="0">
                <a:solidFill>
                  <a:srgbClr val="ABB2BC"/>
                </a:solidFill>
                <a:latin typeface="Arial"/>
                <a:ea typeface="Arial"/>
                <a:cs typeface="Arial"/>
              </a:rPr>
              <a:t>A tabletop frame that gives a game-within-a-game atmosphere.</a:t>
            </a:r>
          </a:p>
        </p:txBody>
      </p:sp>
      <p:sp>
        <p:nvSpPr>
          <p:cNvPr id="12" name="comp role 1">
            <a:extLst xmlns:a="http://schemas.openxmlformats.org/drawingml/2006/main">
              <a:ext uri="{FF2B5EF4-FFF2-40B4-BE49-F238E27FC236}">
                <a16:creationId xmlns:a16="http://schemas.microsoft.com/office/drawing/2014/main" id="{EC304C97-8962-46A7-99AE-3B69FEA3106D}"/>
              </a:ext>
            </a:extLst>
          </p:cNvPr>
          <p:cNvSpPr>
            <a:spLocks xmlns:a="http://schemas.openxmlformats.org/drawingml/2006/main" noGrp="1"/>
          </p:cNvSpPr>
          <p:nvPr/>
        </p:nvSpPr>
        <p:spPr>
          <a:xfrm xmlns:a="http://schemas.openxmlformats.org/drawingml/2006/main">
            <a:off x="8991600" y="320040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00" b="0">
                <a:solidFill>
                  <a:srgbClr val="737D89"/>
                </a:solidFill>
                <a:latin typeface="Arial"/>
                <a:ea typeface="Arial"/>
                <a:cs typeface="Arial"/>
              </a:defRPr>
            </a:defPPr>
          </a:lstStyle>
          <a:p xmlns:a="http://schemas.openxmlformats.org/drawingml/2006/main">
            <a:pPr algn="r">
              <a:defRPr sz="1200" b="0">
                <a:solidFill>
                  <a:srgbClr val="737D89"/>
                </a:solidFill>
                <a:latin typeface="Arial"/>
                <a:ea typeface="Arial"/>
                <a:cs typeface="Arial"/>
              </a:defRPr>
            </a:pPr>
            <a:r>
              <a:rPr sz="1200" b="0">
                <a:solidFill>
                  <a:srgbClr val="737D89"/>
                </a:solidFill>
                <a:latin typeface="Arial"/>
                <a:ea typeface="Arial"/>
                <a:cs typeface="Arial"/>
              </a:rPr>
              <a:t>Mood reference</a:t>
            </a:r>
          </a:p>
        </p:txBody>
      </p:sp>
      <p:sp>
        <p:nvSpPr>
          <p:cNvPr id="13" name="comp rule 1">
            <a:extLst xmlns:a="http://schemas.openxmlformats.org/drawingml/2006/main">
              <a:ext uri="{FF2B5EF4-FFF2-40B4-BE49-F238E27FC236}">
                <a16:creationId xmlns:a16="http://schemas.microsoft.com/office/drawing/2014/main" id="{8F07D45A-9A47-488E-8ABD-B157C4708B84}"/>
              </a:ext>
            </a:extLst>
          </p:cNvPr>
          <p:cNvSpPr>
            <a:spLocks xmlns:a="http://schemas.openxmlformats.org/drawingml/2006/main" noGrp="1"/>
          </p:cNvSpPr>
          <p:nvPr/>
        </p:nvSpPr>
        <p:spPr>
          <a:xfrm xmlns:a="http://schemas.openxmlformats.org/drawingml/2006/main">
            <a:off x="762000" y="3990975"/>
            <a:ext cx="10572750" cy="9525"/>
          </a:xfrm>
          <a:prstGeom xmlns:a="http://schemas.openxmlformats.org/drawingml/2006/main" prst="rect">
            <a:avLst/>
          </a:prstGeom>
          <a:solidFill xmlns:a="http://schemas.openxmlformats.org/drawingml/2006/main">
            <a:srgbClr val="353D48"/>
          </a:solidFill>
          <a:ln xmlns:a="http://schemas.openxmlformats.org/drawingml/2006/main" w="0">
            <a:noFill/>
            <a:prstDash val="solid"/>
          </a:ln>
        </p:spPr>
      </p:sp>
      <p:sp>
        <p:nvSpPr>
          <p:cNvPr id="14" name="label LOOMROOM">
            <a:extLst xmlns:a="http://schemas.openxmlformats.org/drawingml/2006/main">
              <a:ext uri="{FF2B5EF4-FFF2-40B4-BE49-F238E27FC236}">
                <a16:creationId xmlns:a16="http://schemas.microsoft.com/office/drawing/2014/main" id="{C5890830-3F69-4647-93A2-E396CAC63374}"/>
              </a:ext>
            </a:extLst>
          </p:cNvPr>
          <p:cNvSpPr>
            <a:spLocks xmlns:a="http://schemas.openxmlformats.org/drawingml/2006/main" noGrp="1"/>
          </p:cNvSpPr>
          <p:nvPr/>
        </p:nvSpPr>
        <p:spPr>
          <a:xfrm xmlns:a="http://schemas.openxmlformats.org/drawingml/2006/main">
            <a:off x="781050" y="435292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E7A94B"/>
                </a:solidFill>
                <a:latin typeface="Arial"/>
                <a:ea typeface="Arial"/>
                <a:cs typeface="Arial"/>
              </a:defRPr>
            </a:defPPr>
          </a:lstStyle>
          <a:p xmlns:a="http://schemas.openxmlformats.org/drawingml/2006/main">
            <a:pPr algn="l">
              <a:defRPr sz="900" b="1">
                <a:solidFill>
                  <a:srgbClr val="E7A94B"/>
                </a:solidFill>
                <a:latin typeface="Arial"/>
                <a:ea typeface="Arial"/>
                <a:cs typeface="Arial"/>
              </a:defRPr>
            </a:pPr>
            <a:r>
              <a:rPr sz="900" b="1">
                <a:solidFill>
                  <a:srgbClr val="E7A94B"/>
                </a:solidFill>
                <a:latin typeface="Arial"/>
                <a:ea typeface="Arial"/>
                <a:cs typeface="Arial"/>
              </a:rPr>
              <a:t>LOOMROOM</a:t>
            </a:r>
          </a:p>
        </p:txBody>
      </p:sp>
      <p:sp>
        <p:nvSpPr>
          <p:cNvPr id="15" name="comp desc 2">
            <a:extLst xmlns:a="http://schemas.openxmlformats.org/drawingml/2006/main">
              <a:ext uri="{FF2B5EF4-FFF2-40B4-BE49-F238E27FC236}">
                <a16:creationId xmlns:a16="http://schemas.microsoft.com/office/drawing/2014/main" id="{B43C1CF9-945D-463D-9DDD-CA0DCB0518B9}"/>
              </a:ext>
            </a:extLst>
          </p:cNvPr>
          <p:cNvSpPr>
            <a:spLocks xmlns:a="http://schemas.openxmlformats.org/drawingml/2006/main" noGrp="1"/>
          </p:cNvSpPr>
          <p:nvPr/>
        </p:nvSpPr>
        <p:spPr>
          <a:xfrm xmlns:a="http://schemas.openxmlformats.org/drawingml/2006/main">
            <a:off x="2857500" y="4343400"/>
            <a:ext cx="581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F4F0E5"/>
                </a:solidFill>
                <a:latin typeface="Arial"/>
                <a:ea typeface="Arial"/>
                <a:cs typeface="Arial"/>
              </a:defRPr>
            </a:defPPr>
          </a:lstStyle>
          <a:p xmlns:a="http://schemas.openxmlformats.org/drawingml/2006/main">
            <a:pPr algn="l">
              <a:defRPr sz="1650" b="1">
                <a:solidFill>
                  <a:srgbClr val="F4F0E5"/>
                </a:solidFill>
                <a:latin typeface="Arial"/>
                <a:ea typeface="Arial"/>
                <a:cs typeface="Arial"/>
              </a:defRPr>
            </a:pPr>
            <a:r>
              <a:rPr sz="1650" b="1">
                <a:solidFill>
                  <a:srgbClr val="F4F0E5"/>
                </a:solidFill>
                <a:latin typeface="Arial"/>
                <a:ea typeface="Arial"/>
                <a:cs typeface="Arial"/>
              </a:rPr>
              <a:t>First-person action roguelike progression, staged on a bedroom table.</a:t>
            </a:r>
          </a:p>
        </p:txBody>
      </p:sp>
      <p:sp>
        <p:nvSpPr>
          <p:cNvPr id="16" name="comp role 2">
            <a:extLst xmlns:a="http://schemas.openxmlformats.org/drawingml/2006/main">
              <a:ext uri="{FF2B5EF4-FFF2-40B4-BE49-F238E27FC236}">
                <a16:creationId xmlns:a16="http://schemas.microsoft.com/office/drawing/2014/main" id="{1E10234D-5F0D-4DAC-881E-39C0C1CEE7EE}"/>
              </a:ext>
            </a:extLst>
          </p:cNvPr>
          <p:cNvSpPr>
            <a:spLocks xmlns:a="http://schemas.openxmlformats.org/drawingml/2006/main" noGrp="1"/>
          </p:cNvSpPr>
          <p:nvPr/>
        </p:nvSpPr>
        <p:spPr>
          <a:xfrm xmlns:a="http://schemas.openxmlformats.org/drawingml/2006/main">
            <a:off x="8991600" y="435292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200" b="0">
                <a:solidFill>
                  <a:srgbClr val="E7A94B"/>
                </a:solidFill>
                <a:latin typeface="Arial"/>
                <a:ea typeface="Arial"/>
                <a:cs typeface="Arial"/>
              </a:defRPr>
            </a:defPPr>
          </a:lstStyle>
          <a:p xmlns:a="http://schemas.openxmlformats.org/drawingml/2006/main">
            <a:pPr algn="r">
              <a:defRPr sz="1200" b="0">
                <a:solidFill>
                  <a:srgbClr val="E7A94B"/>
                </a:solidFill>
                <a:latin typeface="Arial"/>
                <a:ea typeface="Arial"/>
                <a:cs typeface="Arial"/>
              </a:defRPr>
            </a:pPr>
            <a:r>
              <a:rPr sz="1200" b="0">
                <a:solidFill>
                  <a:srgbClr val="E7A94B"/>
                </a:solidFill>
                <a:latin typeface="Arial"/>
                <a:ea typeface="Arial"/>
                <a:cs typeface="Arial"/>
              </a:rPr>
              <a:t>Own proposition</a:t>
            </a:r>
          </a:p>
        </p:txBody>
      </p:sp>
      <p:sp>
        <p:nvSpPr>
          <p:cNvPr id="17" name="market caveat">
            <a:extLst xmlns:a="http://schemas.openxmlformats.org/drawingml/2006/main">
              <a:ext uri="{FF2B5EF4-FFF2-40B4-BE49-F238E27FC236}">
                <a16:creationId xmlns:a16="http://schemas.microsoft.com/office/drawing/2014/main" id="{11BB8019-CD9E-4085-A458-37AE80669319}"/>
              </a:ext>
            </a:extLst>
          </p:cNvPr>
          <p:cNvSpPr>
            <a:spLocks xmlns:a="http://schemas.openxmlformats.org/drawingml/2006/main" noGrp="1"/>
          </p:cNvSpPr>
          <p:nvPr/>
        </p:nvSpPr>
        <p:spPr>
          <a:xfrm xmlns:a="http://schemas.openxmlformats.org/drawingml/2006/main">
            <a:off x="781050" y="57150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i="1">
                <a:solidFill>
                  <a:srgbClr val="737D89"/>
                </a:solidFill>
                <a:latin typeface="Arial"/>
                <a:ea typeface="Arial"/>
                <a:cs typeface="Arial"/>
              </a:defRPr>
            </a:defPPr>
          </a:lstStyle>
          <a:p xmlns:a="http://schemas.openxmlformats.org/drawingml/2006/main">
            <a:pPr algn="l">
              <a:defRPr sz="1275" b="0" i="1">
                <a:solidFill>
                  <a:srgbClr val="737D89"/>
                </a:solidFill>
                <a:latin typeface="Arial"/>
                <a:ea typeface="Arial"/>
                <a:cs typeface="Arial"/>
              </a:defRPr>
            </a:pPr>
            <a:r>
              <a:rPr sz="1275" b="0" i="1">
                <a:solidFill>
                  <a:srgbClr val="737D89"/>
                </a:solidFill>
                <a:latin typeface="Arial"/>
                <a:ea typeface="Arial"/>
                <a:cs typeface="Arial"/>
              </a:rPr>
              <a:t>Genre comparables are positioning references, not performance forecasts.</a:t>
            </a:r>
          </a:p>
        </p:txBody>
      </p:sp>
    </p:spTree>
    <p:extLst>
      <p:ext uri="{BB962C8B-B14F-4D97-AF65-F5344CB8AC3E}">
        <p14:creationId xmlns:p14="http://schemas.microsoft.com/office/powerpoint/2010/main" val="899580778"/>
      </p:ext>
    </p:extLst>
  </p:cSld>
</p:sld>
</file>

<file path=ppt/slides/slide10.xml><?xml version="1.0" encoding="utf-8"?>
<p:sld xmlns:p="http://schemas.openxmlformats.org/presentationml/2006/main">
  <p:cSld>
    <p:bg>
      <p:bgPr>
        <a:solidFill xmlns:a="http://schemas.openxmlformats.org/drawingml/2006/main">
          <a:srgbClr val="10131A"/>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0F9F72C4-51D0-4B90-8FBC-6E81E8D33D99}"/>
              </a:ext>
            </a:extLst>
          </p:cNvPr>
          <p:cNvSpPr>
            <a:spLocks xmlns:a="http://schemas.openxmlformats.org/drawingml/2006/main" noGrp="1"/>
          </p:cNvSpPr>
          <p:nvPr/>
        </p:nvSpPr>
        <p:spPr>
          <a:xfrm xmlns:a="http://schemas.openxmlformats.org/drawingml/2006/main">
            <a:off x="647700" y="3810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F4F0E5"/>
                </a:solidFill>
                <a:latin typeface="Arial"/>
                <a:ea typeface="Arial"/>
                <a:cs typeface="Arial"/>
              </a:defRPr>
            </a:defPPr>
          </a:lstStyle>
          <a:p xmlns:a="http://schemas.openxmlformats.org/drawingml/2006/main">
            <a:pPr algn="l">
              <a:defRPr sz="2850" b="1">
                <a:solidFill>
                  <a:srgbClr val="F4F0E5"/>
                </a:solidFill>
                <a:latin typeface="Arial"/>
                <a:ea typeface="Arial"/>
                <a:cs typeface="Arial"/>
              </a:defRPr>
            </a:pPr>
            <a:r>
              <a:rPr sz="2850" b="1">
                <a:solidFill>
                  <a:srgbClr val="F4F0E5"/>
                </a:solidFill>
                <a:latin typeface="Arial"/>
                <a:ea typeface="Arial"/>
                <a:cs typeface="Arial"/>
              </a:rPr>
              <a:t>The project has a working combat and dungeon foundation</a:t>
            </a:r>
          </a:p>
        </p:txBody>
      </p:sp>
      <p:sp>
        <p:nvSpPr>
          <p:cNvPr id="2" name="title rule">
            <a:extLst xmlns:a="http://schemas.openxmlformats.org/drawingml/2006/main">
              <a:ext uri="{FF2B5EF4-FFF2-40B4-BE49-F238E27FC236}">
                <a16:creationId xmlns:a16="http://schemas.microsoft.com/office/drawing/2014/main" id="{FDCE6AA7-1F66-46F7-BD51-D9C2E7DB2C85}"/>
              </a:ext>
            </a:extLst>
          </p:cNvPr>
          <p:cNvSpPr>
            <a:spLocks xmlns:a="http://schemas.openxmlformats.org/drawingml/2006/main" noGrp="1"/>
          </p:cNvSpPr>
          <p:nvPr/>
        </p:nvSpPr>
        <p:spPr>
          <a:xfrm xmlns:a="http://schemas.openxmlformats.org/drawingml/2006/main">
            <a:off x="647700" y="1028700"/>
            <a:ext cx="647700" cy="38100"/>
          </a:xfrm>
          <a:prstGeom xmlns:a="http://schemas.openxmlformats.org/drawingml/2006/main" prst="rect">
            <a:avLst/>
          </a:prstGeom>
          <a:solidFill xmlns:a="http://schemas.openxmlformats.org/drawingml/2006/main">
            <a:srgbClr val="E7A94B"/>
          </a:solidFill>
          <a:ln xmlns:a="http://schemas.openxmlformats.org/drawingml/2006/main" w="0">
            <a:noFill/>
            <a:prstDash val="solid"/>
          </a:ln>
        </p:spPr>
      </p:sp>
      <p:sp>
        <p:nvSpPr>
          <p:cNvPr id="3" name="subtitle">
            <a:extLst xmlns:a="http://schemas.openxmlformats.org/drawingml/2006/main">
              <a:ext uri="{FF2B5EF4-FFF2-40B4-BE49-F238E27FC236}">
                <a16:creationId xmlns:a16="http://schemas.microsoft.com/office/drawing/2014/main" id="{370F655C-3DA5-499B-8828-1BE7B1F66ACC}"/>
              </a:ext>
            </a:extLst>
          </p:cNvPr>
          <p:cNvSpPr>
            <a:spLocks xmlns:a="http://schemas.openxmlformats.org/drawingml/2006/main" noGrp="1"/>
          </p:cNvSpPr>
          <p:nvPr/>
        </p:nvSpPr>
        <p:spPr>
          <a:xfrm xmlns:a="http://schemas.openxmlformats.org/drawingml/2006/main">
            <a:off x="647700" y="117157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ABB2BC"/>
                </a:solidFill>
                <a:latin typeface="Arial"/>
                <a:ea typeface="Arial"/>
                <a:cs typeface="Arial"/>
              </a:defRPr>
            </a:defPPr>
          </a:lstStyle>
          <a:p xmlns:a="http://schemas.openxmlformats.org/drawingml/2006/main">
            <a:pPr algn="l">
              <a:defRPr sz="1275" b="0">
                <a:solidFill>
                  <a:srgbClr val="ABB2BC"/>
                </a:solidFill>
                <a:latin typeface="Arial"/>
                <a:ea typeface="Arial"/>
                <a:cs typeface="Arial"/>
              </a:defRPr>
            </a:pPr>
            <a:r>
              <a:rPr sz="1275" b="0">
                <a:solidFill>
                  <a:srgbClr val="ABB2BC"/>
                </a:solidFill>
                <a:latin typeface="Arial"/>
                <a:ea typeface="Arial"/>
                <a:cs typeface="Arial"/>
              </a:rPr>
              <a:t>Current evidence from project documentation and Unity assets</a:t>
            </a:r>
          </a:p>
        </p:txBody>
      </p:sp>
      <p:sp>
        <p:nvSpPr>
          <p:cNvPr id="4" name="wordmark">
            <a:extLst xmlns:a="http://schemas.openxmlformats.org/drawingml/2006/main">
              <a:ext uri="{FF2B5EF4-FFF2-40B4-BE49-F238E27FC236}">
                <a16:creationId xmlns:a16="http://schemas.microsoft.com/office/drawing/2014/main" id="{E9CE663A-8F96-4128-9282-D61EB49CB421}"/>
              </a:ext>
            </a:extLst>
          </p:cNvPr>
          <p:cNvSpPr>
            <a:spLocks xmlns:a="http://schemas.openxmlformats.org/drawingml/2006/main" noGrp="1"/>
          </p:cNvSpPr>
          <p:nvPr/>
        </p:nvSpPr>
        <p:spPr>
          <a:xfrm xmlns:a="http://schemas.openxmlformats.org/drawingml/2006/main">
            <a:off x="647700" y="64389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737D89"/>
                </a:solidFill>
                <a:latin typeface="Arial"/>
                <a:ea typeface="Arial"/>
                <a:cs typeface="Arial"/>
              </a:defRPr>
            </a:defPPr>
          </a:lstStyle>
          <a:p xmlns:a="http://schemas.openxmlformats.org/drawingml/2006/main">
            <a:pPr algn="l">
              <a:defRPr sz="900" b="1">
                <a:solidFill>
                  <a:srgbClr val="737D89"/>
                </a:solidFill>
                <a:latin typeface="Arial"/>
                <a:ea typeface="Arial"/>
                <a:cs typeface="Arial"/>
              </a:defRPr>
            </a:pPr>
            <a:r>
              <a:rPr sz="900" b="1">
                <a:solidFill>
                  <a:srgbClr val="737D89"/>
                </a:solidFill>
                <a:latin typeface="Arial"/>
                <a:ea typeface="Arial"/>
                <a:cs typeface="Arial"/>
              </a:rPr>
              <a:t>LOOMROOM</a:t>
            </a:r>
          </a:p>
        </p:txBody>
      </p:sp>
      <p:sp>
        <p:nvSpPr>
          <p:cNvPr id="5" name="page">
            <a:extLst xmlns:a="http://schemas.openxmlformats.org/drawingml/2006/main">
              <a:ext uri="{FF2B5EF4-FFF2-40B4-BE49-F238E27FC236}">
                <a16:creationId xmlns:a16="http://schemas.microsoft.com/office/drawing/2014/main" id="{7AF37BD4-A4F3-435B-8D3B-05916C4C94D0}"/>
              </a:ext>
            </a:extLst>
          </p:cNvPr>
          <p:cNvSpPr>
            <a:spLocks xmlns:a="http://schemas.openxmlformats.org/drawingml/2006/main" noGrp="1"/>
          </p:cNvSpPr>
          <p:nvPr/>
        </p:nvSpPr>
        <p:spPr>
          <a:xfrm xmlns:a="http://schemas.openxmlformats.org/drawingml/2006/main">
            <a:off x="11201400" y="64389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00" b="0">
                <a:solidFill>
                  <a:srgbClr val="737D89"/>
                </a:solidFill>
                <a:latin typeface="Arial"/>
                <a:ea typeface="Arial"/>
                <a:cs typeface="Arial"/>
              </a:defRPr>
            </a:defPPr>
          </a:lstStyle>
          <a:p xmlns:a="http://schemas.openxmlformats.org/drawingml/2006/main">
            <a:pPr algn="r">
              <a:defRPr sz="900" b="0">
                <a:solidFill>
                  <a:srgbClr val="737D89"/>
                </a:solidFill>
                <a:latin typeface="Arial"/>
                <a:ea typeface="Arial"/>
                <a:cs typeface="Arial"/>
              </a:defRPr>
            </a:pPr>
            <a:r>
              <a:rPr sz="900" b="0">
                <a:solidFill>
                  <a:srgbClr val="737D89"/>
                </a:solidFill>
                <a:latin typeface="Arial"/>
                <a:ea typeface="Arial"/>
                <a:cs typeface="Arial"/>
              </a:rPr>
              <a:t>10</a:t>
            </a:r>
          </a:p>
        </p:txBody>
      </p:sp>
      <p:sp>
        <p:nvSpPr>
          <p:cNvPr id="6" name="proof head 0">
            <a:extLst xmlns:a="http://schemas.openxmlformats.org/drawingml/2006/main">
              <a:ext uri="{FF2B5EF4-FFF2-40B4-BE49-F238E27FC236}">
                <a16:creationId xmlns:a16="http://schemas.microsoft.com/office/drawing/2014/main" id="{02D8DE14-FC12-4DBF-946E-0389756742B3}"/>
              </a:ext>
            </a:extLst>
          </p:cNvPr>
          <p:cNvSpPr>
            <a:spLocks xmlns:a="http://schemas.openxmlformats.org/drawingml/2006/main" noGrp="1"/>
          </p:cNvSpPr>
          <p:nvPr/>
        </p:nvSpPr>
        <p:spPr>
          <a:xfrm xmlns:a="http://schemas.openxmlformats.org/drawingml/2006/main">
            <a:off x="781050" y="1943100"/>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4F0E5"/>
                </a:solidFill>
                <a:latin typeface="Arial"/>
                <a:ea typeface="Arial"/>
                <a:cs typeface="Arial"/>
              </a:defRPr>
            </a:defPPr>
          </a:lstStyle>
          <a:p xmlns:a="http://schemas.openxmlformats.org/drawingml/2006/main">
            <a:pPr algn="l">
              <a:defRPr sz="1500" b="1">
                <a:solidFill>
                  <a:srgbClr val="F4F0E5"/>
                </a:solidFill>
                <a:latin typeface="Arial"/>
                <a:ea typeface="Arial"/>
                <a:cs typeface="Arial"/>
              </a:defRPr>
            </a:pPr>
            <a:r>
              <a:rPr sz="1500" b="1">
                <a:solidFill>
                  <a:srgbClr val="F4F0E5"/>
                </a:solidFill>
                <a:latin typeface="Arial"/>
                <a:ea typeface="Arial"/>
                <a:cs typeface="Arial"/>
              </a:rPr>
              <a:t>Implemented</a:t>
            </a:r>
          </a:p>
        </p:txBody>
      </p:sp>
      <p:sp>
        <p:nvSpPr>
          <p:cNvPr id="7" name="proof body 0">
            <a:extLst xmlns:a="http://schemas.openxmlformats.org/drawingml/2006/main">
              <a:ext uri="{FF2B5EF4-FFF2-40B4-BE49-F238E27FC236}">
                <a16:creationId xmlns:a16="http://schemas.microsoft.com/office/drawing/2014/main" id="{656F0627-5B4A-48C3-93F5-65BAFEDAA714}"/>
              </a:ext>
            </a:extLst>
          </p:cNvPr>
          <p:cNvSpPr>
            <a:spLocks xmlns:a="http://schemas.openxmlformats.org/drawingml/2006/main" noGrp="1"/>
          </p:cNvSpPr>
          <p:nvPr/>
        </p:nvSpPr>
        <p:spPr>
          <a:xfrm xmlns:a="http://schemas.openxmlformats.org/drawingml/2006/main">
            <a:off x="3143250" y="1943100"/>
            <a:ext cx="79057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ABB2BC"/>
                </a:solidFill>
                <a:latin typeface="Arial"/>
                <a:ea typeface="Arial"/>
                <a:cs typeface="Arial"/>
              </a:defRPr>
            </a:defPPr>
          </a:lstStyle>
          <a:p xmlns:a="http://schemas.openxmlformats.org/drawingml/2006/main">
            <a:pPr algn="l">
              <a:defRPr sz="1350" b="0">
                <a:solidFill>
                  <a:srgbClr val="ABB2BC"/>
                </a:solidFill>
                <a:latin typeface="Arial"/>
                <a:ea typeface="Arial"/>
                <a:cs typeface="Arial"/>
              </a:defRPr>
            </a:pPr>
            <a:r>
              <a:rPr sz="1350" b="0">
                <a:solidFill>
                  <a:srgbClr val="ABB2BC"/>
                </a:solidFill>
                <a:latin typeface="Arial"/>
                <a:ea typeface="Arial"/>
                <a:cs typeface="Arial"/>
              </a:rPr>
              <a:t>Runtime scripts cover player combat, enemies, dungeon generation, loot and run progression.</a:t>
            </a:r>
          </a:p>
        </p:txBody>
      </p:sp>
      <p:sp>
        <p:nvSpPr>
          <p:cNvPr id="8" name="proof rule 0">
            <a:extLst xmlns:a="http://schemas.openxmlformats.org/drawingml/2006/main">
              <a:ext uri="{FF2B5EF4-FFF2-40B4-BE49-F238E27FC236}">
                <a16:creationId xmlns:a16="http://schemas.microsoft.com/office/drawing/2014/main" id="{B6CD427E-1434-4A4A-9ED5-C9F86F6C7906}"/>
              </a:ext>
            </a:extLst>
          </p:cNvPr>
          <p:cNvSpPr>
            <a:spLocks xmlns:a="http://schemas.openxmlformats.org/drawingml/2006/main" noGrp="1"/>
          </p:cNvSpPr>
          <p:nvPr/>
        </p:nvSpPr>
        <p:spPr>
          <a:xfrm xmlns:a="http://schemas.openxmlformats.org/drawingml/2006/main">
            <a:off x="781050" y="2809875"/>
            <a:ext cx="10287000" cy="9525"/>
          </a:xfrm>
          <a:prstGeom xmlns:a="http://schemas.openxmlformats.org/drawingml/2006/main" prst="rect">
            <a:avLst/>
          </a:prstGeom>
          <a:solidFill xmlns:a="http://schemas.openxmlformats.org/drawingml/2006/main">
            <a:srgbClr val="353D48"/>
          </a:solidFill>
          <a:ln xmlns:a="http://schemas.openxmlformats.org/drawingml/2006/main" w="0">
            <a:noFill/>
            <a:prstDash val="solid"/>
          </a:ln>
        </p:spPr>
      </p:sp>
      <p:sp>
        <p:nvSpPr>
          <p:cNvPr id="9" name="proof head 1">
            <a:extLst xmlns:a="http://schemas.openxmlformats.org/drawingml/2006/main">
              <a:ext uri="{FF2B5EF4-FFF2-40B4-BE49-F238E27FC236}">
                <a16:creationId xmlns:a16="http://schemas.microsoft.com/office/drawing/2014/main" id="{6D9AB444-0B3F-4403-B25D-E4D964FBDAEC}"/>
              </a:ext>
            </a:extLst>
          </p:cNvPr>
          <p:cNvSpPr>
            <a:spLocks xmlns:a="http://schemas.openxmlformats.org/drawingml/2006/main" noGrp="1"/>
          </p:cNvSpPr>
          <p:nvPr/>
        </p:nvSpPr>
        <p:spPr>
          <a:xfrm xmlns:a="http://schemas.openxmlformats.org/drawingml/2006/main">
            <a:off x="781050" y="3133725"/>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F4F0E5"/>
                </a:solidFill>
                <a:latin typeface="Arial"/>
                <a:ea typeface="Arial"/>
                <a:cs typeface="Arial"/>
              </a:defRPr>
            </a:defPPr>
          </a:lstStyle>
          <a:p xmlns:a="http://schemas.openxmlformats.org/drawingml/2006/main">
            <a:pPr algn="l">
              <a:defRPr sz="1500" b="1">
                <a:solidFill>
                  <a:srgbClr val="F4F0E5"/>
                </a:solidFill>
                <a:latin typeface="Arial"/>
                <a:ea typeface="Arial"/>
                <a:cs typeface="Arial"/>
              </a:defRPr>
            </a:pPr>
            <a:r>
              <a:rPr sz="1500" b="1">
                <a:solidFill>
                  <a:srgbClr val="F4F0E5"/>
                </a:solidFill>
                <a:latin typeface="Arial"/>
                <a:ea typeface="Arial"/>
                <a:cs typeface="Arial"/>
              </a:rPr>
              <a:t>Test record</a:t>
            </a:r>
          </a:p>
        </p:txBody>
      </p:sp>
      <p:sp>
        <p:nvSpPr>
          <p:cNvPr id="10" name="proof body 1">
            <a:extLst xmlns:a="http://schemas.openxmlformats.org/drawingml/2006/main">
              <a:ext uri="{FF2B5EF4-FFF2-40B4-BE49-F238E27FC236}">
                <a16:creationId xmlns:a16="http://schemas.microsoft.com/office/drawing/2014/main" id="{0886FD5D-BF81-45C7-8369-275897DB4883}"/>
              </a:ext>
            </a:extLst>
          </p:cNvPr>
          <p:cNvSpPr>
            <a:spLocks xmlns:a="http://schemas.openxmlformats.org/drawingml/2006/main" noGrp="1"/>
          </p:cNvSpPr>
          <p:nvPr/>
        </p:nvSpPr>
        <p:spPr>
          <a:xfrm xmlns:a="http://schemas.openxmlformats.org/drawingml/2006/main">
            <a:off x="3143250" y="3133725"/>
            <a:ext cx="79057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ABB2BC"/>
                </a:solidFill>
                <a:latin typeface="Arial"/>
                <a:ea typeface="Arial"/>
                <a:cs typeface="Arial"/>
              </a:defRPr>
            </a:defPPr>
          </a:lstStyle>
          <a:p xmlns:a="http://schemas.openxmlformats.org/drawingml/2006/main">
            <a:pPr algn="l">
              <a:defRPr sz="1350" b="0">
                <a:solidFill>
                  <a:srgbClr val="ABB2BC"/>
                </a:solidFill>
                <a:latin typeface="Arial"/>
                <a:ea typeface="Arial"/>
                <a:cs typeface="Arial"/>
              </a:defRPr>
            </a:pPr>
            <a:r>
              <a:rPr sz="1350" b="0">
                <a:solidFill>
                  <a:srgbClr val="ABB2BC"/>
                </a:solidFill>
                <a:latin typeface="Arial"/>
                <a:ea typeface="Arial"/>
                <a:cs typeface="Arial"/>
              </a:rPr>
              <a:t>A project audit records a clean compile and Play-mode smoke test of a generated dungeon, kills and XP.</a:t>
            </a:r>
          </a:p>
        </p:txBody>
      </p:sp>
      <p:sp>
        <p:nvSpPr>
          <p:cNvPr id="11" name="proof rule 1">
            <a:extLst xmlns:a="http://schemas.openxmlformats.org/drawingml/2006/main">
              <a:ext uri="{FF2B5EF4-FFF2-40B4-BE49-F238E27FC236}">
                <a16:creationId xmlns:a16="http://schemas.microsoft.com/office/drawing/2014/main" id="{90E7A439-ACAF-41E6-AFB3-032705D687CB}"/>
              </a:ext>
            </a:extLst>
          </p:cNvPr>
          <p:cNvSpPr>
            <a:spLocks xmlns:a="http://schemas.openxmlformats.org/drawingml/2006/main" noGrp="1"/>
          </p:cNvSpPr>
          <p:nvPr/>
        </p:nvSpPr>
        <p:spPr>
          <a:xfrm xmlns:a="http://schemas.openxmlformats.org/drawingml/2006/main">
            <a:off x="781050" y="4000500"/>
            <a:ext cx="10287000" cy="9525"/>
          </a:xfrm>
          <a:prstGeom xmlns:a="http://schemas.openxmlformats.org/drawingml/2006/main" prst="rect">
            <a:avLst/>
          </a:prstGeom>
          <a:solidFill xmlns:a="http://schemas.openxmlformats.org/drawingml/2006/main">
            <a:srgbClr val="353D48"/>
          </a:solidFill>
          <a:ln xmlns:a="http://schemas.openxmlformats.org/drawingml/2006/main" w="0">
            <a:noFill/>
            <a:prstDash val="solid"/>
          </a:ln>
        </p:spPr>
      </p:sp>
      <p:sp>
        <p:nvSpPr>
          <p:cNvPr id="12" name="proof head 2">
            <a:extLst xmlns:a="http://schemas.openxmlformats.org/drawingml/2006/main">
              <a:ext uri="{FF2B5EF4-FFF2-40B4-BE49-F238E27FC236}">
                <a16:creationId xmlns:a16="http://schemas.microsoft.com/office/drawing/2014/main" id="{21689FFC-85AA-4B32-96D6-E89ECA5D73AF}"/>
              </a:ext>
            </a:extLst>
          </p:cNvPr>
          <p:cNvSpPr>
            <a:spLocks xmlns:a="http://schemas.openxmlformats.org/drawingml/2006/main" noGrp="1"/>
          </p:cNvSpPr>
          <p:nvPr/>
        </p:nvSpPr>
        <p:spPr>
          <a:xfrm xmlns:a="http://schemas.openxmlformats.org/drawingml/2006/main">
            <a:off x="781050" y="4324350"/>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E7A94B"/>
                </a:solidFill>
                <a:latin typeface="Arial"/>
                <a:ea typeface="Arial"/>
                <a:cs typeface="Arial"/>
              </a:defRPr>
            </a:defPPr>
          </a:lstStyle>
          <a:p xmlns:a="http://schemas.openxmlformats.org/drawingml/2006/main">
            <a:pPr algn="l">
              <a:defRPr sz="1500" b="1">
                <a:solidFill>
                  <a:srgbClr val="E7A94B"/>
                </a:solidFill>
                <a:latin typeface="Arial"/>
                <a:ea typeface="Arial"/>
                <a:cs typeface="Arial"/>
              </a:defRPr>
            </a:pPr>
            <a:r>
              <a:rPr sz="1500" b="1">
                <a:solidFill>
                  <a:srgbClr val="E7A94B"/>
                </a:solidFill>
                <a:latin typeface="Arial"/>
                <a:ea typeface="Arial"/>
                <a:cs typeface="Arial"/>
              </a:rPr>
              <a:t>Playable proof needed</a:t>
            </a:r>
          </a:p>
        </p:txBody>
      </p:sp>
      <p:sp>
        <p:nvSpPr>
          <p:cNvPr id="13" name="proof body 2">
            <a:extLst xmlns:a="http://schemas.openxmlformats.org/drawingml/2006/main">
              <a:ext uri="{FF2B5EF4-FFF2-40B4-BE49-F238E27FC236}">
                <a16:creationId xmlns:a16="http://schemas.microsoft.com/office/drawing/2014/main" id="{400F06A7-50F7-4835-847C-25F9D298360E}"/>
              </a:ext>
            </a:extLst>
          </p:cNvPr>
          <p:cNvSpPr>
            <a:spLocks xmlns:a="http://schemas.openxmlformats.org/drawingml/2006/main" noGrp="1"/>
          </p:cNvSpPr>
          <p:nvPr/>
        </p:nvSpPr>
        <p:spPr>
          <a:xfrm xmlns:a="http://schemas.openxmlformats.org/drawingml/2006/main">
            <a:off x="3143250" y="4324350"/>
            <a:ext cx="79057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ABB2BC"/>
                </a:solidFill>
                <a:latin typeface="Arial"/>
                <a:ea typeface="Arial"/>
                <a:cs typeface="Arial"/>
              </a:defRPr>
            </a:defPPr>
          </a:lstStyle>
          <a:p xmlns:a="http://schemas.openxmlformats.org/drawingml/2006/main">
            <a:pPr algn="l">
              <a:defRPr sz="1350" b="0">
                <a:solidFill>
                  <a:srgbClr val="ABB2BC"/>
                </a:solidFill>
                <a:latin typeface="Arial"/>
                <a:ea typeface="Arial"/>
                <a:cs typeface="Arial"/>
              </a:defRPr>
            </a:pPr>
            <a:r>
              <a:rPr sz="1350" b="0">
                <a:solidFill>
                  <a:srgbClr val="ABB2BC"/>
                </a:solidFill>
                <a:latin typeface="Arial"/>
                <a:ea typeface="Arial"/>
                <a:cs typeface="Arial"/>
              </a:rPr>
              <a:t>A publisher build should show the core loop and the current quality bar in one short session.</a:t>
            </a:r>
          </a:p>
        </p:txBody>
      </p:sp>
      <p:sp>
        <p:nvSpPr>
          <p:cNvPr id="14" name="proof note">
            <a:extLst xmlns:a="http://schemas.openxmlformats.org/drawingml/2006/main">
              <a:ext uri="{FF2B5EF4-FFF2-40B4-BE49-F238E27FC236}">
                <a16:creationId xmlns:a16="http://schemas.microsoft.com/office/drawing/2014/main" id="{7DF07CDA-F584-4473-BD7E-A1F4642F080E}"/>
              </a:ext>
            </a:extLst>
          </p:cNvPr>
          <p:cNvSpPr>
            <a:spLocks xmlns:a="http://schemas.openxmlformats.org/drawingml/2006/main" noGrp="1"/>
          </p:cNvSpPr>
          <p:nvPr/>
        </p:nvSpPr>
        <p:spPr>
          <a:xfrm xmlns:a="http://schemas.openxmlformats.org/drawingml/2006/main">
            <a:off x="781050" y="5648325"/>
            <a:ext cx="10591800" cy="9525"/>
          </a:xfrm>
          <a:prstGeom xmlns:a="http://schemas.openxmlformats.org/drawingml/2006/main" prst="rect">
            <a:avLst/>
          </a:prstGeom>
          <a:solidFill xmlns:a="http://schemas.openxmlformats.org/drawingml/2006/main">
            <a:srgbClr val="353D48"/>
          </a:solidFill>
          <a:ln xmlns:a="http://schemas.openxmlformats.org/drawingml/2006/main" w="0">
            <a:noFill/>
            <a:prstDash val="solid"/>
          </a:ln>
        </p:spPr>
      </p:sp>
      <p:sp>
        <p:nvSpPr>
          <p:cNvPr id="15" name="proof note text">
            <a:extLst xmlns:a="http://schemas.openxmlformats.org/drawingml/2006/main">
              <a:ext uri="{FF2B5EF4-FFF2-40B4-BE49-F238E27FC236}">
                <a16:creationId xmlns:a16="http://schemas.microsoft.com/office/drawing/2014/main" id="{5A7ADC31-0939-4608-9FF3-28D07FDBC811}"/>
              </a:ext>
            </a:extLst>
          </p:cNvPr>
          <p:cNvSpPr>
            <a:spLocks xmlns:a="http://schemas.openxmlformats.org/drawingml/2006/main" noGrp="1"/>
          </p:cNvSpPr>
          <p:nvPr/>
        </p:nvSpPr>
        <p:spPr>
          <a:xfrm xmlns:a="http://schemas.openxmlformats.org/drawingml/2006/main">
            <a:off x="781050" y="580072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E7A94B"/>
                </a:solidFill>
                <a:latin typeface="Arial"/>
                <a:ea typeface="Arial"/>
                <a:cs typeface="Arial"/>
              </a:defRPr>
            </a:defPPr>
          </a:lstStyle>
          <a:p xmlns:a="http://schemas.openxmlformats.org/drawingml/2006/main">
            <a:pPr algn="l">
              <a:defRPr sz="1350" b="1">
                <a:solidFill>
                  <a:srgbClr val="E7A94B"/>
                </a:solidFill>
                <a:latin typeface="Arial"/>
                <a:ea typeface="Arial"/>
                <a:cs typeface="Arial"/>
              </a:defRPr>
            </a:pPr>
            <a:r>
              <a:rPr sz="1350" b="1">
                <a:solidFill>
                  <a:srgbClr val="E7A94B"/>
                </a:solidFill>
                <a:latin typeface="Arial"/>
                <a:ea typeface="Arial"/>
                <a:cs typeface="Arial"/>
              </a:rPr>
              <a:t>The 20-floor run remains a design target; the current configured dungeon has four floors.</a:t>
            </a:r>
          </a:p>
        </p:txBody>
      </p:sp>
    </p:spTree>
    <p:extLst>
      <p:ext uri="{BB962C8B-B14F-4D97-AF65-F5344CB8AC3E}">
        <p14:creationId xmlns:p14="http://schemas.microsoft.com/office/powerpoint/2010/main" val="1226611843"/>
      </p:ext>
    </p:extLst>
  </p:cSld>
</p:sld>
</file>

<file path=ppt/slides/slide11.xml><?xml version="1.0" encoding="utf-8"?>
<p:sld xmlns:p="http://schemas.openxmlformats.org/presentationml/2006/main">
  <p:cSld>
    <p:bg>
      <p:bgPr>
        <a:solidFill xmlns:a="http://schemas.openxmlformats.org/drawingml/2006/main">
          <a:srgbClr val="10131A"/>
        </a:solidFill>
      </p:bgPr>
    </p:bg>
    <p:spTree>
      <p:nvGrpSpPr>
        <p:cNvPr id="1" name=""/>
        <p:cNvGrpSpPr/>
        <p:nvPr/>
      </p:nvGrpSpPr>
      <p:grpSpPr>
        <a:xfrm xmlns:a="http://schemas.openxmlformats.org/drawingml/2006/main"/>
      </p:grpSpPr>
      <p:sp>
        <p:nvSpPr>
          <p:cNvPr id="22" name="title">
            <a:extLst xmlns:a="http://schemas.openxmlformats.org/drawingml/2006/main">
              <a:ext uri="{FF2B5EF4-FFF2-40B4-BE49-F238E27FC236}">
                <a16:creationId xmlns:a16="http://schemas.microsoft.com/office/drawing/2014/main" id="{13C15992-B826-4236-9F6A-3791D4AD5B28}"/>
              </a:ext>
            </a:extLst>
          </p:cNvPr>
          <p:cNvSpPr>
            <a:spLocks xmlns:a="http://schemas.openxmlformats.org/drawingml/2006/main" noGrp="1"/>
          </p:cNvSpPr>
          <p:nvPr/>
        </p:nvSpPr>
        <p:spPr>
          <a:xfrm xmlns:a="http://schemas.openxmlformats.org/drawingml/2006/main">
            <a:off x="647700" y="3810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F4F0E5"/>
                </a:solidFill>
                <a:latin typeface="Arial"/>
                <a:ea typeface="Arial"/>
                <a:cs typeface="Arial"/>
              </a:defRPr>
            </a:defPPr>
          </a:lstStyle>
          <a:p xmlns:a="http://schemas.openxmlformats.org/drawingml/2006/main">
            <a:pPr algn="l">
              <a:defRPr sz="2850" b="1">
                <a:solidFill>
                  <a:srgbClr val="F4F0E5"/>
                </a:solidFill>
                <a:latin typeface="Arial"/>
                <a:ea typeface="Arial"/>
                <a:cs typeface="Arial"/>
              </a:defRPr>
            </a:pPr>
            <a:r>
              <a:rPr sz="2850" b="1">
                <a:solidFill>
                  <a:srgbClr val="F4F0E5"/>
                </a:solidFill>
                <a:latin typeface="Arial"/>
                <a:ea typeface="Arial"/>
                <a:cs typeface="Arial"/>
              </a:rPr>
              <a:t>A credible plan starts with proof and scope</a:t>
            </a:r>
          </a:p>
        </p:txBody>
      </p:sp>
      <p:sp>
        <p:nvSpPr>
          <p:cNvPr id="2" name="title rule">
            <a:extLst xmlns:a="http://schemas.openxmlformats.org/drawingml/2006/main">
              <a:ext uri="{FF2B5EF4-FFF2-40B4-BE49-F238E27FC236}">
                <a16:creationId xmlns:a16="http://schemas.microsoft.com/office/drawing/2014/main" id="{7B146482-1DD7-431C-8B72-2A438BE717E8}"/>
              </a:ext>
            </a:extLst>
          </p:cNvPr>
          <p:cNvSpPr>
            <a:spLocks xmlns:a="http://schemas.openxmlformats.org/drawingml/2006/main" noGrp="1"/>
          </p:cNvSpPr>
          <p:nvPr/>
        </p:nvSpPr>
        <p:spPr>
          <a:xfrm xmlns:a="http://schemas.openxmlformats.org/drawingml/2006/main">
            <a:off x="647700" y="1028700"/>
            <a:ext cx="647700" cy="38100"/>
          </a:xfrm>
          <a:prstGeom xmlns:a="http://schemas.openxmlformats.org/drawingml/2006/main" prst="rect">
            <a:avLst/>
          </a:prstGeom>
          <a:solidFill xmlns:a="http://schemas.openxmlformats.org/drawingml/2006/main">
            <a:srgbClr val="E7A94B"/>
          </a:solidFill>
          <a:ln xmlns:a="http://schemas.openxmlformats.org/drawingml/2006/main" w="0">
            <a:noFill/>
            <a:prstDash val="solid"/>
          </a:ln>
        </p:spPr>
      </p:sp>
      <p:sp>
        <p:nvSpPr>
          <p:cNvPr id="3" name="subtitle">
            <a:extLst xmlns:a="http://schemas.openxmlformats.org/drawingml/2006/main">
              <a:ext uri="{FF2B5EF4-FFF2-40B4-BE49-F238E27FC236}">
                <a16:creationId xmlns:a16="http://schemas.microsoft.com/office/drawing/2014/main" id="{A870314F-4BD2-44C1-84DD-A28FB8C62C5F}"/>
              </a:ext>
            </a:extLst>
          </p:cNvPr>
          <p:cNvSpPr>
            <a:spLocks xmlns:a="http://schemas.openxmlformats.org/drawingml/2006/main" noGrp="1"/>
          </p:cNvSpPr>
          <p:nvPr/>
        </p:nvSpPr>
        <p:spPr>
          <a:xfrm xmlns:a="http://schemas.openxmlformats.org/drawingml/2006/main">
            <a:off x="647700" y="117157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ABB2BC"/>
                </a:solidFill>
                <a:latin typeface="Arial"/>
                <a:ea typeface="Arial"/>
                <a:cs typeface="Arial"/>
              </a:defRPr>
            </a:defPPr>
          </a:lstStyle>
          <a:p xmlns:a="http://schemas.openxmlformats.org/drawingml/2006/main">
            <a:pPr algn="l">
              <a:defRPr sz="1275" b="0">
                <a:solidFill>
                  <a:srgbClr val="ABB2BC"/>
                </a:solidFill>
                <a:latin typeface="Arial"/>
                <a:ea typeface="Arial"/>
                <a:cs typeface="Arial"/>
              </a:defRPr>
            </a:pPr>
            <a:r>
              <a:rPr sz="1275" b="0">
                <a:solidFill>
                  <a:srgbClr val="ABB2BC"/>
                </a:solidFill>
                <a:latin typeface="Arial"/>
                <a:ea typeface="Arial"/>
                <a:cs typeface="Arial"/>
              </a:rPr>
              <a:t>Proposed production gates, with dates and cost to be set from a bottom-up estimate</a:t>
            </a:r>
          </a:p>
        </p:txBody>
      </p:sp>
      <p:sp>
        <p:nvSpPr>
          <p:cNvPr id="4" name="wordmark">
            <a:extLst xmlns:a="http://schemas.openxmlformats.org/drawingml/2006/main">
              <a:ext uri="{FF2B5EF4-FFF2-40B4-BE49-F238E27FC236}">
                <a16:creationId xmlns:a16="http://schemas.microsoft.com/office/drawing/2014/main" id="{39D7BA5A-D61B-40A2-A425-78AEE14EA1B3}"/>
              </a:ext>
            </a:extLst>
          </p:cNvPr>
          <p:cNvSpPr>
            <a:spLocks xmlns:a="http://schemas.openxmlformats.org/drawingml/2006/main" noGrp="1"/>
          </p:cNvSpPr>
          <p:nvPr/>
        </p:nvSpPr>
        <p:spPr>
          <a:xfrm xmlns:a="http://schemas.openxmlformats.org/drawingml/2006/main">
            <a:off x="647700" y="64389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737D89"/>
                </a:solidFill>
                <a:latin typeface="Arial"/>
                <a:ea typeface="Arial"/>
                <a:cs typeface="Arial"/>
              </a:defRPr>
            </a:defPPr>
          </a:lstStyle>
          <a:p xmlns:a="http://schemas.openxmlformats.org/drawingml/2006/main">
            <a:pPr algn="l">
              <a:defRPr sz="900" b="1">
                <a:solidFill>
                  <a:srgbClr val="737D89"/>
                </a:solidFill>
                <a:latin typeface="Arial"/>
                <a:ea typeface="Arial"/>
                <a:cs typeface="Arial"/>
              </a:defRPr>
            </a:pPr>
            <a:r>
              <a:rPr sz="900" b="1">
                <a:solidFill>
                  <a:srgbClr val="737D89"/>
                </a:solidFill>
                <a:latin typeface="Arial"/>
                <a:ea typeface="Arial"/>
                <a:cs typeface="Arial"/>
              </a:rPr>
              <a:t>LOOMROOM</a:t>
            </a:r>
          </a:p>
        </p:txBody>
      </p:sp>
      <p:sp>
        <p:nvSpPr>
          <p:cNvPr id="5" name="page">
            <a:extLst xmlns:a="http://schemas.openxmlformats.org/drawingml/2006/main">
              <a:ext uri="{FF2B5EF4-FFF2-40B4-BE49-F238E27FC236}">
                <a16:creationId xmlns:a16="http://schemas.microsoft.com/office/drawing/2014/main" id="{518E5015-9E1E-4810-B178-A8925B9E1985}"/>
              </a:ext>
            </a:extLst>
          </p:cNvPr>
          <p:cNvSpPr>
            <a:spLocks xmlns:a="http://schemas.openxmlformats.org/drawingml/2006/main" noGrp="1"/>
          </p:cNvSpPr>
          <p:nvPr/>
        </p:nvSpPr>
        <p:spPr>
          <a:xfrm xmlns:a="http://schemas.openxmlformats.org/drawingml/2006/main">
            <a:off x="11201400" y="64389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00" b="0">
                <a:solidFill>
                  <a:srgbClr val="737D89"/>
                </a:solidFill>
                <a:latin typeface="Arial"/>
                <a:ea typeface="Arial"/>
                <a:cs typeface="Arial"/>
              </a:defRPr>
            </a:defPPr>
          </a:lstStyle>
          <a:p xmlns:a="http://schemas.openxmlformats.org/drawingml/2006/main">
            <a:pPr algn="r">
              <a:defRPr sz="900" b="0">
                <a:solidFill>
                  <a:srgbClr val="737D89"/>
                </a:solidFill>
                <a:latin typeface="Arial"/>
                <a:ea typeface="Arial"/>
                <a:cs typeface="Arial"/>
              </a:defRPr>
            </a:pPr>
            <a:r>
              <a:rPr sz="900" b="0">
                <a:solidFill>
                  <a:srgbClr val="737D89"/>
                </a:solidFill>
                <a:latin typeface="Arial"/>
                <a:ea typeface="Arial"/>
                <a:cs typeface="Arial"/>
              </a:rPr>
              <a:t>11</a:t>
            </a:r>
          </a:p>
        </p:txBody>
      </p:sp>
      <p:sp>
        <p:nvSpPr>
          <p:cNvPr id="6" name="label 01">
            <a:extLst xmlns:a="http://schemas.openxmlformats.org/drawingml/2006/main">
              <a:ext uri="{FF2B5EF4-FFF2-40B4-BE49-F238E27FC236}">
                <a16:creationId xmlns:a16="http://schemas.microsoft.com/office/drawing/2014/main" id="{63180429-B560-4560-9085-9DD6C6317895}"/>
              </a:ext>
            </a:extLst>
          </p:cNvPr>
          <p:cNvSpPr>
            <a:spLocks xmlns:a="http://schemas.openxmlformats.org/drawingml/2006/main" noGrp="1"/>
          </p:cNvSpPr>
          <p:nvPr/>
        </p:nvSpPr>
        <p:spPr>
          <a:xfrm xmlns:a="http://schemas.openxmlformats.org/drawingml/2006/main">
            <a:off x="781050" y="1885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E7A94B"/>
                </a:solidFill>
                <a:latin typeface="Arial"/>
                <a:ea typeface="Arial"/>
                <a:cs typeface="Arial"/>
              </a:defRPr>
            </a:defPPr>
          </a:lstStyle>
          <a:p xmlns:a="http://schemas.openxmlformats.org/drawingml/2006/main">
            <a:pPr algn="l">
              <a:defRPr sz="900" b="1">
                <a:solidFill>
                  <a:srgbClr val="E7A94B"/>
                </a:solidFill>
                <a:latin typeface="Arial"/>
                <a:ea typeface="Arial"/>
                <a:cs typeface="Arial"/>
              </a:defRPr>
            </a:pPr>
            <a:r>
              <a:rPr sz="900" b="1">
                <a:solidFill>
                  <a:srgbClr val="E7A94B"/>
                </a:solidFill>
                <a:latin typeface="Arial"/>
                <a:ea typeface="Arial"/>
                <a:cs typeface="Arial"/>
              </a:rPr>
              <a:t>01</a:t>
            </a:r>
          </a:p>
        </p:txBody>
      </p:sp>
      <p:sp>
        <p:nvSpPr>
          <p:cNvPr id="7" name="roadmap head 0">
            <a:extLst xmlns:a="http://schemas.openxmlformats.org/drawingml/2006/main">
              <a:ext uri="{FF2B5EF4-FFF2-40B4-BE49-F238E27FC236}">
                <a16:creationId xmlns:a16="http://schemas.microsoft.com/office/drawing/2014/main" id="{5DDAFF94-96E6-4123-B23E-35FAA7E31265}"/>
              </a:ext>
            </a:extLst>
          </p:cNvPr>
          <p:cNvSpPr>
            <a:spLocks xmlns:a="http://schemas.openxmlformats.org/drawingml/2006/main" noGrp="1"/>
          </p:cNvSpPr>
          <p:nvPr/>
        </p:nvSpPr>
        <p:spPr>
          <a:xfrm xmlns:a="http://schemas.openxmlformats.org/drawingml/2006/main">
            <a:off x="1504950" y="1876425"/>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F4F0E5"/>
                </a:solidFill>
                <a:latin typeface="Arial"/>
                <a:ea typeface="Arial"/>
                <a:cs typeface="Arial"/>
              </a:defRPr>
            </a:defPPr>
          </a:lstStyle>
          <a:p xmlns:a="http://schemas.openxmlformats.org/drawingml/2006/main">
            <a:pPr algn="l">
              <a:defRPr sz="1575" b="1">
                <a:solidFill>
                  <a:srgbClr val="F4F0E5"/>
                </a:solidFill>
                <a:latin typeface="Arial"/>
                <a:ea typeface="Arial"/>
                <a:cs typeface="Arial"/>
              </a:defRPr>
            </a:pPr>
            <a:r>
              <a:rPr sz="1575" b="1">
                <a:solidFill>
                  <a:srgbClr val="F4F0E5"/>
                </a:solidFill>
                <a:latin typeface="Arial"/>
                <a:ea typeface="Arial"/>
                <a:cs typeface="Arial"/>
              </a:rPr>
              <a:t>Pitch build</a:t>
            </a:r>
          </a:p>
        </p:txBody>
      </p:sp>
      <p:sp>
        <p:nvSpPr>
          <p:cNvPr id="8" name="roadmap body 0">
            <a:extLst xmlns:a="http://schemas.openxmlformats.org/drawingml/2006/main">
              <a:ext uri="{FF2B5EF4-FFF2-40B4-BE49-F238E27FC236}">
                <a16:creationId xmlns:a16="http://schemas.microsoft.com/office/drawing/2014/main" id="{BE28C0C8-5542-4B1B-B6ED-5FA790FAE1DB}"/>
              </a:ext>
            </a:extLst>
          </p:cNvPr>
          <p:cNvSpPr>
            <a:spLocks xmlns:a="http://schemas.openxmlformats.org/drawingml/2006/main" noGrp="1"/>
          </p:cNvSpPr>
          <p:nvPr/>
        </p:nvSpPr>
        <p:spPr>
          <a:xfrm xmlns:a="http://schemas.openxmlformats.org/drawingml/2006/main">
            <a:off x="4191000" y="1876425"/>
            <a:ext cx="685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ABB2BC"/>
                </a:solidFill>
                <a:latin typeface="Arial"/>
                <a:ea typeface="Arial"/>
                <a:cs typeface="Arial"/>
              </a:defRPr>
            </a:defPPr>
          </a:lstStyle>
          <a:p xmlns:a="http://schemas.openxmlformats.org/drawingml/2006/main">
            <a:pPr algn="l">
              <a:defRPr sz="1350" b="0">
                <a:solidFill>
                  <a:srgbClr val="ABB2BC"/>
                </a:solidFill>
                <a:latin typeface="Arial"/>
                <a:ea typeface="Arial"/>
                <a:cs typeface="Arial"/>
              </a:defRPr>
            </a:pPr>
            <a:r>
              <a:rPr sz="1350" b="0">
                <a:solidFill>
                  <a:srgbClr val="ABB2BC"/>
                </a:solidFill>
                <a:latin typeface="Arial"/>
                <a:ea typeface="Arial"/>
                <a:cs typeface="Arial"/>
              </a:rPr>
              <a:t>One polished slice that proves combat, loot and the table framing.</a:t>
            </a:r>
          </a:p>
        </p:txBody>
      </p:sp>
      <p:sp>
        <p:nvSpPr>
          <p:cNvPr id="9" name="roadmap rule 0">
            <a:extLst xmlns:a="http://schemas.openxmlformats.org/drawingml/2006/main">
              <a:ext uri="{FF2B5EF4-FFF2-40B4-BE49-F238E27FC236}">
                <a16:creationId xmlns:a16="http://schemas.microsoft.com/office/drawing/2014/main" id="{C9EAFA7B-79A8-443B-85C7-B5E802726D1B}"/>
              </a:ext>
            </a:extLst>
          </p:cNvPr>
          <p:cNvSpPr>
            <a:spLocks xmlns:a="http://schemas.openxmlformats.org/drawingml/2006/main" noGrp="1"/>
          </p:cNvSpPr>
          <p:nvPr/>
        </p:nvSpPr>
        <p:spPr>
          <a:xfrm xmlns:a="http://schemas.openxmlformats.org/drawingml/2006/main">
            <a:off x="781050" y="2552700"/>
            <a:ext cx="10382250" cy="9525"/>
          </a:xfrm>
          <a:prstGeom xmlns:a="http://schemas.openxmlformats.org/drawingml/2006/main" prst="rect">
            <a:avLst/>
          </a:prstGeom>
          <a:solidFill xmlns:a="http://schemas.openxmlformats.org/drawingml/2006/main">
            <a:srgbClr val="353D48"/>
          </a:solidFill>
          <a:ln xmlns:a="http://schemas.openxmlformats.org/drawingml/2006/main" w="0">
            <a:noFill/>
            <a:prstDash val="solid"/>
          </a:ln>
        </p:spPr>
      </p:sp>
      <p:sp>
        <p:nvSpPr>
          <p:cNvPr id="10" name="label 02">
            <a:extLst xmlns:a="http://schemas.openxmlformats.org/drawingml/2006/main">
              <a:ext uri="{FF2B5EF4-FFF2-40B4-BE49-F238E27FC236}">
                <a16:creationId xmlns:a16="http://schemas.microsoft.com/office/drawing/2014/main" id="{099D1751-E637-47CD-BC77-1049F3177034}"/>
              </a:ext>
            </a:extLst>
          </p:cNvPr>
          <p:cNvSpPr>
            <a:spLocks xmlns:a="http://schemas.openxmlformats.org/drawingml/2006/main" noGrp="1"/>
          </p:cNvSpPr>
          <p:nvPr/>
        </p:nvSpPr>
        <p:spPr>
          <a:xfrm xmlns:a="http://schemas.openxmlformats.org/drawingml/2006/main">
            <a:off x="781050" y="2867025"/>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70B6A7"/>
                </a:solidFill>
                <a:latin typeface="Arial"/>
                <a:ea typeface="Arial"/>
                <a:cs typeface="Arial"/>
              </a:defRPr>
            </a:defPPr>
          </a:lstStyle>
          <a:p xmlns:a="http://schemas.openxmlformats.org/drawingml/2006/main">
            <a:pPr algn="l">
              <a:defRPr sz="900" b="1">
                <a:solidFill>
                  <a:srgbClr val="70B6A7"/>
                </a:solidFill>
                <a:latin typeface="Arial"/>
                <a:ea typeface="Arial"/>
                <a:cs typeface="Arial"/>
              </a:defRPr>
            </a:pPr>
            <a:r>
              <a:rPr sz="900" b="1">
                <a:solidFill>
                  <a:srgbClr val="70B6A7"/>
                </a:solidFill>
                <a:latin typeface="Arial"/>
                <a:ea typeface="Arial"/>
                <a:cs typeface="Arial"/>
              </a:rPr>
              <a:t>02</a:t>
            </a:r>
          </a:p>
        </p:txBody>
      </p:sp>
      <p:sp>
        <p:nvSpPr>
          <p:cNvPr id="11" name="roadmap head 1">
            <a:extLst xmlns:a="http://schemas.openxmlformats.org/drawingml/2006/main">
              <a:ext uri="{FF2B5EF4-FFF2-40B4-BE49-F238E27FC236}">
                <a16:creationId xmlns:a16="http://schemas.microsoft.com/office/drawing/2014/main" id="{A0A6E503-3FB8-4202-A905-97445E556099}"/>
              </a:ext>
            </a:extLst>
          </p:cNvPr>
          <p:cNvSpPr>
            <a:spLocks xmlns:a="http://schemas.openxmlformats.org/drawingml/2006/main" noGrp="1"/>
          </p:cNvSpPr>
          <p:nvPr/>
        </p:nvSpPr>
        <p:spPr>
          <a:xfrm xmlns:a="http://schemas.openxmlformats.org/drawingml/2006/main">
            <a:off x="1504950" y="285750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F4F0E5"/>
                </a:solidFill>
                <a:latin typeface="Arial"/>
                <a:ea typeface="Arial"/>
                <a:cs typeface="Arial"/>
              </a:defRPr>
            </a:defPPr>
          </a:lstStyle>
          <a:p xmlns:a="http://schemas.openxmlformats.org/drawingml/2006/main">
            <a:pPr algn="l">
              <a:defRPr sz="1575" b="1">
                <a:solidFill>
                  <a:srgbClr val="F4F0E5"/>
                </a:solidFill>
                <a:latin typeface="Arial"/>
                <a:ea typeface="Arial"/>
                <a:cs typeface="Arial"/>
              </a:defRPr>
            </a:pPr>
            <a:r>
              <a:rPr sz="1575" b="1">
                <a:solidFill>
                  <a:srgbClr val="F4F0E5"/>
                </a:solidFill>
                <a:latin typeface="Arial"/>
                <a:ea typeface="Arial"/>
                <a:cs typeface="Arial"/>
              </a:rPr>
              <a:t>Vertical slice</a:t>
            </a:r>
          </a:p>
        </p:txBody>
      </p:sp>
      <p:sp>
        <p:nvSpPr>
          <p:cNvPr id="12" name="roadmap body 1">
            <a:extLst xmlns:a="http://schemas.openxmlformats.org/drawingml/2006/main">
              <a:ext uri="{FF2B5EF4-FFF2-40B4-BE49-F238E27FC236}">
                <a16:creationId xmlns:a16="http://schemas.microsoft.com/office/drawing/2014/main" id="{432E67B0-3AEE-4EF8-974D-C3D2B155A189}"/>
              </a:ext>
            </a:extLst>
          </p:cNvPr>
          <p:cNvSpPr>
            <a:spLocks xmlns:a="http://schemas.openxmlformats.org/drawingml/2006/main" noGrp="1"/>
          </p:cNvSpPr>
          <p:nvPr/>
        </p:nvSpPr>
        <p:spPr>
          <a:xfrm xmlns:a="http://schemas.openxmlformats.org/drawingml/2006/main">
            <a:off x="4191000" y="2857500"/>
            <a:ext cx="685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ABB2BC"/>
                </a:solidFill>
                <a:latin typeface="Arial"/>
                <a:ea typeface="Arial"/>
                <a:cs typeface="Arial"/>
              </a:defRPr>
            </a:defPPr>
          </a:lstStyle>
          <a:p xmlns:a="http://schemas.openxmlformats.org/drawingml/2006/main">
            <a:pPr algn="l">
              <a:defRPr sz="1350" b="0">
                <a:solidFill>
                  <a:srgbClr val="ABB2BC"/>
                </a:solidFill>
                <a:latin typeface="Arial"/>
                <a:ea typeface="Arial"/>
                <a:cs typeface="Arial"/>
              </a:defRPr>
            </a:pPr>
            <a:r>
              <a:rPr sz="1350" b="0">
                <a:solidFill>
                  <a:srgbClr val="ABB2BC"/>
                </a:solidFill>
                <a:latin typeface="Arial"/>
                <a:ea typeface="Arial"/>
                <a:cs typeface="Arial"/>
              </a:rPr>
              <a:t>Prove a representative floor, one class contrast and a boss encounter.</a:t>
            </a:r>
          </a:p>
        </p:txBody>
      </p:sp>
      <p:sp>
        <p:nvSpPr>
          <p:cNvPr id="13" name="roadmap rule 1">
            <a:extLst xmlns:a="http://schemas.openxmlformats.org/drawingml/2006/main">
              <a:ext uri="{FF2B5EF4-FFF2-40B4-BE49-F238E27FC236}">
                <a16:creationId xmlns:a16="http://schemas.microsoft.com/office/drawing/2014/main" id="{DDB3D89A-8526-4E50-B653-0508DC8B5779}"/>
              </a:ext>
            </a:extLst>
          </p:cNvPr>
          <p:cNvSpPr>
            <a:spLocks xmlns:a="http://schemas.openxmlformats.org/drawingml/2006/main" noGrp="1"/>
          </p:cNvSpPr>
          <p:nvPr/>
        </p:nvSpPr>
        <p:spPr>
          <a:xfrm xmlns:a="http://schemas.openxmlformats.org/drawingml/2006/main">
            <a:off x="781050" y="3533775"/>
            <a:ext cx="10382250" cy="9525"/>
          </a:xfrm>
          <a:prstGeom xmlns:a="http://schemas.openxmlformats.org/drawingml/2006/main" prst="rect">
            <a:avLst/>
          </a:prstGeom>
          <a:solidFill xmlns:a="http://schemas.openxmlformats.org/drawingml/2006/main">
            <a:srgbClr val="353D48"/>
          </a:solidFill>
          <a:ln xmlns:a="http://schemas.openxmlformats.org/drawingml/2006/main" w="0">
            <a:noFill/>
            <a:prstDash val="solid"/>
          </a:ln>
        </p:spPr>
      </p:sp>
      <p:sp>
        <p:nvSpPr>
          <p:cNvPr id="14" name="label 03">
            <a:extLst xmlns:a="http://schemas.openxmlformats.org/drawingml/2006/main">
              <a:ext uri="{FF2B5EF4-FFF2-40B4-BE49-F238E27FC236}">
                <a16:creationId xmlns:a16="http://schemas.microsoft.com/office/drawing/2014/main" id="{34CF819D-4CE7-47BE-94F0-035A889448BA}"/>
              </a:ext>
            </a:extLst>
          </p:cNvPr>
          <p:cNvSpPr>
            <a:spLocks xmlns:a="http://schemas.openxmlformats.org/drawingml/2006/main" noGrp="1"/>
          </p:cNvSpPr>
          <p:nvPr/>
        </p:nvSpPr>
        <p:spPr>
          <a:xfrm xmlns:a="http://schemas.openxmlformats.org/drawingml/2006/main">
            <a:off x="781050" y="38481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70B6A7"/>
                </a:solidFill>
                <a:latin typeface="Arial"/>
                <a:ea typeface="Arial"/>
                <a:cs typeface="Arial"/>
              </a:defRPr>
            </a:defPPr>
          </a:lstStyle>
          <a:p xmlns:a="http://schemas.openxmlformats.org/drawingml/2006/main">
            <a:pPr algn="l">
              <a:defRPr sz="900" b="1">
                <a:solidFill>
                  <a:srgbClr val="70B6A7"/>
                </a:solidFill>
                <a:latin typeface="Arial"/>
                <a:ea typeface="Arial"/>
                <a:cs typeface="Arial"/>
              </a:defRPr>
            </a:pPr>
            <a:r>
              <a:rPr sz="900" b="1">
                <a:solidFill>
                  <a:srgbClr val="70B6A7"/>
                </a:solidFill>
                <a:latin typeface="Arial"/>
                <a:ea typeface="Arial"/>
                <a:cs typeface="Arial"/>
              </a:rPr>
              <a:t>03</a:t>
            </a:r>
          </a:p>
        </p:txBody>
      </p:sp>
      <p:sp>
        <p:nvSpPr>
          <p:cNvPr id="15" name="roadmap head 2">
            <a:extLst xmlns:a="http://schemas.openxmlformats.org/drawingml/2006/main">
              <a:ext uri="{FF2B5EF4-FFF2-40B4-BE49-F238E27FC236}">
                <a16:creationId xmlns:a16="http://schemas.microsoft.com/office/drawing/2014/main" id="{BD48824E-CAC4-44DF-961E-0F2AEED103D7}"/>
              </a:ext>
            </a:extLst>
          </p:cNvPr>
          <p:cNvSpPr>
            <a:spLocks xmlns:a="http://schemas.openxmlformats.org/drawingml/2006/main" noGrp="1"/>
          </p:cNvSpPr>
          <p:nvPr/>
        </p:nvSpPr>
        <p:spPr>
          <a:xfrm xmlns:a="http://schemas.openxmlformats.org/drawingml/2006/main">
            <a:off x="1504950" y="3838575"/>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F4F0E5"/>
                </a:solidFill>
                <a:latin typeface="Arial"/>
                <a:ea typeface="Arial"/>
                <a:cs typeface="Arial"/>
              </a:defRPr>
            </a:defPPr>
          </a:lstStyle>
          <a:p xmlns:a="http://schemas.openxmlformats.org/drawingml/2006/main">
            <a:pPr algn="l">
              <a:defRPr sz="1575" b="1">
                <a:solidFill>
                  <a:srgbClr val="F4F0E5"/>
                </a:solidFill>
                <a:latin typeface="Arial"/>
                <a:ea typeface="Arial"/>
                <a:cs typeface="Arial"/>
              </a:defRPr>
            </a:pPr>
            <a:r>
              <a:rPr sz="1575" b="1">
                <a:solidFill>
                  <a:srgbClr val="F4F0E5"/>
                </a:solidFill>
                <a:latin typeface="Arial"/>
                <a:ea typeface="Arial"/>
                <a:cs typeface="Arial"/>
              </a:rPr>
              <a:t>Content production</a:t>
            </a:r>
          </a:p>
        </p:txBody>
      </p:sp>
      <p:sp>
        <p:nvSpPr>
          <p:cNvPr id="16" name="roadmap body 2">
            <a:extLst xmlns:a="http://schemas.openxmlformats.org/drawingml/2006/main">
              <a:ext uri="{FF2B5EF4-FFF2-40B4-BE49-F238E27FC236}">
                <a16:creationId xmlns:a16="http://schemas.microsoft.com/office/drawing/2014/main" id="{CC117E6E-858F-4CFF-B15C-D2283A4E1AFE}"/>
              </a:ext>
            </a:extLst>
          </p:cNvPr>
          <p:cNvSpPr>
            <a:spLocks xmlns:a="http://schemas.openxmlformats.org/drawingml/2006/main" noGrp="1"/>
          </p:cNvSpPr>
          <p:nvPr/>
        </p:nvSpPr>
        <p:spPr>
          <a:xfrm xmlns:a="http://schemas.openxmlformats.org/drawingml/2006/main">
            <a:off x="4191000" y="3838575"/>
            <a:ext cx="685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ABB2BC"/>
                </a:solidFill>
                <a:latin typeface="Arial"/>
                <a:ea typeface="Arial"/>
                <a:cs typeface="Arial"/>
              </a:defRPr>
            </a:defPPr>
          </a:lstStyle>
          <a:p xmlns:a="http://schemas.openxmlformats.org/drawingml/2006/main">
            <a:pPr algn="l">
              <a:defRPr sz="1350" b="0">
                <a:solidFill>
                  <a:srgbClr val="ABB2BC"/>
                </a:solidFill>
                <a:latin typeface="Arial"/>
                <a:ea typeface="Arial"/>
                <a:cs typeface="Arial"/>
              </a:defRPr>
            </a:pPr>
            <a:r>
              <a:rPr sz="1350" b="0">
                <a:solidFill>
                  <a:srgbClr val="ABB2BC"/>
                </a:solidFill>
                <a:latin typeface="Arial"/>
                <a:ea typeface="Arial"/>
                <a:cs typeface="Arial"/>
              </a:rPr>
              <a:t>Build and tune the approved floor and biome scope.</a:t>
            </a:r>
          </a:p>
        </p:txBody>
      </p:sp>
      <p:sp>
        <p:nvSpPr>
          <p:cNvPr id="17" name="roadmap rule 2">
            <a:extLst xmlns:a="http://schemas.openxmlformats.org/drawingml/2006/main">
              <a:ext uri="{FF2B5EF4-FFF2-40B4-BE49-F238E27FC236}">
                <a16:creationId xmlns:a16="http://schemas.microsoft.com/office/drawing/2014/main" id="{D4DB85E6-085B-4F87-A66E-48F9421EA596}"/>
              </a:ext>
            </a:extLst>
          </p:cNvPr>
          <p:cNvSpPr>
            <a:spLocks xmlns:a="http://schemas.openxmlformats.org/drawingml/2006/main" noGrp="1"/>
          </p:cNvSpPr>
          <p:nvPr/>
        </p:nvSpPr>
        <p:spPr>
          <a:xfrm xmlns:a="http://schemas.openxmlformats.org/drawingml/2006/main">
            <a:off x="781050" y="4514850"/>
            <a:ext cx="10382250" cy="9525"/>
          </a:xfrm>
          <a:prstGeom xmlns:a="http://schemas.openxmlformats.org/drawingml/2006/main" prst="rect">
            <a:avLst/>
          </a:prstGeom>
          <a:solidFill xmlns:a="http://schemas.openxmlformats.org/drawingml/2006/main">
            <a:srgbClr val="353D48"/>
          </a:solidFill>
          <a:ln xmlns:a="http://schemas.openxmlformats.org/drawingml/2006/main" w="0">
            <a:noFill/>
            <a:prstDash val="solid"/>
          </a:ln>
        </p:spPr>
      </p:sp>
      <p:sp>
        <p:nvSpPr>
          <p:cNvPr id="18" name="label 04">
            <a:extLst xmlns:a="http://schemas.openxmlformats.org/drawingml/2006/main">
              <a:ext uri="{FF2B5EF4-FFF2-40B4-BE49-F238E27FC236}">
                <a16:creationId xmlns:a16="http://schemas.microsoft.com/office/drawing/2014/main" id="{FEE7C37E-D86C-4F00-8F2D-79A8201FB402}"/>
              </a:ext>
            </a:extLst>
          </p:cNvPr>
          <p:cNvSpPr>
            <a:spLocks xmlns:a="http://schemas.openxmlformats.org/drawingml/2006/main" noGrp="1"/>
          </p:cNvSpPr>
          <p:nvPr/>
        </p:nvSpPr>
        <p:spPr>
          <a:xfrm xmlns:a="http://schemas.openxmlformats.org/drawingml/2006/main">
            <a:off x="781050" y="4829175"/>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70B6A7"/>
                </a:solidFill>
                <a:latin typeface="Arial"/>
                <a:ea typeface="Arial"/>
                <a:cs typeface="Arial"/>
              </a:defRPr>
            </a:defPPr>
          </a:lstStyle>
          <a:p xmlns:a="http://schemas.openxmlformats.org/drawingml/2006/main">
            <a:pPr algn="l">
              <a:defRPr sz="900" b="1">
                <a:solidFill>
                  <a:srgbClr val="70B6A7"/>
                </a:solidFill>
                <a:latin typeface="Arial"/>
                <a:ea typeface="Arial"/>
                <a:cs typeface="Arial"/>
              </a:defRPr>
            </a:pPr>
            <a:r>
              <a:rPr sz="900" b="1">
                <a:solidFill>
                  <a:srgbClr val="70B6A7"/>
                </a:solidFill>
                <a:latin typeface="Arial"/>
                <a:ea typeface="Arial"/>
                <a:cs typeface="Arial"/>
              </a:rPr>
              <a:t>04</a:t>
            </a:r>
          </a:p>
        </p:txBody>
      </p:sp>
      <p:sp>
        <p:nvSpPr>
          <p:cNvPr id="19" name="roadmap head 3">
            <a:extLst xmlns:a="http://schemas.openxmlformats.org/drawingml/2006/main">
              <a:ext uri="{FF2B5EF4-FFF2-40B4-BE49-F238E27FC236}">
                <a16:creationId xmlns:a16="http://schemas.microsoft.com/office/drawing/2014/main" id="{8C5CEF64-4C5D-49DF-B628-1B7E031B8909}"/>
              </a:ext>
            </a:extLst>
          </p:cNvPr>
          <p:cNvSpPr>
            <a:spLocks xmlns:a="http://schemas.openxmlformats.org/drawingml/2006/main" noGrp="1"/>
          </p:cNvSpPr>
          <p:nvPr/>
        </p:nvSpPr>
        <p:spPr>
          <a:xfrm xmlns:a="http://schemas.openxmlformats.org/drawingml/2006/main">
            <a:off x="1504950" y="48196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F4F0E5"/>
                </a:solidFill>
                <a:latin typeface="Arial"/>
                <a:ea typeface="Arial"/>
                <a:cs typeface="Arial"/>
              </a:defRPr>
            </a:defPPr>
          </a:lstStyle>
          <a:p xmlns:a="http://schemas.openxmlformats.org/drawingml/2006/main">
            <a:pPr algn="l">
              <a:defRPr sz="1575" b="1">
                <a:solidFill>
                  <a:srgbClr val="F4F0E5"/>
                </a:solidFill>
                <a:latin typeface="Arial"/>
                <a:ea typeface="Arial"/>
                <a:cs typeface="Arial"/>
              </a:defRPr>
            </a:pPr>
            <a:r>
              <a:rPr sz="1575" b="1">
                <a:solidFill>
                  <a:srgbClr val="F4F0E5"/>
                </a:solidFill>
                <a:latin typeface="Arial"/>
                <a:ea typeface="Arial"/>
                <a:cs typeface="Arial"/>
              </a:rPr>
              <a:t>Release readiness</a:t>
            </a:r>
          </a:p>
        </p:txBody>
      </p:sp>
      <p:sp>
        <p:nvSpPr>
          <p:cNvPr id="20" name="roadmap body 3">
            <a:extLst xmlns:a="http://schemas.openxmlformats.org/drawingml/2006/main">
              <a:ext uri="{FF2B5EF4-FFF2-40B4-BE49-F238E27FC236}">
                <a16:creationId xmlns:a16="http://schemas.microsoft.com/office/drawing/2014/main" id="{14051336-0A3D-4E89-B867-D91A287BDBF7}"/>
              </a:ext>
            </a:extLst>
          </p:cNvPr>
          <p:cNvSpPr>
            <a:spLocks xmlns:a="http://schemas.openxmlformats.org/drawingml/2006/main" noGrp="1"/>
          </p:cNvSpPr>
          <p:nvPr/>
        </p:nvSpPr>
        <p:spPr>
          <a:xfrm xmlns:a="http://schemas.openxmlformats.org/drawingml/2006/main">
            <a:off x="4191000" y="4819650"/>
            <a:ext cx="685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ABB2BC"/>
                </a:solidFill>
                <a:latin typeface="Arial"/>
                <a:ea typeface="Arial"/>
                <a:cs typeface="Arial"/>
              </a:defRPr>
            </a:defPPr>
          </a:lstStyle>
          <a:p xmlns:a="http://schemas.openxmlformats.org/drawingml/2006/main">
            <a:pPr algn="l">
              <a:defRPr sz="1350" b="0">
                <a:solidFill>
                  <a:srgbClr val="ABB2BC"/>
                </a:solidFill>
                <a:latin typeface="Arial"/>
                <a:ea typeface="Arial"/>
                <a:cs typeface="Arial"/>
              </a:defRPr>
            </a:pPr>
            <a:r>
              <a:rPr sz="1350" b="0">
                <a:solidFill>
                  <a:srgbClr val="ABB2BC"/>
                </a:solidFill>
                <a:latin typeface="Arial"/>
                <a:ea typeface="Arial"/>
                <a:cs typeface="Arial"/>
              </a:rPr>
              <a:t>QA, accessibility, localization, ports and launch preparation.</a:t>
            </a:r>
          </a:p>
        </p:txBody>
      </p:sp>
      <p:sp>
        <p:nvSpPr>
          <p:cNvPr id="21" name="roadmap caution">
            <a:extLst xmlns:a="http://schemas.openxmlformats.org/drawingml/2006/main">
              <a:ext uri="{FF2B5EF4-FFF2-40B4-BE49-F238E27FC236}">
                <a16:creationId xmlns:a16="http://schemas.microsoft.com/office/drawing/2014/main" id="{D80E11D4-0BE3-476F-80E3-83D3CFD6CFA5}"/>
              </a:ext>
            </a:extLst>
          </p:cNvPr>
          <p:cNvSpPr>
            <a:spLocks xmlns:a="http://schemas.openxmlformats.org/drawingml/2006/main" noGrp="1"/>
          </p:cNvSpPr>
          <p:nvPr/>
        </p:nvSpPr>
        <p:spPr>
          <a:xfrm xmlns:a="http://schemas.openxmlformats.org/drawingml/2006/main">
            <a:off x="781050" y="59626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i="1">
                <a:solidFill>
                  <a:srgbClr val="737D89"/>
                </a:solidFill>
                <a:latin typeface="Arial"/>
                <a:ea typeface="Arial"/>
                <a:cs typeface="Arial"/>
              </a:defRPr>
            </a:defPPr>
          </a:lstStyle>
          <a:p xmlns:a="http://schemas.openxmlformats.org/drawingml/2006/main">
            <a:pPr algn="l">
              <a:defRPr sz="1125" b="0" i="1">
                <a:solidFill>
                  <a:srgbClr val="737D89"/>
                </a:solidFill>
                <a:latin typeface="Arial"/>
                <a:ea typeface="Arial"/>
                <a:cs typeface="Arial"/>
              </a:defRPr>
            </a:pPr>
            <a:r>
              <a:rPr sz="1125" b="0" i="1">
                <a:solidFill>
                  <a:srgbClr val="737D89"/>
                </a:solidFill>
                <a:latin typeface="Arial"/>
                <a:ea typeface="Arial"/>
                <a:cs typeface="Arial"/>
              </a:rPr>
              <a:t>Schedule depends on a locked scope, current build assessment and staffing plan.</a:t>
            </a:r>
          </a:p>
        </p:txBody>
      </p:sp>
    </p:spTree>
    <p:extLst>
      <p:ext uri="{BB962C8B-B14F-4D97-AF65-F5344CB8AC3E}">
        <p14:creationId xmlns:p14="http://schemas.microsoft.com/office/powerpoint/2010/main" val="104239605"/>
      </p:ext>
    </p:extLst>
  </p:cSld>
</p:sld>
</file>

<file path=ppt/slides/slide12.xml><?xml version="1.0" encoding="utf-8"?>
<p:sld xmlns:p="http://schemas.openxmlformats.org/presentationml/2006/main">
  <p:cSld>
    <p:bg>
      <p:bgPr>
        <a:solidFill xmlns:a="http://schemas.openxmlformats.org/drawingml/2006/main">
          <a:srgbClr val="10131A"/>
        </a:solidFill>
      </p:bgPr>
    </p:bg>
    <p:spTree>
      <p:nvGrpSpPr>
        <p:cNvPr id="1" name=""/>
        <p:cNvGrpSpPr/>
        <p:nvPr/>
      </p:nvGrpSpPr>
      <p:grpSpPr>
        <a:xfrm xmlns:a="http://schemas.openxmlformats.org/drawingml/2006/main"/>
      </p:grpSpPr>
      <p:sp>
        <p:nvSpPr>
          <p:cNvPr id="20" name="title">
            <a:extLst xmlns:a="http://schemas.openxmlformats.org/drawingml/2006/main">
              <a:ext uri="{FF2B5EF4-FFF2-40B4-BE49-F238E27FC236}">
                <a16:creationId xmlns:a16="http://schemas.microsoft.com/office/drawing/2014/main" id="{73427E0E-EA5B-4235-8112-D01A3622D9A5}"/>
              </a:ext>
            </a:extLst>
          </p:cNvPr>
          <p:cNvSpPr>
            <a:spLocks xmlns:a="http://schemas.openxmlformats.org/drawingml/2006/main" noGrp="1"/>
          </p:cNvSpPr>
          <p:nvPr/>
        </p:nvSpPr>
        <p:spPr>
          <a:xfrm xmlns:a="http://schemas.openxmlformats.org/drawingml/2006/main">
            <a:off x="647700" y="38100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850" b="1">
                <a:solidFill>
                  <a:srgbClr val="F4F0E5"/>
                </a:solidFill>
                <a:latin typeface="Arial"/>
                <a:ea typeface="Arial"/>
                <a:cs typeface="Arial"/>
              </a:defRPr>
            </a:defPPr>
          </a:lstStyle>
          <a:p xmlns:a="http://schemas.openxmlformats.org/drawingml/2006/main">
            <a:pPr algn="l">
              <a:defRPr sz="2850" b="1">
                <a:solidFill>
                  <a:srgbClr val="F4F0E5"/>
                </a:solidFill>
                <a:latin typeface="Arial"/>
                <a:ea typeface="Arial"/>
                <a:cs typeface="Arial"/>
              </a:defRPr>
            </a:pPr>
            <a:r>
              <a:rPr sz="2850" b="1">
                <a:solidFill>
                  <a:srgbClr val="F4F0E5"/>
                </a:solidFill>
                <a:latin typeface="Arial"/>
                <a:ea typeface="Arial"/>
                <a:cs typeface="Arial"/>
              </a:rPr>
              <a:t>Seeking a publishing partner for the next stage</a:t>
            </a:r>
          </a:p>
        </p:txBody>
      </p:sp>
      <p:sp>
        <p:nvSpPr>
          <p:cNvPr id="2" name="title rule">
            <a:extLst xmlns:a="http://schemas.openxmlformats.org/drawingml/2006/main">
              <a:ext uri="{FF2B5EF4-FFF2-40B4-BE49-F238E27FC236}">
                <a16:creationId xmlns:a16="http://schemas.microsoft.com/office/drawing/2014/main" id="{DD5C1F03-7B89-4B52-9CD8-4142EB24CBCC}"/>
              </a:ext>
            </a:extLst>
          </p:cNvPr>
          <p:cNvSpPr>
            <a:spLocks xmlns:a="http://schemas.openxmlformats.org/drawingml/2006/main" noGrp="1"/>
          </p:cNvSpPr>
          <p:nvPr/>
        </p:nvSpPr>
        <p:spPr>
          <a:xfrm xmlns:a="http://schemas.openxmlformats.org/drawingml/2006/main">
            <a:off x="647700" y="1028700"/>
            <a:ext cx="647700" cy="38100"/>
          </a:xfrm>
          <a:prstGeom xmlns:a="http://schemas.openxmlformats.org/drawingml/2006/main" prst="rect">
            <a:avLst/>
          </a:prstGeom>
          <a:solidFill xmlns:a="http://schemas.openxmlformats.org/drawingml/2006/main">
            <a:srgbClr val="E7A94B"/>
          </a:solidFill>
          <a:ln xmlns:a="http://schemas.openxmlformats.org/drawingml/2006/main" w="0">
            <a:noFill/>
            <a:prstDash val="solid"/>
          </a:ln>
        </p:spPr>
      </p:sp>
      <p:sp>
        <p:nvSpPr>
          <p:cNvPr id="3" name="subtitle">
            <a:extLst xmlns:a="http://schemas.openxmlformats.org/drawingml/2006/main">
              <a:ext uri="{FF2B5EF4-FFF2-40B4-BE49-F238E27FC236}">
                <a16:creationId xmlns:a16="http://schemas.microsoft.com/office/drawing/2014/main" id="{269FBC88-FC33-49BA-B13E-56E3566FECB3}"/>
              </a:ext>
            </a:extLst>
          </p:cNvPr>
          <p:cNvSpPr>
            <a:spLocks xmlns:a="http://schemas.openxmlformats.org/drawingml/2006/main" noGrp="1"/>
          </p:cNvSpPr>
          <p:nvPr/>
        </p:nvSpPr>
        <p:spPr>
          <a:xfrm xmlns:a="http://schemas.openxmlformats.org/drawingml/2006/main">
            <a:off x="647700" y="1171575"/>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ABB2BC"/>
                </a:solidFill>
                <a:latin typeface="Arial"/>
                <a:ea typeface="Arial"/>
                <a:cs typeface="Arial"/>
              </a:defRPr>
            </a:defPPr>
          </a:lstStyle>
          <a:p xmlns:a="http://schemas.openxmlformats.org/drawingml/2006/main">
            <a:pPr algn="l">
              <a:defRPr sz="1275" b="0">
                <a:solidFill>
                  <a:srgbClr val="ABB2BC"/>
                </a:solidFill>
                <a:latin typeface="Arial"/>
                <a:ea typeface="Arial"/>
                <a:cs typeface="Arial"/>
              </a:defRPr>
            </a:pPr>
            <a:r>
              <a:rPr sz="1275" b="0">
                <a:solidFill>
                  <a:srgbClr val="ABB2BC"/>
                </a:solidFill>
                <a:latin typeface="Arial"/>
                <a:ea typeface="Arial"/>
                <a:cs typeface="Arial"/>
              </a:rPr>
              <a:t>LoomRoom needs production planning and commercial support grounded in a strong playable</a:t>
            </a:r>
          </a:p>
        </p:txBody>
      </p:sp>
      <p:sp>
        <p:nvSpPr>
          <p:cNvPr id="4" name="wordmark">
            <a:extLst xmlns:a="http://schemas.openxmlformats.org/drawingml/2006/main">
              <a:ext uri="{FF2B5EF4-FFF2-40B4-BE49-F238E27FC236}">
                <a16:creationId xmlns:a16="http://schemas.microsoft.com/office/drawing/2014/main" id="{326CB701-D1D6-416B-86B0-332968D9D01E}"/>
              </a:ext>
            </a:extLst>
          </p:cNvPr>
          <p:cNvSpPr>
            <a:spLocks xmlns:a="http://schemas.openxmlformats.org/drawingml/2006/main" noGrp="1"/>
          </p:cNvSpPr>
          <p:nvPr/>
        </p:nvSpPr>
        <p:spPr>
          <a:xfrm xmlns:a="http://schemas.openxmlformats.org/drawingml/2006/main">
            <a:off x="647700" y="6438900"/>
            <a:ext cx="238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737D89"/>
                </a:solidFill>
                <a:latin typeface="Arial"/>
                <a:ea typeface="Arial"/>
                <a:cs typeface="Arial"/>
              </a:defRPr>
            </a:defPPr>
          </a:lstStyle>
          <a:p xmlns:a="http://schemas.openxmlformats.org/drawingml/2006/main">
            <a:pPr algn="l">
              <a:defRPr sz="900" b="1">
                <a:solidFill>
                  <a:srgbClr val="737D89"/>
                </a:solidFill>
                <a:latin typeface="Arial"/>
                <a:ea typeface="Arial"/>
                <a:cs typeface="Arial"/>
              </a:defRPr>
            </a:pPr>
            <a:r>
              <a:rPr sz="900" b="1">
                <a:solidFill>
                  <a:srgbClr val="737D89"/>
                </a:solidFill>
                <a:latin typeface="Arial"/>
                <a:ea typeface="Arial"/>
                <a:cs typeface="Arial"/>
              </a:rPr>
              <a:t>LOOMROOM</a:t>
            </a:r>
          </a:p>
        </p:txBody>
      </p:sp>
      <p:sp>
        <p:nvSpPr>
          <p:cNvPr id="5" name="page">
            <a:extLst xmlns:a="http://schemas.openxmlformats.org/drawingml/2006/main">
              <a:ext uri="{FF2B5EF4-FFF2-40B4-BE49-F238E27FC236}">
                <a16:creationId xmlns:a16="http://schemas.microsoft.com/office/drawing/2014/main" id="{B6507606-5640-470F-A486-122F1238AD78}"/>
              </a:ext>
            </a:extLst>
          </p:cNvPr>
          <p:cNvSpPr>
            <a:spLocks xmlns:a="http://schemas.openxmlformats.org/drawingml/2006/main" noGrp="1"/>
          </p:cNvSpPr>
          <p:nvPr/>
        </p:nvSpPr>
        <p:spPr>
          <a:xfrm xmlns:a="http://schemas.openxmlformats.org/drawingml/2006/main">
            <a:off x="11201400" y="6438900"/>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900" b="0">
                <a:solidFill>
                  <a:srgbClr val="737D89"/>
                </a:solidFill>
                <a:latin typeface="Arial"/>
                <a:ea typeface="Arial"/>
                <a:cs typeface="Arial"/>
              </a:defRPr>
            </a:defPPr>
          </a:lstStyle>
          <a:p xmlns:a="http://schemas.openxmlformats.org/drawingml/2006/main">
            <a:pPr algn="r">
              <a:defRPr sz="900" b="0">
                <a:solidFill>
                  <a:srgbClr val="737D89"/>
                </a:solidFill>
                <a:latin typeface="Arial"/>
                <a:ea typeface="Arial"/>
                <a:cs typeface="Arial"/>
              </a:defRPr>
            </a:pPr>
            <a:r>
              <a:rPr sz="900" b="0">
                <a:solidFill>
                  <a:srgbClr val="737D89"/>
                </a:solidFill>
                <a:latin typeface="Arial"/>
                <a:ea typeface="Arial"/>
                <a:cs typeface="Arial"/>
              </a:rPr>
              <a:t>12</a:t>
            </a:r>
          </a:p>
        </p:txBody>
      </p:sp>
      <p:sp>
        <p:nvSpPr>
          <p:cNvPr id="6" name="ask">
            <a:extLst xmlns:a="http://schemas.openxmlformats.org/drawingml/2006/main">
              <a:ext uri="{FF2B5EF4-FFF2-40B4-BE49-F238E27FC236}">
                <a16:creationId xmlns:a16="http://schemas.microsoft.com/office/drawing/2014/main" id="{2C3D2572-75E8-4381-A346-C374FC52D7AA}"/>
              </a:ext>
            </a:extLst>
          </p:cNvPr>
          <p:cNvSpPr>
            <a:spLocks xmlns:a="http://schemas.openxmlformats.org/drawingml/2006/main" noGrp="1"/>
          </p:cNvSpPr>
          <p:nvPr/>
        </p:nvSpPr>
        <p:spPr>
          <a:xfrm xmlns:a="http://schemas.openxmlformats.org/drawingml/2006/main">
            <a:off x="762000" y="1933575"/>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400" b="1">
                <a:solidFill>
                  <a:srgbClr val="F4F0E5"/>
                </a:solidFill>
                <a:latin typeface="Arial"/>
                <a:ea typeface="Arial"/>
                <a:cs typeface="Arial"/>
              </a:defRPr>
            </a:defPPr>
          </a:lstStyle>
          <a:p xmlns:a="http://schemas.openxmlformats.org/drawingml/2006/main">
            <a:pPr algn="l">
              <a:defRPr sz="2400" b="1">
                <a:solidFill>
                  <a:srgbClr val="F4F0E5"/>
                </a:solidFill>
                <a:latin typeface="Arial"/>
                <a:ea typeface="Arial"/>
                <a:cs typeface="Arial"/>
              </a:defRPr>
            </a:pPr>
            <a:r>
              <a:rPr sz="2400" b="1">
                <a:solidFill>
                  <a:srgbClr val="F4F0E5"/>
                </a:solidFill>
                <a:latin typeface="Arial"/>
                <a:ea typeface="Arial"/>
                <a:cs typeface="Arial"/>
              </a:rPr>
              <a:t>Publisher partnership</a:t>
            </a:r>
          </a:p>
        </p:txBody>
      </p:sp>
      <p:sp>
        <p:nvSpPr>
          <p:cNvPr id="7" name="bullet dot 0">
            <a:extLst xmlns:a="http://schemas.openxmlformats.org/drawingml/2006/main">
              <a:ext uri="{FF2B5EF4-FFF2-40B4-BE49-F238E27FC236}">
                <a16:creationId xmlns:a16="http://schemas.microsoft.com/office/drawing/2014/main" id="{C2F77B8E-57C7-406F-BF1F-C3AF313764D4}"/>
              </a:ext>
            </a:extLst>
          </p:cNvPr>
          <p:cNvSpPr>
            <a:spLocks xmlns:a="http://schemas.openxmlformats.org/drawingml/2006/main" noGrp="1"/>
          </p:cNvSpPr>
          <p:nvPr/>
        </p:nvSpPr>
        <p:spPr>
          <a:xfrm xmlns:a="http://schemas.openxmlformats.org/drawingml/2006/main">
            <a:off x="781050" y="2790825"/>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E7A94B"/>
                </a:solidFill>
                <a:latin typeface="Arial"/>
                <a:ea typeface="Arial"/>
                <a:cs typeface="Arial"/>
              </a:defRPr>
            </a:defPPr>
          </a:lstStyle>
          <a:p xmlns:a="http://schemas.openxmlformats.org/drawingml/2006/main">
            <a:pPr algn="l">
              <a:defRPr sz="1500" b="1">
                <a:solidFill>
                  <a:srgbClr val="E7A94B"/>
                </a:solidFill>
                <a:latin typeface="Arial"/>
                <a:ea typeface="Arial"/>
                <a:cs typeface="Arial"/>
              </a:defRPr>
            </a:pPr>
            <a:r>
              <a:rPr sz="1500" b="1">
                <a:solidFill>
                  <a:srgbClr val="E7A94B"/>
                </a:solidFill>
                <a:latin typeface="Arial"/>
                <a:ea typeface="Arial"/>
                <a:cs typeface="Arial"/>
              </a:rPr>
              <a:t>•</a:t>
            </a:r>
          </a:p>
        </p:txBody>
      </p:sp>
      <p:sp>
        <p:nvSpPr>
          <p:cNvPr id="8" name="bullet 0">
            <a:extLst xmlns:a="http://schemas.openxmlformats.org/drawingml/2006/main">
              <a:ext uri="{FF2B5EF4-FFF2-40B4-BE49-F238E27FC236}">
                <a16:creationId xmlns:a16="http://schemas.microsoft.com/office/drawing/2014/main" id="{F2621A23-B47A-4150-BA77-7BD6AAC041A1}"/>
              </a:ext>
            </a:extLst>
          </p:cNvPr>
          <p:cNvSpPr>
            <a:spLocks xmlns:a="http://schemas.openxmlformats.org/drawingml/2006/main" noGrp="1"/>
          </p:cNvSpPr>
          <p:nvPr/>
        </p:nvSpPr>
        <p:spPr>
          <a:xfrm xmlns:a="http://schemas.openxmlformats.org/drawingml/2006/main">
            <a:off x="1047750" y="2790825"/>
            <a:ext cx="63055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ABB2BC"/>
                </a:solidFill>
                <a:latin typeface="Arial"/>
                <a:ea typeface="Arial"/>
                <a:cs typeface="Arial"/>
              </a:defRPr>
            </a:defPPr>
          </a:lstStyle>
          <a:p xmlns:a="http://schemas.openxmlformats.org/drawingml/2006/main">
            <a:pPr algn="l">
              <a:defRPr sz="1500" b="0">
                <a:solidFill>
                  <a:srgbClr val="ABB2BC"/>
                </a:solidFill>
                <a:latin typeface="Arial"/>
                <a:ea typeface="Arial"/>
                <a:cs typeface="Arial"/>
              </a:defRPr>
            </a:pPr>
            <a:r>
              <a:rPr sz="1500" b="0">
                <a:solidFill>
                  <a:srgbClr val="ABB2BC"/>
                </a:solidFill>
                <a:latin typeface="Arial"/>
                <a:ea typeface="Arial"/>
                <a:cs typeface="Arial"/>
              </a:rPr>
              <a:t>Assess the core gameplay build and help define a shippable scope.</a:t>
            </a:r>
          </a:p>
        </p:txBody>
      </p:sp>
      <p:sp>
        <p:nvSpPr>
          <p:cNvPr id="9" name="bullet dot 1">
            <a:extLst xmlns:a="http://schemas.openxmlformats.org/drawingml/2006/main">
              <a:ext uri="{FF2B5EF4-FFF2-40B4-BE49-F238E27FC236}">
                <a16:creationId xmlns:a16="http://schemas.microsoft.com/office/drawing/2014/main" id="{EB97F405-B5E5-4E8A-B124-F970CF60A706}"/>
              </a:ext>
            </a:extLst>
          </p:cNvPr>
          <p:cNvSpPr>
            <a:spLocks xmlns:a="http://schemas.openxmlformats.org/drawingml/2006/main" noGrp="1"/>
          </p:cNvSpPr>
          <p:nvPr/>
        </p:nvSpPr>
        <p:spPr>
          <a:xfrm xmlns:a="http://schemas.openxmlformats.org/drawingml/2006/main">
            <a:off x="781050" y="3486150"/>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E7A94B"/>
                </a:solidFill>
                <a:latin typeface="Arial"/>
                <a:ea typeface="Arial"/>
                <a:cs typeface="Arial"/>
              </a:defRPr>
            </a:defPPr>
          </a:lstStyle>
          <a:p xmlns:a="http://schemas.openxmlformats.org/drawingml/2006/main">
            <a:pPr algn="l">
              <a:defRPr sz="1500" b="1">
                <a:solidFill>
                  <a:srgbClr val="E7A94B"/>
                </a:solidFill>
                <a:latin typeface="Arial"/>
                <a:ea typeface="Arial"/>
                <a:cs typeface="Arial"/>
              </a:defRPr>
            </a:pPr>
            <a:r>
              <a:rPr sz="1500" b="1">
                <a:solidFill>
                  <a:srgbClr val="E7A94B"/>
                </a:solidFill>
                <a:latin typeface="Arial"/>
                <a:ea typeface="Arial"/>
                <a:cs typeface="Arial"/>
              </a:rPr>
              <a:t>•</a:t>
            </a:r>
          </a:p>
        </p:txBody>
      </p:sp>
      <p:sp>
        <p:nvSpPr>
          <p:cNvPr id="10" name="bullet 1">
            <a:extLst xmlns:a="http://schemas.openxmlformats.org/drawingml/2006/main">
              <a:ext uri="{FF2B5EF4-FFF2-40B4-BE49-F238E27FC236}">
                <a16:creationId xmlns:a16="http://schemas.microsoft.com/office/drawing/2014/main" id="{95957710-702F-42B5-AB53-496B7DF341DE}"/>
              </a:ext>
            </a:extLst>
          </p:cNvPr>
          <p:cNvSpPr>
            <a:spLocks xmlns:a="http://schemas.openxmlformats.org/drawingml/2006/main" noGrp="1"/>
          </p:cNvSpPr>
          <p:nvPr/>
        </p:nvSpPr>
        <p:spPr>
          <a:xfrm xmlns:a="http://schemas.openxmlformats.org/drawingml/2006/main">
            <a:off x="1047750" y="3486150"/>
            <a:ext cx="63055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ABB2BC"/>
                </a:solidFill>
                <a:latin typeface="Arial"/>
                <a:ea typeface="Arial"/>
                <a:cs typeface="Arial"/>
              </a:defRPr>
            </a:defPPr>
          </a:lstStyle>
          <a:p xmlns:a="http://schemas.openxmlformats.org/drawingml/2006/main">
            <a:pPr algn="l">
              <a:defRPr sz="1500" b="0">
                <a:solidFill>
                  <a:srgbClr val="ABB2BC"/>
                </a:solidFill>
                <a:latin typeface="Arial"/>
                <a:ea typeface="Arial"/>
                <a:cs typeface="Arial"/>
              </a:defRPr>
            </a:pPr>
            <a:r>
              <a:rPr sz="1500" b="0">
                <a:solidFill>
                  <a:srgbClr val="ABB2BC"/>
                </a:solidFill>
                <a:latin typeface="Arial"/>
                <a:ea typeface="Arial"/>
                <a:cs typeface="Arial"/>
              </a:rPr>
              <a:t>Co-develop the production budget, schedule and release plan.</a:t>
            </a:r>
          </a:p>
        </p:txBody>
      </p:sp>
      <p:sp>
        <p:nvSpPr>
          <p:cNvPr id="11" name="bullet dot 2">
            <a:extLst xmlns:a="http://schemas.openxmlformats.org/drawingml/2006/main">
              <a:ext uri="{FF2B5EF4-FFF2-40B4-BE49-F238E27FC236}">
                <a16:creationId xmlns:a16="http://schemas.microsoft.com/office/drawing/2014/main" id="{340D34DB-DCAE-4756-9222-6AB9B9262705}"/>
              </a:ext>
            </a:extLst>
          </p:cNvPr>
          <p:cNvSpPr>
            <a:spLocks xmlns:a="http://schemas.openxmlformats.org/drawingml/2006/main" noGrp="1"/>
          </p:cNvSpPr>
          <p:nvPr/>
        </p:nvSpPr>
        <p:spPr>
          <a:xfrm xmlns:a="http://schemas.openxmlformats.org/drawingml/2006/main">
            <a:off x="781050" y="4181475"/>
            <a:ext cx="171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E7A94B"/>
                </a:solidFill>
                <a:latin typeface="Arial"/>
                <a:ea typeface="Arial"/>
                <a:cs typeface="Arial"/>
              </a:defRPr>
            </a:defPPr>
          </a:lstStyle>
          <a:p xmlns:a="http://schemas.openxmlformats.org/drawingml/2006/main">
            <a:pPr algn="l">
              <a:defRPr sz="1500" b="1">
                <a:solidFill>
                  <a:srgbClr val="E7A94B"/>
                </a:solidFill>
                <a:latin typeface="Arial"/>
                <a:ea typeface="Arial"/>
                <a:cs typeface="Arial"/>
              </a:defRPr>
            </a:pPr>
            <a:r>
              <a:rPr sz="1500" b="1">
                <a:solidFill>
                  <a:srgbClr val="E7A94B"/>
                </a:solidFill>
                <a:latin typeface="Arial"/>
                <a:ea typeface="Arial"/>
                <a:cs typeface="Arial"/>
              </a:rPr>
              <a:t>•</a:t>
            </a:r>
          </a:p>
        </p:txBody>
      </p:sp>
      <p:sp>
        <p:nvSpPr>
          <p:cNvPr id="12" name="bullet 2">
            <a:extLst xmlns:a="http://schemas.openxmlformats.org/drawingml/2006/main">
              <a:ext uri="{FF2B5EF4-FFF2-40B4-BE49-F238E27FC236}">
                <a16:creationId xmlns:a16="http://schemas.microsoft.com/office/drawing/2014/main" id="{2A6FBFC9-B8D6-4B9D-8614-7514D83C06B8}"/>
              </a:ext>
            </a:extLst>
          </p:cNvPr>
          <p:cNvSpPr>
            <a:spLocks xmlns:a="http://schemas.openxmlformats.org/drawingml/2006/main" noGrp="1"/>
          </p:cNvSpPr>
          <p:nvPr/>
        </p:nvSpPr>
        <p:spPr>
          <a:xfrm xmlns:a="http://schemas.openxmlformats.org/drawingml/2006/main">
            <a:off x="1047750" y="4181475"/>
            <a:ext cx="63055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ABB2BC"/>
                </a:solidFill>
                <a:latin typeface="Arial"/>
                <a:ea typeface="Arial"/>
                <a:cs typeface="Arial"/>
              </a:defRPr>
            </a:defPPr>
          </a:lstStyle>
          <a:p xmlns:a="http://schemas.openxmlformats.org/drawingml/2006/main">
            <a:pPr algn="l">
              <a:defRPr sz="1500" b="0">
                <a:solidFill>
                  <a:srgbClr val="ABB2BC"/>
                </a:solidFill>
                <a:latin typeface="Arial"/>
                <a:ea typeface="Arial"/>
                <a:cs typeface="Arial"/>
              </a:defRPr>
            </a:pPr>
            <a:r>
              <a:rPr sz="1500" b="0">
                <a:solidFill>
                  <a:srgbClr val="ABB2BC"/>
                </a:solidFill>
                <a:latin typeface="Arial"/>
                <a:ea typeface="Arial"/>
                <a:cs typeface="Arial"/>
              </a:rPr>
              <a:t>Plan publishing support for marketing, QA, localization and ports.</a:t>
            </a:r>
          </a:p>
        </p:txBody>
      </p:sp>
      <p:sp>
        <p:nvSpPr>
          <p:cNvPr id="13" name="ask divider">
            <a:extLst xmlns:a="http://schemas.openxmlformats.org/drawingml/2006/main">
              <a:ext uri="{FF2B5EF4-FFF2-40B4-BE49-F238E27FC236}">
                <a16:creationId xmlns:a16="http://schemas.microsoft.com/office/drawing/2014/main" id="{FCFFB0A8-1E67-4F07-BEFB-A301DBB8CDC1}"/>
              </a:ext>
            </a:extLst>
          </p:cNvPr>
          <p:cNvSpPr>
            <a:spLocks xmlns:a="http://schemas.openxmlformats.org/drawingml/2006/main" noGrp="1"/>
          </p:cNvSpPr>
          <p:nvPr/>
        </p:nvSpPr>
        <p:spPr>
          <a:xfrm xmlns:a="http://schemas.openxmlformats.org/drawingml/2006/main">
            <a:off x="7810500" y="1924050"/>
            <a:ext cx="9525" cy="3676650"/>
          </a:xfrm>
          <a:prstGeom xmlns:a="http://schemas.openxmlformats.org/drawingml/2006/main" prst="rect">
            <a:avLst/>
          </a:prstGeom>
          <a:solidFill xmlns:a="http://schemas.openxmlformats.org/drawingml/2006/main">
            <a:srgbClr val="353D48"/>
          </a:solidFill>
          <a:ln xmlns:a="http://schemas.openxmlformats.org/drawingml/2006/main" w="0">
            <a:noFill/>
            <a:prstDash val="solid"/>
          </a:ln>
        </p:spPr>
      </p:sp>
      <p:sp>
        <p:nvSpPr>
          <p:cNvPr id="14" name="label TO COMPLETE BEFORE SUBMISSION">
            <a:extLst xmlns:a="http://schemas.openxmlformats.org/drawingml/2006/main">
              <a:ext uri="{FF2B5EF4-FFF2-40B4-BE49-F238E27FC236}">
                <a16:creationId xmlns:a16="http://schemas.microsoft.com/office/drawing/2014/main" id="{A6E7CF59-9FB0-428F-94D3-6254FBB89EB0}"/>
              </a:ext>
            </a:extLst>
          </p:cNvPr>
          <p:cNvSpPr>
            <a:spLocks xmlns:a="http://schemas.openxmlformats.org/drawingml/2006/main" noGrp="1"/>
          </p:cNvSpPr>
          <p:nvPr/>
        </p:nvSpPr>
        <p:spPr>
          <a:xfrm xmlns:a="http://schemas.openxmlformats.org/drawingml/2006/main">
            <a:off x="8210550" y="19621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E7A94B"/>
                </a:solidFill>
                <a:latin typeface="Arial"/>
                <a:ea typeface="Arial"/>
                <a:cs typeface="Arial"/>
              </a:defRPr>
            </a:defPPr>
          </a:lstStyle>
          <a:p xmlns:a="http://schemas.openxmlformats.org/drawingml/2006/main">
            <a:pPr algn="l">
              <a:defRPr sz="900" b="1">
                <a:solidFill>
                  <a:srgbClr val="E7A94B"/>
                </a:solidFill>
                <a:latin typeface="Arial"/>
                <a:ea typeface="Arial"/>
                <a:cs typeface="Arial"/>
              </a:defRPr>
            </a:pPr>
            <a:r>
              <a:rPr sz="900" b="1">
                <a:solidFill>
                  <a:srgbClr val="E7A94B"/>
                </a:solidFill>
                <a:latin typeface="Arial"/>
                <a:ea typeface="Arial"/>
                <a:cs typeface="Arial"/>
              </a:rPr>
              <a:t>TO COMPLETE BEFORE SUBMISSION</a:t>
            </a:r>
          </a:p>
        </p:txBody>
      </p:sp>
      <p:sp>
        <p:nvSpPr>
          <p:cNvPr id="15" name="budget field">
            <a:extLst xmlns:a="http://schemas.openxmlformats.org/drawingml/2006/main">
              <a:ext uri="{FF2B5EF4-FFF2-40B4-BE49-F238E27FC236}">
                <a16:creationId xmlns:a16="http://schemas.microsoft.com/office/drawing/2014/main" id="{01DBA818-7A0D-4F8B-9D57-70E16DCA8BC3}"/>
              </a:ext>
            </a:extLst>
          </p:cNvPr>
          <p:cNvSpPr>
            <a:spLocks xmlns:a="http://schemas.openxmlformats.org/drawingml/2006/main" noGrp="1"/>
          </p:cNvSpPr>
          <p:nvPr/>
        </p:nvSpPr>
        <p:spPr>
          <a:xfrm xmlns:a="http://schemas.openxmlformats.org/drawingml/2006/main">
            <a:off x="8210550" y="23812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4F0E5"/>
                </a:solidFill>
                <a:latin typeface="Arial"/>
                <a:ea typeface="Arial"/>
                <a:cs typeface="Arial"/>
              </a:defRPr>
            </a:defPPr>
          </a:lstStyle>
          <a:p xmlns:a="http://schemas.openxmlformats.org/drawingml/2006/main">
            <a:pPr algn="l">
              <a:defRPr sz="1425" b="1">
                <a:solidFill>
                  <a:srgbClr val="F4F0E5"/>
                </a:solidFill>
                <a:latin typeface="Arial"/>
                <a:ea typeface="Arial"/>
                <a:cs typeface="Arial"/>
              </a:defRPr>
            </a:pPr>
            <a:r>
              <a:rPr sz="1425" b="1">
                <a:solidFill>
                  <a:srgbClr val="F4F0E5"/>
                </a:solidFill>
                <a:latin typeface="Arial"/>
                <a:ea typeface="Arial"/>
                <a:cs typeface="Arial"/>
              </a:rPr>
              <a:t>Funding ask  [USD budget]</a:t>
            </a:r>
          </a:p>
        </p:txBody>
      </p:sp>
      <p:sp>
        <p:nvSpPr>
          <p:cNvPr id="16" name="schedule field">
            <a:extLst xmlns:a="http://schemas.openxmlformats.org/drawingml/2006/main">
              <a:ext uri="{FF2B5EF4-FFF2-40B4-BE49-F238E27FC236}">
                <a16:creationId xmlns:a16="http://schemas.microsoft.com/office/drawing/2014/main" id="{085E14A7-FE1B-43DC-8F29-DBC9BB0A731C}"/>
              </a:ext>
            </a:extLst>
          </p:cNvPr>
          <p:cNvSpPr>
            <a:spLocks xmlns:a="http://schemas.openxmlformats.org/drawingml/2006/main" noGrp="1"/>
          </p:cNvSpPr>
          <p:nvPr/>
        </p:nvSpPr>
        <p:spPr>
          <a:xfrm xmlns:a="http://schemas.openxmlformats.org/drawingml/2006/main">
            <a:off x="8210550" y="29527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4F0E5"/>
                </a:solidFill>
                <a:latin typeface="Arial"/>
                <a:ea typeface="Arial"/>
                <a:cs typeface="Arial"/>
              </a:defRPr>
            </a:defPPr>
          </a:lstStyle>
          <a:p xmlns:a="http://schemas.openxmlformats.org/drawingml/2006/main">
            <a:pPr algn="l">
              <a:defRPr sz="1425" b="1">
                <a:solidFill>
                  <a:srgbClr val="F4F0E5"/>
                </a:solidFill>
                <a:latin typeface="Arial"/>
                <a:ea typeface="Arial"/>
                <a:cs typeface="Arial"/>
              </a:defRPr>
            </a:pPr>
            <a:r>
              <a:rPr sz="1425" b="1">
                <a:solidFill>
                  <a:srgbClr val="F4F0E5"/>
                </a:solidFill>
                <a:latin typeface="Arial"/>
                <a:ea typeface="Arial"/>
                <a:cs typeface="Arial"/>
              </a:rPr>
              <a:t>Target release  [month / year]</a:t>
            </a:r>
          </a:p>
        </p:txBody>
      </p:sp>
      <p:sp>
        <p:nvSpPr>
          <p:cNvPr id="17" name="studio field">
            <a:extLst xmlns:a="http://schemas.openxmlformats.org/drawingml/2006/main">
              <a:ext uri="{FF2B5EF4-FFF2-40B4-BE49-F238E27FC236}">
                <a16:creationId xmlns:a16="http://schemas.microsoft.com/office/drawing/2014/main" id="{EF646616-7E83-48E7-A3B0-2500FABC5D42}"/>
              </a:ext>
            </a:extLst>
          </p:cNvPr>
          <p:cNvSpPr>
            <a:spLocks xmlns:a="http://schemas.openxmlformats.org/drawingml/2006/main" noGrp="1"/>
          </p:cNvSpPr>
          <p:nvPr/>
        </p:nvSpPr>
        <p:spPr>
          <a:xfrm xmlns:a="http://schemas.openxmlformats.org/drawingml/2006/main">
            <a:off x="8210550" y="3524250"/>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4F0E5"/>
                </a:solidFill>
                <a:latin typeface="Arial"/>
                <a:ea typeface="Arial"/>
                <a:cs typeface="Arial"/>
              </a:defRPr>
            </a:defPPr>
          </a:lstStyle>
          <a:p xmlns:a="http://schemas.openxmlformats.org/drawingml/2006/main">
            <a:pPr algn="l">
              <a:defRPr sz="1425" b="1">
                <a:solidFill>
                  <a:srgbClr val="F4F0E5"/>
                </a:solidFill>
                <a:latin typeface="Arial"/>
                <a:ea typeface="Arial"/>
                <a:cs typeface="Arial"/>
              </a:defRPr>
            </a:pPr>
            <a:r>
              <a:rPr sz="1425" b="1">
                <a:solidFill>
                  <a:srgbClr val="F4F0E5"/>
                </a:solidFill>
                <a:latin typeface="Arial"/>
                <a:ea typeface="Arial"/>
                <a:cs typeface="Arial"/>
              </a:rPr>
              <a:t>Studio and team  [names / credits]</a:t>
            </a:r>
          </a:p>
        </p:txBody>
      </p:sp>
      <p:sp>
        <p:nvSpPr>
          <p:cNvPr id="18" name="proof fields">
            <a:extLst xmlns:a="http://schemas.openxmlformats.org/drawingml/2006/main">
              <a:ext uri="{FF2B5EF4-FFF2-40B4-BE49-F238E27FC236}">
                <a16:creationId xmlns:a16="http://schemas.microsoft.com/office/drawing/2014/main" id="{4FDD5B84-4779-4A47-AFDA-E51E3AB46166}"/>
              </a:ext>
            </a:extLst>
          </p:cNvPr>
          <p:cNvSpPr>
            <a:spLocks xmlns:a="http://schemas.openxmlformats.org/drawingml/2006/main" noGrp="1"/>
          </p:cNvSpPr>
          <p:nvPr/>
        </p:nvSpPr>
        <p:spPr>
          <a:xfrm xmlns:a="http://schemas.openxmlformats.org/drawingml/2006/main">
            <a:off x="8210550" y="4095750"/>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ABB2BC"/>
                </a:solidFill>
                <a:latin typeface="Arial"/>
                <a:ea typeface="Arial"/>
                <a:cs typeface="Arial"/>
              </a:defRPr>
            </a:defPPr>
          </a:lstStyle>
          <a:p xmlns:a="http://schemas.openxmlformats.org/drawingml/2006/main">
            <a:pPr algn="l">
              <a:defRPr sz="1275" b="0">
                <a:solidFill>
                  <a:srgbClr val="ABB2BC"/>
                </a:solidFill>
                <a:latin typeface="Arial"/>
                <a:ea typeface="Arial"/>
                <a:cs typeface="Arial"/>
              </a:defRPr>
            </a:pPr>
            <a:r>
              <a:rPr sz="1275" b="0">
                <a:solidFill>
                  <a:srgbClr val="ABB2BC"/>
                </a:solidFill>
                <a:latin typeface="Arial"/>
                <a:ea typeface="Arial"/>
                <a:cs typeface="Arial"/>
              </a:rPr>
              <a:t>Build, gameplay video, platforms and traction</a:t>
            </a:r>
          </a:p>
        </p:txBody>
      </p:sp>
      <p:sp>
        <p:nvSpPr>
          <p:cNvPr id="19" name="contact">
            <a:extLst xmlns:a="http://schemas.openxmlformats.org/drawingml/2006/main">
              <a:ext uri="{FF2B5EF4-FFF2-40B4-BE49-F238E27FC236}">
                <a16:creationId xmlns:a16="http://schemas.microsoft.com/office/drawing/2014/main" id="{A3BEFF6B-B8A2-4859-A2B8-0BF433E8E84F}"/>
              </a:ext>
            </a:extLst>
          </p:cNvPr>
          <p:cNvSpPr>
            <a:spLocks xmlns:a="http://schemas.openxmlformats.org/drawingml/2006/main" noGrp="1"/>
          </p:cNvSpPr>
          <p:nvPr/>
        </p:nvSpPr>
        <p:spPr>
          <a:xfrm xmlns:a="http://schemas.openxmlformats.org/drawingml/2006/main">
            <a:off x="762000" y="59626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737D89"/>
                </a:solidFill>
                <a:latin typeface="Arial"/>
                <a:ea typeface="Arial"/>
                <a:cs typeface="Arial"/>
              </a:defRPr>
            </a:defPPr>
          </a:lstStyle>
          <a:p xmlns:a="http://schemas.openxmlformats.org/drawingml/2006/main">
            <a:pPr algn="l">
              <a:defRPr sz="1200" b="0">
                <a:solidFill>
                  <a:srgbClr val="737D89"/>
                </a:solidFill>
                <a:latin typeface="Arial"/>
                <a:ea typeface="Arial"/>
                <a:cs typeface="Arial"/>
              </a:defRPr>
            </a:pPr>
            <a:r>
              <a:rPr sz="1200" b="0">
                <a:solidFill>
                  <a:srgbClr val="737D89"/>
                </a:solidFill>
                <a:latin typeface="Arial"/>
                <a:ea typeface="Arial"/>
                <a:cs typeface="Arial"/>
              </a:rPr>
              <a:t>[Contact name]  /  [email]  /  [build link]</a:t>
            </a:r>
          </a:p>
        </p:txBody>
      </p:sp>
    </p:spTree>
    <p:extLst>
      <p:ext uri="{BB962C8B-B14F-4D97-AF65-F5344CB8AC3E}">
        <p14:creationId xmlns:p14="http://schemas.microsoft.com/office/powerpoint/2010/main" val="14717862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2026-10-14T15:15:14.8310000Z</dcterms:created>
  <dcterms:modified xsi:type="dcterms:W3CDTF">2026-10-14T15:15:14.8310000Z</dcterms:modified>
</coreProperties>
</file>